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4D962E-6001-4F3A-9A6E-A805AC1514B4}" v="4" dt="2026-04-19T10:14:0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39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3CD5-2948-4A5D-A0F0-CAC8133B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4EFF5-6BE3-D8CF-272E-4B27E9DE8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40210-621B-4EEF-3826-8087A7886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7AD79-B4B9-87FC-7EC6-C131272C1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71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012276" y="244981"/>
            <a:ext cx="76909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676288" y="783344"/>
            <a:ext cx="398240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lvl="0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lvl="1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028700" lvl="2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371600" lvl="3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714500" lvl="4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057400" lvl="5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400300" lvl="6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2743200" lvl="7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086100" lvl="8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3055596" y="4830832"/>
            <a:ext cx="35099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134767" y="4830832"/>
            <a:ext cx="84343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B216364-25CC-4F0F-B613-CB21134C0563}" type="datetime1">
              <a:rPr lang="en-US" smtClean="0"/>
              <a:t>4/20/2026</a:t>
            </a:fld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880891" y="4830833"/>
            <a:ext cx="157163" cy="57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8575" lvl="0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8575" lvl="1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8575" lvl="2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8575" lvl="3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8575" lvl="4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8575" lvl="5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8575" lvl="6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8575" lvl="7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8575" lvl="8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1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title"/>
          </p:nvPr>
        </p:nvSpPr>
        <p:spPr>
          <a:xfrm>
            <a:off x="1012276" y="244981"/>
            <a:ext cx="7690961" cy="39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950" rIns="0" bIns="0" anchor="t" anchorCtr="0">
            <a:spAutoFit/>
          </a:bodyPr>
          <a:lstStyle/>
          <a:p>
            <a:pPr marL="9525" algn="ctr"/>
            <a:r>
              <a:rPr lang="en-US" sz="2100" b="1">
                <a:latin typeface="Cambria"/>
                <a:ea typeface="Cambria"/>
                <a:cs typeface="Cambria"/>
                <a:sym typeface="Cambria"/>
              </a:rPr>
              <a:t>DEPARTMENT OF INFORMATION SCIENCE &amp; ENGINEERING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85750" y="920957"/>
            <a:ext cx="8572500" cy="161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algn="ctr"/>
            <a:r>
              <a:rPr lang="en-US" sz="2700" b="1" dirty="0">
                <a:latin typeface="Cambria"/>
                <a:ea typeface="Cambria"/>
              </a:rPr>
              <a:t>Introduction to Agile-</a:t>
            </a:r>
            <a:r>
              <a:rPr lang="en-US" sz="2700" b="1" dirty="0" err="1">
                <a:latin typeface="Cambria"/>
                <a:ea typeface="Cambria"/>
              </a:rPr>
              <a:t>Devops</a:t>
            </a:r>
            <a:r>
              <a:rPr lang="en-US" sz="2700" b="1" dirty="0">
                <a:latin typeface="Cambria"/>
                <a:ea typeface="Cambria"/>
              </a:rPr>
              <a:t> Integration(</a:t>
            </a:r>
            <a:r>
              <a:rPr lang="en-US" sz="2700" b="1" dirty="0">
                <a:latin typeface="Times New Roman"/>
                <a:cs typeface="Times New Roman"/>
              </a:rPr>
              <a:t>22IS673</a:t>
            </a:r>
            <a:r>
              <a:rPr lang="en-US" sz="2700" b="1" dirty="0">
                <a:latin typeface="Cambria"/>
                <a:ea typeface="Cambria"/>
              </a:rPr>
              <a:t>)</a:t>
            </a:r>
            <a:endParaRPr lang="en-US" sz="1350" dirty="0"/>
          </a:p>
          <a:p>
            <a:pPr algn="ctr"/>
            <a:endParaRPr lang="en-US" sz="1350" dirty="0"/>
          </a:p>
          <a:p>
            <a:pPr algn="ctr">
              <a:spcBef>
                <a:spcPts val="75"/>
              </a:spcBef>
            </a:pPr>
            <a:r>
              <a:rPr lang="en-US" sz="2100" b="1" dirty="0">
                <a:latin typeface="Cambria"/>
                <a:ea typeface="Cambria"/>
              </a:rPr>
              <a:t>AY 2025-26</a:t>
            </a:r>
            <a:endParaRPr lang="en-US" sz="1350" dirty="0">
              <a:ea typeface="Cambria"/>
            </a:endParaRPr>
          </a:p>
          <a:p>
            <a:pPr algn="ctr">
              <a:spcBef>
                <a:spcPts val="75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methodologies in an organization transitioning from a </a:t>
            </a:r>
          </a:p>
          <a:p>
            <a:pPr algn="ctr">
              <a:spcBef>
                <a:spcPts val="75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waterfall approach</a:t>
            </a:r>
            <a:endParaRPr lang="en-US" sz="1350" dirty="0"/>
          </a:p>
        </p:txBody>
      </p:sp>
      <p:sp>
        <p:nvSpPr>
          <p:cNvPr id="52" name="Google Shape;52;p1"/>
          <p:cNvSpPr txBox="1"/>
          <p:nvPr/>
        </p:nvSpPr>
        <p:spPr>
          <a:xfrm>
            <a:off x="707853" y="3513566"/>
            <a:ext cx="1743075" cy="24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/>
            <a:r>
              <a:rPr lang="en-US" sz="1500" dirty="0">
                <a:latin typeface="Cambria"/>
                <a:ea typeface="Cambria"/>
                <a:cs typeface="Cambria"/>
                <a:sym typeface="Cambria"/>
              </a:rPr>
              <a:t> Presented by:</a:t>
            </a:r>
            <a:endParaRPr sz="1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dt" idx="10"/>
          </p:nvPr>
        </p:nvSpPr>
        <p:spPr>
          <a:xfrm>
            <a:off x="134778" y="4830825"/>
            <a:ext cx="1146150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>
              <a:lnSpc>
                <a:spcPct val="104000"/>
              </a:lnSpc>
            </a:pPr>
            <a:fld id="{28630BFE-F387-49AB-8A8A-E42245877B8D}" type="datetime1">
              <a:rPr lang="en-US" smtClean="0"/>
              <a:pPr marL="9525">
                <a:lnSpc>
                  <a:spcPct val="104000"/>
                </a:lnSpc>
              </a:pPr>
              <a:t>4/20/2026</a:t>
            </a:fld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ftr" idx="11"/>
          </p:nvPr>
        </p:nvSpPr>
        <p:spPr>
          <a:xfrm>
            <a:off x="3055596" y="4830833"/>
            <a:ext cx="3509963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>
              <a:lnSpc>
                <a:spcPct val="104000"/>
              </a:lnSpc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56" name="Google Shape;56;p1"/>
          <p:cNvSpPr txBox="1">
            <a:spLocks noGrp="1"/>
          </p:cNvSpPr>
          <p:nvPr>
            <p:ph type="sldNum" idx="12"/>
          </p:nvPr>
        </p:nvSpPr>
        <p:spPr>
          <a:xfrm>
            <a:off x="8880891" y="4830833"/>
            <a:ext cx="157163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fld id="{00000000-1234-1234-1234-123412341234}" type="slidenum">
              <a:rPr lang="en-US"/>
              <a:pPr/>
              <a:t>1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52FA77-A99F-B2CC-4FBA-BC8883CE4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33249"/>
              </p:ext>
            </p:extLst>
          </p:nvPr>
        </p:nvGraphicFramePr>
        <p:xfrm>
          <a:off x="691996" y="3687573"/>
          <a:ext cx="4258233" cy="297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776">
                  <a:extLst>
                    <a:ext uri="{9D8B030D-6E8A-4147-A177-3AD203B41FA5}">
                      <a16:colId xmlns:a16="http://schemas.microsoft.com/office/drawing/2014/main" val="677702421"/>
                    </a:ext>
                  </a:extLst>
                </a:gridCol>
                <a:gridCol w="1631457">
                  <a:extLst>
                    <a:ext uri="{9D8B030D-6E8A-4147-A177-3AD203B41FA5}">
                      <a16:colId xmlns:a16="http://schemas.microsoft.com/office/drawing/2014/main" val="223927676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500" b="0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Bhoomika K Nayak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(1DS23IS031)</a:t>
                      </a:r>
                      <a:endParaRPr lang="en-IN" sz="1500" b="0" i="0" u="none" strike="noStrike" cap="none" dirty="0">
                        <a:solidFill>
                          <a:srgbClr val="000000"/>
                        </a:solidFill>
                        <a:latin typeface="Cambria"/>
                        <a:ea typeface="Cambria"/>
                        <a:sym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3421181"/>
                  </a:ext>
                </a:extLst>
              </a:tr>
            </a:tbl>
          </a:graphicData>
        </a:graphic>
      </p:graphicFrame>
      <p:sp>
        <p:nvSpPr>
          <p:cNvPr id="3" name="Google Shape;52;p1">
            <a:extLst>
              <a:ext uri="{FF2B5EF4-FFF2-40B4-BE49-F238E27FC236}">
                <a16:creationId xmlns:a16="http://schemas.microsoft.com/office/drawing/2014/main" id="{CC7A4A17-FCF8-09D6-6075-A210938DD9F3}"/>
              </a:ext>
            </a:extLst>
          </p:cNvPr>
          <p:cNvSpPr txBox="1"/>
          <p:nvPr/>
        </p:nvSpPr>
        <p:spPr>
          <a:xfrm>
            <a:off x="5528092" y="3272179"/>
            <a:ext cx="3509962" cy="102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Under the guidance of:</a:t>
            </a: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Dr. Reshma J</a:t>
            </a:r>
            <a:endParaRPr lang="en-US" sz="1650" dirty="0">
              <a:latin typeface="Cambria"/>
              <a:ea typeface="Cambria"/>
              <a:cs typeface="Cambria"/>
            </a:endParaRP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</a:rPr>
              <a:t>Associate Professor</a:t>
            </a: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ISE Dept, DSCE   </a:t>
            </a:r>
            <a:endParaRPr sz="165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285809FA-E5F9-FE4C-9FB0-832B5E1F3275}"/>
              </a:ext>
            </a:extLst>
          </p:cNvPr>
          <p:cNvSpPr/>
          <p:nvPr/>
        </p:nvSpPr>
        <p:spPr>
          <a:xfrm>
            <a:off x="1234440" y="0"/>
            <a:ext cx="7909560" cy="58380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8639C25-0884-9286-84F9-A10FCB44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22"/>
            <a:ext cx="1192534" cy="658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825" y="-94957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Waterfall is a sequential, phase-by-phase model — rigid and document-driven.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is iterative, collaborative, and adaptable to changing requirements.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Transitioning from Waterfall → Agile brings significant organizational risks.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risks impact: Project Timelines, Team Dynamics, and Product Quality.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Proper mitigation strategies are essential for a successful transition.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Risks of Transitioning from Waterfall to Agile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92369" y="10881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1: Cultural &amp; Mindset Resistance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2369" y="1362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Teams go through Agile motions without internalizing values ('Agile in name only').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Managers resist losing control over fixed plans and hierarchical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2369" y="2121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2: Lack of Agile Training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244074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Concepts like sprint planning, velocity, and backlog grooming are misunderstood.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Agile coaches, frameworks like Scrum or Kanban are often misapplied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26792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3: Scope Creep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55437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Stakeholders continuously add features mid-sprint without a strong Product Owner.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Backlog grows endlessly and never converges to a releasable product.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on Project Timelines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Departmet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56007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 sprint planning and inaccurate velocity estimates cause carryover tasks and cascading delays.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creep keeps shifting the definition of 'done' — product never converges for release.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automated testing forces manual QA bottlenecks at sprint end, violating continuous delivery.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Teams produce dual reports (sprint boards + Gantt charts), wasting development capacity.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Timeline overruns as bad as — or worse than — traditional Waterfall.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77" y="0"/>
            <a:ext cx="8454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on Team Dynamics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56007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Waterfall's clear roles (analyst, architect, dev, tester) blur — specialists feel role conflict.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Senior engineers resist participating in stand-ups and retrospectives, seeing them as overhead.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Stand-ups become status meetings; retrospectives turn into blame sessions without psychological safety.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project managers struggle to become servant-leaders — create conflicting authority structures.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Junior members feel overwhelmed by shared ownership without adequate mentorship.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on Product Quality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85335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Sprint time-boxing pressures teams to sacrifice quality for velocity — technical debt accumulates fast.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CI/CD, regression defects from one sprint go undetected until later sprints or production.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of fixing defects grows exponentially the later they are found.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Poorly written user stories lead to features that pass acceptance criteria but miss actual user needs.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Rework and late defect discovery directly degrade the final product and erode stakeholder trust.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6941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Mitigation Strategies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Agile Training &amp; Coaching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Conduct role-specific Agile workshops before Sprint 1; hire embedded Agile coaches for 3–6 months.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Phased Transition (Pilot Teams First)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764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 with 1–2 pilot teams; use SAFe or LeSS frameworks for enterprise-wide scaling.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Strong Backlog Management &amp; Product Ownership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5237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Define a Definition of Ready; bi-weekly refinement sessions; empower Product Owners with authority.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3026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Build DevOps &amp; Automation Infrastructure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32826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up CI/CD pipelines (Jenkins / GitHub Actions) before Sprint 1; target 80% automated test coverage.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7856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Executive Governance Alignment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Gantt charts with burn-up/burn-down metrics; involve executives in sprint reviews.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88853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Transitioning from Waterfall to Agile is a full organizational transformation — not just a process change.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risks: cultural resistance, training gaps, scope creep, tooling deficiencies, and org. misalignment.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risks impact timelines (delays), team dynamics (conflict), and product quality (defects &amp; debt).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Mitigation: structured training, phased adoption, backlog discipline, automation, and executive buy-in.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Organizations that invest in both security and performance of their transition achieve faster, higher-quality delivery.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DE383-398E-5DBD-D32E-B7FE68C9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AC8345-D6C3-A17F-ECB6-03E8ABAC85E9}"/>
              </a:ext>
            </a:extLst>
          </p:cNvPr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258610-26B5-4240-9018-29B6391E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B3E1BF4-4DA2-D60A-83C9-5A91C804992B}"/>
              </a:ext>
            </a:extLst>
          </p:cNvPr>
          <p:cNvSpPr/>
          <p:nvPr/>
        </p:nvSpPr>
        <p:spPr>
          <a:xfrm>
            <a:off x="45720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C1A015-D048-DAF1-402B-7754DAA889A6}"/>
              </a:ext>
            </a:extLst>
          </p:cNvPr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5E638E-CE4E-D6F4-0405-734C636CA7F5}"/>
              </a:ext>
            </a:extLst>
          </p:cNvPr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809D49-4742-7FD3-11ED-9566E582940C}"/>
              </a:ext>
            </a:extLst>
          </p:cNvPr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2C5B04-4E87-445E-2D85-FE420F1797FB}"/>
              </a:ext>
            </a:extLst>
          </p:cNvPr>
          <p:cNvSpPr/>
          <p:nvPr/>
        </p:nvSpPr>
        <p:spPr>
          <a:xfrm>
            <a:off x="3042138" y="488853"/>
            <a:ext cx="488852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2986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740</Words>
  <Application>Microsoft Office PowerPoint</Application>
  <PresentationFormat>On-screen Show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DEPARTMENT OF INFORMATION SCIENCE &amp;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BHOOMIKA NAYAK</cp:lastModifiedBy>
  <cp:revision>4</cp:revision>
  <dcterms:created xsi:type="dcterms:W3CDTF">2026-04-19T09:42:49Z</dcterms:created>
  <dcterms:modified xsi:type="dcterms:W3CDTF">2026-04-20T04:50:47Z</dcterms:modified>
</cp:coreProperties>
</file>