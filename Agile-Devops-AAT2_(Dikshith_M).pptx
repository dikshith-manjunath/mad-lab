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4D962E-6001-4F3A-9A6E-A805AC1514B4}" v="4" dt="2026-04-19T10:14:0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4399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3CD5-2948-4A5D-A0F0-CAC8133BF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E4EFF5-6BE3-D8CF-272E-4B27E9DE8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40210-621B-4EEF-3826-8087A7886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7AD79-B4B9-87FC-7EC6-C131272C12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71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>
            <a:spLocks noGrp="1"/>
          </p:cNvSpPr>
          <p:nvPr>
            <p:ph type="title"/>
          </p:nvPr>
        </p:nvSpPr>
        <p:spPr>
          <a:xfrm>
            <a:off x="1012276" y="244981"/>
            <a:ext cx="76909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body" idx="1"/>
          </p:nvPr>
        </p:nvSpPr>
        <p:spPr>
          <a:xfrm>
            <a:off x="676288" y="783344"/>
            <a:ext cx="3982403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42900" lvl="0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25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lvl="1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028700" lvl="2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371600" lvl="3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1714500" lvl="4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057400" lvl="5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2400300" lvl="6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2743200" lvl="7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3086100" lvl="8" indent="-17145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ftr" idx="11"/>
          </p:nvPr>
        </p:nvSpPr>
        <p:spPr>
          <a:xfrm>
            <a:off x="3055596" y="4830832"/>
            <a:ext cx="350996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dt" idx="10"/>
          </p:nvPr>
        </p:nvSpPr>
        <p:spPr>
          <a:xfrm>
            <a:off x="134767" y="4830832"/>
            <a:ext cx="84343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B216364-25CC-4F0F-B613-CB21134C0563}" type="datetime1">
              <a:rPr lang="en-US" smtClean="0"/>
              <a:t>4/21/2026</a:t>
            </a:fld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880891" y="4830833"/>
            <a:ext cx="157163" cy="576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28575" lvl="0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28575" lvl="1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28575" lvl="2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28575" lvl="3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28575" lvl="4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28575" lvl="5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28575" lvl="6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28575" lvl="7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28575" lvl="8" indent="0">
              <a:lnSpc>
                <a:spcPct val="104000"/>
              </a:lnSpc>
              <a:spcBef>
                <a:spcPts val="0"/>
              </a:spcBef>
              <a:buNone/>
              <a:defRPr sz="1200" b="1" i="0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218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>
            <a:spLocks noGrp="1"/>
          </p:cNvSpPr>
          <p:nvPr>
            <p:ph type="title"/>
          </p:nvPr>
        </p:nvSpPr>
        <p:spPr>
          <a:xfrm>
            <a:off x="1012276" y="244981"/>
            <a:ext cx="7690961" cy="394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0950" rIns="0" bIns="0" anchor="t" anchorCtr="0">
            <a:spAutoFit/>
          </a:bodyPr>
          <a:lstStyle/>
          <a:p>
            <a:pPr marL="9525" algn="ctr"/>
            <a:r>
              <a:rPr lang="en-US" sz="2100" b="1">
                <a:latin typeface="Cambria"/>
                <a:ea typeface="Cambria"/>
                <a:cs typeface="Cambria"/>
                <a:sym typeface="Cambria"/>
              </a:rPr>
              <a:t>DEPARTMENT OF INFORMATION SCIENCE &amp; ENGINEERING</a:t>
            </a:r>
            <a:endParaRPr sz="21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285750" y="920957"/>
            <a:ext cx="8572500" cy="1743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algn="ctr"/>
            <a:r>
              <a:rPr lang="en-US" sz="2700" b="1" dirty="0">
                <a:latin typeface="Cambria"/>
                <a:ea typeface="Cambria"/>
              </a:rPr>
              <a:t>Introduction to Agile-</a:t>
            </a:r>
            <a:r>
              <a:rPr lang="en-US" sz="2700" b="1" dirty="0" err="1">
                <a:latin typeface="Cambria"/>
                <a:ea typeface="Cambria"/>
              </a:rPr>
              <a:t>Devops</a:t>
            </a:r>
            <a:r>
              <a:rPr lang="en-US" sz="2700" b="1" dirty="0">
                <a:latin typeface="Cambria"/>
                <a:ea typeface="Cambria"/>
              </a:rPr>
              <a:t> Integration(</a:t>
            </a:r>
            <a:r>
              <a:rPr lang="en-US" sz="2700" b="1" dirty="0">
                <a:latin typeface="Times New Roman"/>
                <a:cs typeface="Times New Roman"/>
              </a:rPr>
              <a:t>22IS673</a:t>
            </a:r>
            <a:r>
              <a:rPr lang="en-US" sz="2700" b="1" dirty="0">
                <a:latin typeface="Cambria"/>
                <a:ea typeface="Cambria"/>
              </a:rPr>
              <a:t>)</a:t>
            </a:r>
            <a:endParaRPr lang="en-US" sz="1350" dirty="0"/>
          </a:p>
          <a:p>
            <a:pPr algn="ctr"/>
            <a:endParaRPr lang="en-US" sz="1350" dirty="0"/>
          </a:p>
          <a:p>
            <a:pPr algn="ctr">
              <a:spcBef>
                <a:spcPts val="75"/>
              </a:spcBef>
            </a:pPr>
            <a:r>
              <a:rPr lang="en-US" sz="2100" b="1" dirty="0">
                <a:latin typeface="Cambria"/>
                <a:ea typeface="Cambria"/>
              </a:rPr>
              <a:t>AY 2025-26</a:t>
            </a:r>
          </a:p>
          <a:p>
            <a:pPr algn="ctr">
              <a:spcBef>
                <a:spcPts val="75"/>
              </a:spcBef>
            </a:pPr>
            <a:endParaRPr lang="en-US" sz="1350" dirty="0">
              <a:ea typeface="Cambria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Jenkins Pipeline Architecture: Optimizing Builds, Tests and Deployment Processes for Enterprise 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Google Shape;52;p1"/>
          <p:cNvSpPr txBox="1"/>
          <p:nvPr/>
        </p:nvSpPr>
        <p:spPr>
          <a:xfrm>
            <a:off x="707853" y="3513566"/>
            <a:ext cx="1743075" cy="24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9525"/>
            <a:r>
              <a:rPr lang="en-US" sz="1500" dirty="0">
                <a:latin typeface="Cambria"/>
                <a:ea typeface="Cambria"/>
                <a:cs typeface="Cambria"/>
                <a:sym typeface="Cambria"/>
              </a:rPr>
              <a:t> Presented by:</a:t>
            </a:r>
            <a:endParaRPr sz="15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4" name="Google Shape;54;p1"/>
          <p:cNvSpPr txBox="1">
            <a:spLocks noGrp="1"/>
          </p:cNvSpPr>
          <p:nvPr>
            <p:ph type="dt" idx="10"/>
          </p:nvPr>
        </p:nvSpPr>
        <p:spPr>
          <a:xfrm>
            <a:off x="134778" y="4830825"/>
            <a:ext cx="1146150" cy="19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">
              <a:lnSpc>
                <a:spcPct val="104000"/>
              </a:lnSpc>
            </a:pPr>
            <a:fld id="{28630BFE-F387-49AB-8A8A-E42245877B8D}" type="datetime1">
              <a:rPr lang="en-US" smtClean="0"/>
              <a:pPr marL="9525">
                <a:lnSpc>
                  <a:spcPct val="104000"/>
                </a:lnSpc>
              </a:pPr>
              <a:t>4/21/2026</a:t>
            </a:fld>
            <a:endParaRPr/>
          </a:p>
        </p:txBody>
      </p:sp>
      <p:sp>
        <p:nvSpPr>
          <p:cNvPr id="55" name="Google Shape;55;p1"/>
          <p:cNvSpPr txBox="1">
            <a:spLocks noGrp="1"/>
          </p:cNvSpPr>
          <p:nvPr>
            <p:ph type="ftr" idx="11"/>
          </p:nvPr>
        </p:nvSpPr>
        <p:spPr>
          <a:xfrm>
            <a:off x="3055596" y="4830833"/>
            <a:ext cx="3509963" cy="19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">
              <a:lnSpc>
                <a:spcPct val="104000"/>
              </a:lnSpc>
            </a:pPr>
            <a:r>
              <a:rPr lang="en-US"/>
              <a:t>Department of Information Science &amp; Engineering</a:t>
            </a:r>
            <a:endParaRPr/>
          </a:p>
        </p:txBody>
      </p:sp>
      <p:sp>
        <p:nvSpPr>
          <p:cNvPr id="56" name="Google Shape;56;p1"/>
          <p:cNvSpPr txBox="1">
            <a:spLocks noGrp="1"/>
          </p:cNvSpPr>
          <p:nvPr>
            <p:ph type="sldNum" idx="12"/>
          </p:nvPr>
        </p:nvSpPr>
        <p:spPr>
          <a:xfrm>
            <a:off x="8880891" y="4830833"/>
            <a:ext cx="157163" cy="19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fld id="{00000000-1234-1234-1234-123412341234}" type="slidenum">
              <a:rPr lang="en-US"/>
              <a:pPr/>
              <a:t>1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52FA77-A99F-B2CC-4FBA-BC8883CE4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315491"/>
              </p:ext>
            </p:extLst>
          </p:nvPr>
        </p:nvGraphicFramePr>
        <p:xfrm>
          <a:off x="820950" y="3841661"/>
          <a:ext cx="4258233" cy="297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0589">
                  <a:extLst>
                    <a:ext uri="{9D8B030D-6E8A-4147-A177-3AD203B41FA5}">
                      <a16:colId xmlns:a16="http://schemas.microsoft.com/office/drawing/2014/main" val="677702421"/>
                    </a:ext>
                  </a:extLst>
                </a:gridCol>
                <a:gridCol w="3027644">
                  <a:extLst>
                    <a:ext uri="{9D8B030D-6E8A-4147-A177-3AD203B41FA5}">
                      <a16:colId xmlns:a16="http://schemas.microsoft.com/office/drawing/2014/main" val="223927676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1500" b="0" i="0" u="none" strike="noStrike" cap="none" dirty="0">
                          <a:solidFill>
                            <a:srgbClr val="000000"/>
                          </a:solidFill>
                          <a:latin typeface="Cambria"/>
                          <a:ea typeface="Cambria"/>
                          <a:sym typeface="Arial"/>
                        </a:rPr>
                        <a:t>Dikshith 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500" b="0" u="none" strike="noStrike" cap="none" dirty="0">
                          <a:solidFill>
                            <a:srgbClr val="000000"/>
                          </a:solidFill>
                          <a:sym typeface="Arial"/>
                        </a:rPr>
                        <a:t>(1DS23IS044)</a:t>
                      </a:r>
                      <a:endParaRPr lang="en-IN" sz="1500" b="0" i="0" u="none" strike="noStrike" cap="none" dirty="0">
                        <a:solidFill>
                          <a:srgbClr val="000000"/>
                        </a:solidFill>
                        <a:latin typeface="Cambria"/>
                        <a:ea typeface="Cambria"/>
                        <a:sym typeface="Arial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23421181"/>
                  </a:ext>
                </a:extLst>
              </a:tr>
            </a:tbl>
          </a:graphicData>
        </a:graphic>
      </p:graphicFrame>
      <p:sp>
        <p:nvSpPr>
          <p:cNvPr id="3" name="Google Shape;52;p1">
            <a:extLst>
              <a:ext uri="{FF2B5EF4-FFF2-40B4-BE49-F238E27FC236}">
                <a16:creationId xmlns:a16="http://schemas.microsoft.com/office/drawing/2014/main" id="{CC7A4A17-FCF8-09D6-6075-A210938DD9F3}"/>
              </a:ext>
            </a:extLst>
          </p:cNvPr>
          <p:cNvSpPr txBox="1"/>
          <p:nvPr/>
        </p:nvSpPr>
        <p:spPr>
          <a:xfrm>
            <a:off x="5528092" y="3272179"/>
            <a:ext cx="3509962" cy="102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525" rIns="0" bIns="0" anchor="t" anchorCtr="0">
            <a:spAutoFit/>
          </a:bodyPr>
          <a:lstStyle/>
          <a:p>
            <a:pPr marL="9525" algn="ctr"/>
            <a:r>
              <a:rPr lang="en-US" sz="1650" dirty="0">
                <a:latin typeface="Cambria"/>
                <a:ea typeface="Cambria"/>
                <a:cs typeface="Cambria"/>
                <a:sym typeface="Cambria"/>
              </a:rPr>
              <a:t>Under the guidance of:</a:t>
            </a:r>
          </a:p>
          <a:p>
            <a:pPr marL="9525" algn="ctr"/>
            <a:r>
              <a:rPr lang="en-US" sz="1650" dirty="0">
                <a:latin typeface="Cambria"/>
                <a:ea typeface="Cambria"/>
                <a:cs typeface="Cambria"/>
                <a:sym typeface="Cambria"/>
              </a:rPr>
              <a:t>Dr. Reshma J</a:t>
            </a:r>
            <a:endParaRPr lang="en-US" sz="1650" dirty="0">
              <a:latin typeface="Cambria"/>
              <a:ea typeface="Cambria"/>
              <a:cs typeface="Cambria"/>
            </a:endParaRPr>
          </a:p>
          <a:p>
            <a:pPr marL="9525" algn="ctr"/>
            <a:r>
              <a:rPr lang="en-US" sz="1650" dirty="0">
                <a:latin typeface="Cambria"/>
                <a:ea typeface="Cambria"/>
                <a:cs typeface="Cambria"/>
              </a:rPr>
              <a:t>Associate Professor</a:t>
            </a:r>
          </a:p>
          <a:p>
            <a:pPr marL="9525" algn="ctr"/>
            <a:r>
              <a:rPr lang="en-US" sz="1650" dirty="0">
                <a:latin typeface="Cambria"/>
                <a:ea typeface="Cambria"/>
                <a:cs typeface="Cambria"/>
                <a:sym typeface="Cambria"/>
              </a:rPr>
              <a:t>ISE Dept, DSCE   </a:t>
            </a:r>
            <a:endParaRPr sz="165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285809FA-E5F9-FE4C-9FB0-832B5E1F3275}"/>
              </a:ext>
            </a:extLst>
          </p:cNvPr>
          <p:cNvSpPr/>
          <p:nvPr/>
        </p:nvSpPr>
        <p:spPr>
          <a:xfrm>
            <a:off x="1234440" y="0"/>
            <a:ext cx="7909560" cy="583809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8639C25-0884-9286-84F9-A10FCB443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9022"/>
            <a:ext cx="1192534" cy="6588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825" y="-94957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Introduction: Advanced Jenkins Architectures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00166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Enterprise Complexity: Modern pipelines must manage independent frontend and backend streams without allowing integration points to become a bottleneck.</a:t>
            </a:r>
          </a:p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Parallel Optimization: Cycle times are significantly reduced by executing independent build and unit test phases simultaneously in dedicated parallel lanes.</a:t>
            </a:r>
          </a:p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Artifact Consistency: Reliability is maintained by promoting the exact same environment-agnostic binary across all environments instead of rebuilding per stage.</a:t>
            </a:r>
          </a:p>
          <a:p>
            <a:pPr marL="285750" indent="-285750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Prudent Automation: The architecture balances the speed of high-velocity automation with the critical safety of human-led approval gates for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 of Advanced Jenkins Pipeline Architecture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7200" y="625566"/>
            <a:ext cx="8229600" cy="4223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Enhanced Reliability: Promoting the exact same environment-agnostic artifact across all stages eliminates inconsistencies and bugs introduced by rebuilding per environment.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Optimized Resource Usage: Utilizing Docker-based agents and dependency caching significantly reduces latency and prevents environmental contamination between builds.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Intelligent Testing Feedback: Categorizing tests ensures developers receive near-instant feedback from unit tests while reserving slow, resource-heavy E2E tests for the staging environment.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Operational Clarity: Maintaining an explicit dependency graph and stage structure prevents the accumulation of messy workarounds that frequently cause production incidents.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 on Software Delivery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Departmet</a:t>
            </a: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16857" y="845458"/>
            <a:ext cx="8229600" cy="3581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Reduced Build Cycles: Executing frontend and backend streams in parallel cuts total build and unit testing time by approximately 50%.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Faster Developer Feedback: High-velocity feedback from unit tests and fail-fast configurations ensures that code errors are identified early, preventing them from becoming major bottlenecks.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Increased Deployment Consistency: Promoting the exact same environment-agnostic artifact across all stages—rather than rebuilding per environment—eliminates inconsistencies and binary differences.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Prevention of Delivery Incidents: Maintaining an explicit dependency graph and clear pipeline structure prevents the accumulation of technical workarounds that frequently cause system failures.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877" y="0"/>
            <a:ext cx="845468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 on Product Quality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Department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10418" y="56007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Tiered Validation Logic: Categorizing tests into unit, integration, and end-to-end (E2E) suites ensures that every commit is verified at the appropriate level of depth.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Artifact Integrity: Promoting the exact same environment-agnostic binary across all stages eliminates bugs caused by rebuilding code for different environments.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Early Defect Detection: Implementing static analysis and "fail-fast" parameters allows developers to catch syntax and logic errors before they reach downstream environments.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Human-in-the-Loop Oversight: Manual approval gates for production promotion allow human judgment to identify complex edge cases that automated scripts might overlook.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Production Stability: Fast, post-deployment smoke tests verify basic functionality immediately after shipping to prevent major service disruptions.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Risks and Trade-offs in Advanced Pipeline Architecture</a:t>
            </a: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6400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Agent Availability Bottlenecks: Parallel stages only provide speed benefits if the agent pool has sufficient capacity; otherwise, jobs remain queued and run sequentially.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Resource Saturation: Without aggressive throttling and queue management, high-frequency CI practices can completely saturate the agent pool, blocking other critical work.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Deployment Race Conditions: Simultaneous or unthrottled deployments to production can lead to dangerous race conditions or inconsistent partial rollouts.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Architectural Complexity: Unclear pipeline structures tend to accumulate technical workarounds over time, which can eventually lead to major production incidents.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Infrastructure Dependency: The speed of the build is heavily dependent on external factors like network speed for downloading dependencies and the performance of the local Docker registry.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6941" y="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critical component of an optimized pipeline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457200" y="615841"/>
            <a:ext cx="8229600" cy="39118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Unit Tests: These run in the parallel build stage directly alongside the code compilation; they are fast and have no external dependencies.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Integration Tests: These are executed only after both frontend and backend components are built and merged, typically within isolated Docker environments.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End-to-End (E2E) Tests: Reserved for the staging environment, these are the slowest and most brittle tests; they run only on merged artifacts to minimize noise.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Smoke Tests: These are rapid checks performed immediately after a production deployment to confirm basic functionality in under two minutes.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Internal Parallelization: Within a single stage, tools like Jest and Maven Surefire can be configured to run test suites across multiple CPU cores to further reduce execution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488853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Strategic Parallelization: The highest-leverage optimization involves splitting independent frontend and backend workloads into parallel lanes, merging them only where genuine dependencies exist.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  Immediate Efficiency Gains: Implementing parallel execution provides immediate time savings without requiring any architectural changes to the application itself.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Scalable Testing Framework: Utilizing test categorization—ensuring fast tests run early and resource-heavy tests run only in staging—prevents the pipeline from becoming a bottleneck as the codebase grows.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Final Balance: An optimized pipeline automates everything up to the final gate, creating a workflow that balances high-speed delivery with operational prudence.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6DE383-398E-5DBD-D32E-B7FE68C9C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AC8345-D6C3-A17F-ECB6-03E8ABAC85E9}"/>
              </a:ext>
            </a:extLst>
          </p:cNvPr>
          <p:cNvSpPr/>
          <p:nvPr/>
        </p:nvSpPr>
        <p:spPr>
          <a:xfrm>
            <a:off x="1234440" y="0"/>
            <a:ext cx="7909560" cy="6400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B258610-26B5-4240-9018-29B6391E8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34440" cy="64008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B3E1BF4-4DA2-D60A-83C9-5A91C804992B}"/>
              </a:ext>
            </a:extLst>
          </p:cNvPr>
          <p:cNvSpPr/>
          <p:nvPr/>
        </p:nvSpPr>
        <p:spPr>
          <a:xfrm>
            <a:off x="457200" y="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DC1A015-D048-DAF1-402B-7754DAA889A6}"/>
              </a:ext>
            </a:extLst>
          </p:cNvPr>
          <p:cNvSpPr/>
          <p:nvPr/>
        </p:nvSpPr>
        <p:spPr>
          <a:xfrm>
            <a:off x="91440" y="48874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04/19/2026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A5E638E-CE4E-D6F4-0405-734C636CA7F5}"/>
              </a:ext>
            </a:extLst>
          </p:cNvPr>
          <p:cNvSpPr/>
          <p:nvPr/>
        </p:nvSpPr>
        <p:spPr>
          <a:xfrm>
            <a:off x="2286000" y="48874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Science &amp; Engineering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5809D49-4742-7FD3-11ED-9566E582940C}"/>
              </a:ext>
            </a:extLst>
          </p:cNvPr>
          <p:cNvSpPr/>
          <p:nvPr/>
        </p:nvSpPr>
        <p:spPr>
          <a:xfrm>
            <a:off x="8686800" y="48874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62C5B04-4E87-445E-2D85-FE420F1797FB}"/>
              </a:ext>
            </a:extLst>
          </p:cNvPr>
          <p:cNvSpPr/>
          <p:nvPr/>
        </p:nvSpPr>
        <p:spPr>
          <a:xfrm>
            <a:off x="3042138" y="488853"/>
            <a:ext cx="4888523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1000"/>
              </a:spcAft>
              <a:buSzPct val="100000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32986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955</Words>
  <Application>Microsoft Office PowerPoint</Application>
  <PresentationFormat>On-screen Show (16:9)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Times New Roman</vt:lpstr>
      <vt:lpstr>Office Theme</vt:lpstr>
      <vt:lpstr>DEPARTMENT OF INFORMATION SCIENCE &amp;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DikshithManjunath</cp:lastModifiedBy>
  <cp:revision>5</cp:revision>
  <dcterms:created xsi:type="dcterms:W3CDTF">2026-04-19T09:42:49Z</dcterms:created>
  <dcterms:modified xsi:type="dcterms:W3CDTF">2026-04-22T06:01:43Z</dcterms:modified>
</cp:coreProperties>
</file>