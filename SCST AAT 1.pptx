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8" r:id="rId4"/>
    <p:sldId id="269" r:id="rId5"/>
    <p:sldId id="270" r:id="rId6"/>
    <p:sldId id="272" r:id="rId7"/>
    <p:sldId id="271" r:id="rId8"/>
    <p:sldId id="259" r:id="rId9"/>
    <p:sldId id="258" r:id="rId10"/>
    <p:sldId id="267" r:id="rId11"/>
  </p:sldIdLst>
  <p:sldSz cx="12192000" cy="6858000"/>
  <p:notesSz cx="12192000" cy="6858000"/>
  <p:embeddedFontLst>
    <p:embeddedFont>
      <p:font typeface="Cambria" panose="02040503050406030204" pitchFamily="18" charset="0"/>
      <p:regular r:id="rId13"/>
      <p:bold r:id="rId14"/>
      <p:italic r:id="rId15"/>
      <p:boldItalic r:id="rId16"/>
    </p:embeddedFont>
    <p:embeddedFont>
      <p:font typeface="Palatino Linotype" panose="02040502050505030304" pitchFamily="18" charset="0"/>
      <p:regular r:id="rId17"/>
      <p:bold r:id="rId18"/>
      <p:italic r:id="rId19"/>
      <p:boldItalic r:id="rId20"/>
    </p:embeddedFont>
    <p:embeddedFont>
      <p:font typeface="Roboto"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HEuraWUNcpn5ufZLkSW+ZzZ6m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D8DF6F-B54C-9042-867D-73AE95D1AA96}" v="1" dt="2026-04-15T05:24:11.448"/>
    <p1510:client id="{AA0D7B39-3D53-21EE-D747-E5121948281F}" v="120" dt="2026-04-14T14:19:39.764"/>
    <p1510:client id="{E5B67973-4501-B2F4-93FB-552ED4FD8921}" v="332" dt="2026-04-14T18:38:21.129"/>
    <p1510:client id="{EA327964-D784-8174-6210-7972475CD969}" v="69" dt="2026-04-15T18:00:07.048"/>
    <p1510:client id="{F21A4A1B-80C2-211D-C370-83AC990B109E}" v="278" dt="2026-04-15T05:32:10.739"/>
  </p1510:revLst>
</p1510:revInfo>
</file>

<file path=ppt/tableStyles.xml><?xml version="1.0" encoding="utf-8"?>
<a:tblStyleLst xmlns:a="http://schemas.openxmlformats.org/drawingml/2006/main" def="{CA3698A9-78A1-49C7-87AD-DDD4CB96C138}">
  <a:tblStyle styleId="{CA3698A9-78A1-49C7-87AD-DDD4CB96C13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4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6905625" y="0"/>
            <a:ext cx="5283200" cy="3429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2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788EDD7-B871-0B69-39BC-8CB9FB35FC5F}"/>
            </a:ext>
          </a:extLst>
        </p:cNvPr>
        <p:cNvGrpSpPr/>
        <p:nvPr/>
      </p:nvGrpSpPr>
      <p:grpSpPr>
        <a:xfrm>
          <a:off x="0" y="0"/>
          <a:ext cx="0" cy="0"/>
          <a:chOff x="0" y="0"/>
          <a:chExt cx="0" cy="0"/>
        </a:xfrm>
      </p:grpSpPr>
      <p:sp>
        <p:nvSpPr>
          <p:cNvPr id="58" name="Google Shape;58;p2:notes">
            <a:extLst>
              <a:ext uri="{FF2B5EF4-FFF2-40B4-BE49-F238E27FC236}">
                <a16:creationId xmlns:a16="http://schemas.microsoft.com/office/drawing/2014/main" id="{8B22B226-1DCF-E18B-81AD-3B6B857B593C}"/>
              </a:ext>
            </a:extLst>
          </p:cNvPr>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a:extLst>
              <a:ext uri="{FF2B5EF4-FFF2-40B4-BE49-F238E27FC236}">
                <a16:creationId xmlns:a16="http://schemas.microsoft.com/office/drawing/2014/main" id="{2ADE929F-18FE-952F-4EE0-C97CF6187FA9}"/>
              </a:ext>
            </a:extLst>
          </p:cNvPr>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274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5796A85-D0A8-EE4E-1A83-83B0B220506A}"/>
            </a:ext>
          </a:extLst>
        </p:cNvPr>
        <p:cNvGrpSpPr/>
        <p:nvPr/>
      </p:nvGrpSpPr>
      <p:grpSpPr>
        <a:xfrm>
          <a:off x="0" y="0"/>
          <a:ext cx="0" cy="0"/>
          <a:chOff x="0" y="0"/>
          <a:chExt cx="0" cy="0"/>
        </a:xfrm>
      </p:grpSpPr>
      <p:sp>
        <p:nvSpPr>
          <p:cNvPr id="58" name="Google Shape;58;p2:notes">
            <a:extLst>
              <a:ext uri="{FF2B5EF4-FFF2-40B4-BE49-F238E27FC236}">
                <a16:creationId xmlns:a16="http://schemas.microsoft.com/office/drawing/2014/main" id="{C7606906-DBB4-6B83-FA22-5425A3EB9EB0}"/>
              </a:ext>
            </a:extLst>
          </p:cNvPr>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a:extLst>
              <a:ext uri="{FF2B5EF4-FFF2-40B4-BE49-F238E27FC236}">
                <a16:creationId xmlns:a16="http://schemas.microsoft.com/office/drawing/2014/main" id="{7A80EF25-D71D-025B-150E-B4409EA135AE}"/>
              </a:ext>
            </a:extLst>
          </p:cNvPr>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6238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1D4842D-25DA-27AC-AAE3-706AF1A096CC}"/>
            </a:ext>
          </a:extLst>
        </p:cNvPr>
        <p:cNvGrpSpPr/>
        <p:nvPr/>
      </p:nvGrpSpPr>
      <p:grpSpPr>
        <a:xfrm>
          <a:off x="0" y="0"/>
          <a:ext cx="0" cy="0"/>
          <a:chOff x="0" y="0"/>
          <a:chExt cx="0" cy="0"/>
        </a:xfrm>
      </p:grpSpPr>
      <p:sp>
        <p:nvSpPr>
          <p:cNvPr id="58" name="Google Shape;58;p2:notes">
            <a:extLst>
              <a:ext uri="{FF2B5EF4-FFF2-40B4-BE49-F238E27FC236}">
                <a16:creationId xmlns:a16="http://schemas.microsoft.com/office/drawing/2014/main" id="{E60A0F15-0D51-D16D-2D36-96CA72F72570}"/>
              </a:ext>
            </a:extLst>
          </p:cNvPr>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a:extLst>
              <a:ext uri="{FF2B5EF4-FFF2-40B4-BE49-F238E27FC236}">
                <a16:creationId xmlns:a16="http://schemas.microsoft.com/office/drawing/2014/main" id="{F5DEB809-C9C4-8D15-E933-143C4BC5EA6F}"/>
              </a:ext>
            </a:extLst>
          </p:cNvPr>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636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0E3AAA2-A8B5-8421-E490-46DA74187CB0}"/>
            </a:ext>
          </a:extLst>
        </p:cNvPr>
        <p:cNvGrpSpPr/>
        <p:nvPr/>
      </p:nvGrpSpPr>
      <p:grpSpPr>
        <a:xfrm>
          <a:off x="0" y="0"/>
          <a:ext cx="0" cy="0"/>
          <a:chOff x="0" y="0"/>
          <a:chExt cx="0" cy="0"/>
        </a:xfrm>
      </p:grpSpPr>
      <p:sp>
        <p:nvSpPr>
          <p:cNvPr id="58" name="Google Shape;58;p2:notes">
            <a:extLst>
              <a:ext uri="{FF2B5EF4-FFF2-40B4-BE49-F238E27FC236}">
                <a16:creationId xmlns:a16="http://schemas.microsoft.com/office/drawing/2014/main" id="{7A8D4A44-1EAE-BCE9-E267-F7F236C6BA97}"/>
              </a:ext>
            </a:extLst>
          </p:cNvPr>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a:extLst>
              <a:ext uri="{FF2B5EF4-FFF2-40B4-BE49-F238E27FC236}">
                <a16:creationId xmlns:a16="http://schemas.microsoft.com/office/drawing/2014/main" id="{D5EC34EC-2840-A953-827E-959AB213FAED}"/>
              </a:ext>
            </a:extLst>
          </p:cNvPr>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3218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68A82AB-4470-D45A-456C-E7C114464B75}"/>
            </a:ext>
          </a:extLst>
        </p:cNvPr>
        <p:cNvGrpSpPr/>
        <p:nvPr/>
      </p:nvGrpSpPr>
      <p:grpSpPr>
        <a:xfrm>
          <a:off x="0" y="0"/>
          <a:ext cx="0" cy="0"/>
          <a:chOff x="0" y="0"/>
          <a:chExt cx="0" cy="0"/>
        </a:xfrm>
      </p:grpSpPr>
      <p:sp>
        <p:nvSpPr>
          <p:cNvPr id="58" name="Google Shape;58;p2:notes">
            <a:extLst>
              <a:ext uri="{FF2B5EF4-FFF2-40B4-BE49-F238E27FC236}">
                <a16:creationId xmlns:a16="http://schemas.microsoft.com/office/drawing/2014/main" id="{242D5862-D987-BBD5-09FF-094C025D35C4}"/>
              </a:ext>
            </a:extLst>
          </p:cNvPr>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a:extLst>
              <a:ext uri="{FF2B5EF4-FFF2-40B4-BE49-F238E27FC236}">
                <a16:creationId xmlns:a16="http://schemas.microsoft.com/office/drawing/2014/main" id="{676A345A-4432-1C41-EDB0-56254EB2F50A}"/>
              </a:ext>
            </a:extLst>
          </p:cNvPr>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7445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9d7f8a4e17_0_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g39d7f8a4e17_0_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3: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4: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6"/>
          <p:cNvSpPr txBox="1">
            <a:spLocks noGrp="1"/>
          </p:cNvSpPr>
          <p:nvPr>
            <p:ph type="title"/>
          </p:nvPr>
        </p:nvSpPr>
        <p:spPr>
          <a:xfrm>
            <a:off x="1349700" y="326641"/>
            <a:ext cx="10254615" cy="5340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
          <p:cNvSpPr txBox="1">
            <a:spLocks noGrp="1"/>
          </p:cNvSpPr>
          <p:nvPr>
            <p:ph type="body" idx="1"/>
          </p:nvPr>
        </p:nvSpPr>
        <p:spPr>
          <a:xfrm>
            <a:off x="901718" y="1044459"/>
            <a:ext cx="5309870" cy="41402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000" b="0" i="0">
                <a:solidFill>
                  <a:schemeClr val="dk1"/>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Information Science &amp; Engineering</a:t>
            </a:r>
            <a:endParaRPr/>
          </a:p>
        </p:txBody>
      </p:sp>
      <p:sp>
        <p:nvSpPr>
          <p:cNvPr id="22" name="Google Shape;22;p6"/>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EB216364-25CC-4F0F-B613-CB21134C0563}" type="datetime1">
              <a:rPr lang="en-US" smtClean="0"/>
              <a:t>4/19/2026</a:t>
            </a:fld>
            <a:endParaRPr/>
          </a:p>
        </p:txBody>
      </p:sp>
      <p:sp>
        <p:nvSpPr>
          <p:cNvPr id="23" name="Google Shape;23;p6"/>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1349700" y="326641"/>
            <a:ext cx="10254615" cy="5340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7"/>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Information Science &amp; Engineering</a:t>
            </a:r>
            <a:endParaRPr/>
          </a:p>
        </p:txBody>
      </p:sp>
      <p:sp>
        <p:nvSpPr>
          <p:cNvPr id="27" name="Google Shape;27;p7"/>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214CC238-98D4-426C-AC82-390B41F6A299}" type="datetime1">
              <a:rPr lang="en-US" smtClean="0"/>
              <a:t>4/19/2026</a:t>
            </a:fld>
            <a:endParaRPr/>
          </a:p>
        </p:txBody>
      </p:sp>
      <p:sp>
        <p:nvSpPr>
          <p:cNvPr id="28" name="Google Shape;28;p7"/>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9"/>
        <p:cNvGrpSpPr/>
        <p:nvPr/>
      </p:nvGrpSpPr>
      <p:grpSpPr>
        <a:xfrm>
          <a:off x="0" y="0"/>
          <a:ext cx="0" cy="0"/>
          <a:chOff x="0" y="0"/>
          <a:chExt cx="0" cy="0"/>
        </a:xfrm>
      </p:grpSpPr>
      <p:sp>
        <p:nvSpPr>
          <p:cNvPr id="30" name="Google Shape;30;p8"/>
          <p:cNvSpPr txBox="1">
            <a:spLocks noGrp="1"/>
          </p:cNvSpPr>
          <p:nvPr>
            <p:ph type="ctrTitle"/>
          </p:nvPr>
        </p:nvSpPr>
        <p:spPr>
          <a:xfrm>
            <a:off x="5067081" y="360836"/>
            <a:ext cx="213105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000" b="0" i="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Information Science &amp; Engineering</a:t>
            </a:r>
            <a:endParaRPr/>
          </a:p>
        </p:txBody>
      </p:sp>
      <p:sp>
        <p:nvSpPr>
          <p:cNvPr id="33" name="Google Shape;33;p8"/>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08AD76F7-DCFA-494F-AEBD-E14799CB227F}" type="datetime1">
              <a:rPr lang="en-US" smtClean="0"/>
              <a:t>4/19/2026</a:t>
            </a:fld>
            <a:endParaRPr/>
          </a:p>
        </p:txBody>
      </p:sp>
      <p:sp>
        <p:nvSpPr>
          <p:cNvPr id="34" name="Google Shape;34;p8"/>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1349700" y="326641"/>
            <a:ext cx="10254615" cy="5340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9"/>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9"/>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9"/>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Information Science &amp; Engineering</a:t>
            </a:r>
            <a:endParaRPr/>
          </a:p>
        </p:txBody>
      </p:sp>
      <p:sp>
        <p:nvSpPr>
          <p:cNvPr id="40" name="Google Shape;40;p9"/>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1B3AFCAB-5DDA-4ECA-AE5A-4D1FE4E297AF}" type="datetime1">
              <a:rPr lang="en-US" smtClean="0"/>
              <a:t>4/19/2026</a:t>
            </a:fld>
            <a:endParaRPr/>
          </a:p>
        </p:txBody>
      </p:sp>
      <p:sp>
        <p:nvSpPr>
          <p:cNvPr id="41" name="Google Shape;41;p9"/>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2"/>
        <p:cNvGrpSpPr/>
        <p:nvPr/>
      </p:nvGrpSpPr>
      <p:grpSpPr>
        <a:xfrm>
          <a:off x="0" y="0"/>
          <a:ext cx="0" cy="0"/>
          <a:chOff x="0" y="0"/>
          <a:chExt cx="0" cy="0"/>
        </a:xfrm>
      </p:grpSpPr>
      <p:sp>
        <p:nvSpPr>
          <p:cNvPr id="43" name="Google Shape;43;p10"/>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Department of Information Science &amp; Engineering</a:t>
            </a:r>
            <a:endParaRPr/>
          </a:p>
        </p:txBody>
      </p:sp>
      <p:sp>
        <p:nvSpPr>
          <p:cNvPr id="44" name="Google Shape;44;p10"/>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fld id="{D6582C21-0941-49F7-B6E2-6FF1F8C0241C}" type="datetime1">
              <a:rPr lang="en-US" smtClean="0"/>
              <a:t>4/19/2026</a:t>
            </a:fld>
            <a:endParaRPr/>
          </a:p>
        </p:txBody>
      </p:sp>
      <p:sp>
        <p:nvSpPr>
          <p:cNvPr id="45" name="Google Shape;45;p10"/>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p:nvPr/>
        </p:nvSpPr>
        <p:spPr>
          <a:xfrm>
            <a:off x="0" y="0"/>
            <a:ext cx="12192000" cy="1094740"/>
          </a:xfrm>
          <a:custGeom>
            <a:avLst/>
            <a:gdLst/>
            <a:ahLst/>
            <a:cxnLst/>
            <a:rect l="l" t="t" r="r" b="b"/>
            <a:pathLst>
              <a:path w="12192000" h="1094740" extrusionOk="0">
                <a:moveTo>
                  <a:pt x="12191999" y="1094703"/>
                </a:moveTo>
                <a:lnTo>
                  <a:pt x="0" y="1094703"/>
                </a:lnTo>
                <a:lnTo>
                  <a:pt x="0" y="0"/>
                </a:lnTo>
                <a:lnTo>
                  <a:pt x="12191999" y="0"/>
                </a:lnTo>
                <a:lnTo>
                  <a:pt x="12191999" y="1094703"/>
                </a:lnTo>
                <a:close/>
              </a:path>
            </a:pathLst>
          </a:custGeom>
          <a:solidFill>
            <a:srgbClr val="2F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 name="Google Shape;11;p5"/>
          <p:cNvSpPr/>
          <p:nvPr/>
        </p:nvSpPr>
        <p:spPr>
          <a:xfrm>
            <a:off x="0" y="0"/>
            <a:ext cx="12192000" cy="1094740"/>
          </a:xfrm>
          <a:custGeom>
            <a:avLst/>
            <a:gdLst/>
            <a:ahLst/>
            <a:cxnLst/>
            <a:rect l="l" t="t" r="r" b="b"/>
            <a:pathLst>
              <a:path w="12192000" h="1094740" extrusionOk="0">
                <a:moveTo>
                  <a:pt x="0" y="0"/>
                </a:moveTo>
                <a:lnTo>
                  <a:pt x="12191999" y="0"/>
                </a:lnTo>
                <a:lnTo>
                  <a:pt x="12191999" y="1094703"/>
                </a:lnTo>
                <a:lnTo>
                  <a:pt x="0" y="1094703"/>
                </a:lnTo>
                <a:lnTo>
                  <a:pt x="0" y="0"/>
                </a:lnTo>
                <a:close/>
              </a:path>
            </a:pathLst>
          </a:custGeom>
          <a:noFill/>
          <a:ln w="12675" cap="flat" cmpd="sng">
            <a:solidFill>
              <a:srgbClr val="1B305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 name="Google Shape;12;p5"/>
          <p:cNvPicPr preferRelativeResize="0"/>
          <p:nvPr/>
        </p:nvPicPr>
        <p:blipFill rotWithShape="1">
          <a:blip r:embed="rId7">
            <a:alphaModFix/>
          </a:blip>
          <a:srcRect/>
          <a:stretch/>
        </p:blipFill>
        <p:spPr>
          <a:xfrm>
            <a:off x="2" y="0"/>
            <a:ext cx="1191373" cy="1107581"/>
          </a:xfrm>
          <a:prstGeom prst="rect">
            <a:avLst/>
          </a:prstGeom>
          <a:noFill/>
          <a:ln>
            <a:noFill/>
          </a:ln>
        </p:spPr>
      </p:pic>
      <p:sp>
        <p:nvSpPr>
          <p:cNvPr id="13" name="Google Shape;13;p5"/>
          <p:cNvSpPr txBox="1">
            <a:spLocks noGrp="1"/>
          </p:cNvSpPr>
          <p:nvPr>
            <p:ph type="title"/>
          </p:nvPr>
        </p:nvSpPr>
        <p:spPr>
          <a:xfrm>
            <a:off x="1349700" y="326641"/>
            <a:ext cx="10254615" cy="5340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5"/>
          <p:cNvSpPr txBox="1">
            <a:spLocks noGrp="1"/>
          </p:cNvSpPr>
          <p:nvPr>
            <p:ph type="body" idx="1"/>
          </p:nvPr>
        </p:nvSpPr>
        <p:spPr>
          <a:xfrm>
            <a:off x="901718" y="1044459"/>
            <a:ext cx="5309870" cy="41402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5" name="Google Shape;15;p5"/>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rPr lang="en-US"/>
              <a:t>Department of Information Science &amp; Engineering</a:t>
            </a:r>
            <a:endParaRPr/>
          </a:p>
        </p:txBody>
      </p:sp>
      <p:sp>
        <p:nvSpPr>
          <p:cNvPr id="16" name="Google Shape;16;p5"/>
          <p:cNvSpPr txBox="1">
            <a:spLocks noGrp="1"/>
          </p:cNvSpPr>
          <p:nvPr>
            <p:ph type="dt" idx="10"/>
          </p:nvPr>
        </p:nvSpPr>
        <p:spPr>
          <a:xfrm>
            <a:off x="179689" y="6441110"/>
            <a:ext cx="1124585" cy="229234"/>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1" i="0">
                <a:solidFill>
                  <a:srgbClr val="888888"/>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fld id="{538959E5-88D1-4520-B25C-117891DE943B}" type="datetime1">
              <a:rPr lang="en-US" smtClean="0"/>
              <a:t>4/19/2026</a:t>
            </a:fld>
            <a:endParaRPr/>
          </a:p>
        </p:txBody>
      </p:sp>
      <p:sp>
        <p:nvSpPr>
          <p:cNvPr id="17" name="Google Shape;17;p5"/>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lvl1pPr marL="38100" lvl="0" indent="0">
              <a:lnSpc>
                <a:spcPct val="104000"/>
              </a:lnSpc>
              <a:spcBef>
                <a:spcPts val="0"/>
              </a:spcBef>
              <a:buNone/>
              <a:defRPr sz="1600" b="1" i="0">
                <a:solidFill>
                  <a:srgbClr val="888888"/>
                </a:solidFill>
                <a:latin typeface="Cambria"/>
                <a:ea typeface="Cambria"/>
                <a:cs typeface="Cambria"/>
                <a:sym typeface="Cambria"/>
              </a:defRPr>
            </a:lvl1pPr>
            <a:lvl2pPr marL="38100" lvl="1" indent="0">
              <a:lnSpc>
                <a:spcPct val="104000"/>
              </a:lnSpc>
              <a:spcBef>
                <a:spcPts val="0"/>
              </a:spcBef>
              <a:buNone/>
              <a:defRPr sz="1600" b="1" i="0">
                <a:solidFill>
                  <a:srgbClr val="888888"/>
                </a:solidFill>
                <a:latin typeface="Cambria"/>
                <a:ea typeface="Cambria"/>
                <a:cs typeface="Cambria"/>
                <a:sym typeface="Cambria"/>
              </a:defRPr>
            </a:lvl2pPr>
            <a:lvl3pPr marL="38100" lvl="2" indent="0">
              <a:lnSpc>
                <a:spcPct val="104000"/>
              </a:lnSpc>
              <a:spcBef>
                <a:spcPts val="0"/>
              </a:spcBef>
              <a:buNone/>
              <a:defRPr sz="1600" b="1" i="0">
                <a:solidFill>
                  <a:srgbClr val="888888"/>
                </a:solidFill>
                <a:latin typeface="Cambria"/>
                <a:ea typeface="Cambria"/>
                <a:cs typeface="Cambria"/>
                <a:sym typeface="Cambria"/>
              </a:defRPr>
            </a:lvl3pPr>
            <a:lvl4pPr marL="38100" lvl="3" indent="0">
              <a:lnSpc>
                <a:spcPct val="104000"/>
              </a:lnSpc>
              <a:spcBef>
                <a:spcPts val="0"/>
              </a:spcBef>
              <a:buNone/>
              <a:defRPr sz="1600" b="1" i="0">
                <a:solidFill>
                  <a:srgbClr val="888888"/>
                </a:solidFill>
                <a:latin typeface="Cambria"/>
                <a:ea typeface="Cambria"/>
                <a:cs typeface="Cambria"/>
                <a:sym typeface="Cambria"/>
              </a:defRPr>
            </a:lvl4pPr>
            <a:lvl5pPr marL="38100" lvl="4" indent="0">
              <a:lnSpc>
                <a:spcPct val="104000"/>
              </a:lnSpc>
              <a:spcBef>
                <a:spcPts val="0"/>
              </a:spcBef>
              <a:buNone/>
              <a:defRPr sz="1600" b="1" i="0">
                <a:solidFill>
                  <a:srgbClr val="888888"/>
                </a:solidFill>
                <a:latin typeface="Cambria"/>
                <a:ea typeface="Cambria"/>
                <a:cs typeface="Cambria"/>
                <a:sym typeface="Cambria"/>
              </a:defRPr>
            </a:lvl5pPr>
            <a:lvl6pPr marL="38100" lvl="5" indent="0">
              <a:lnSpc>
                <a:spcPct val="104000"/>
              </a:lnSpc>
              <a:spcBef>
                <a:spcPts val="0"/>
              </a:spcBef>
              <a:buNone/>
              <a:defRPr sz="1600" b="1" i="0">
                <a:solidFill>
                  <a:srgbClr val="888888"/>
                </a:solidFill>
                <a:latin typeface="Cambria"/>
                <a:ea typeface="Cambria"/>
                <a:cs typeface="Cambria"/>
                <a:sym typeface="Cambria"/>
              </a:defRPr>
            </a:lvl6pPr>
            <a:lvl7pPr marL="38100" lvl="6" indent="0">
              <a:lnSpc>
                <a:spcPct val="104000"/>
              </a:lnSpc>
              <a:spcBef>
                <a:spcPts val="0"/>
              </a:spcBef>
              <a:buNone/>
              <a:defRPr sz="1600" b="1" i="0">
                <a:solidFill>
                  <a:srgbClr val="888888"/>
                </a:solidFill>
                <a:latin typeface="Cambria"/>
                <a:ea typeface="Cambria"/>
                <a:cs typeface="Cambria"/>
                <a:sym typeface="Cambria"/>
              </a:defRPr>
            </a:lvl7pPr>
            <a:lvl8pPr marL="38100" lvl="7" indent="0">
              <a:lnSpc>
                <a:spcPct val="104000"/>
              </a:lnSpc>
              <a:spcBef>
                <a:spcPts val="0"/>
              </a:spcBef>
              <a:buNone/>
              <a:defRPr sz="1600" b="1" i="0">
                <a:solidFill>
                  <a:srgbClr val="888888"/>
                </a:solidFill>
                <a:latin typeface="Cambria"/>
                <a:ea typeface="Cambria"/>
                <a:cs typeface="Cambria"/>
                <a:sym typeface="Cambria"/>
              </a:defRPr>
            </a:lvl8pPr>
            <a:lvl9pPr marL="38100" lvl="8" indent="0">
              <a:lnSpc>
                <a:spcPct val="104000"/>
              </a:lnSpc>
              <a:spcBef>
                <a:spcPts val="0"/>
              </a:spcBef>
              <a:buNone/>
              <a:defRPr sz="1600" b="1" i="0">
                <a:solidFill>
                  <a:srgbClr val="888888"/>
                </a:solidFill>
                <a:latin typeface="Cambria"/>
                <a:ea typeface="Cambria"/>
                <a:cs typeface="Cambria"/>
                <a:sym typeface="Cambria"/>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
          <p:cNvSpPr txBox="1">
            <a:spLocks noGrp="1"/>
          </p:cNvSpPr>
          <p:nvPr>
            <p:ph type="title"/>
          </p:nvPr>
        </p:nvSpPr>
        <p:spPr>
          <a:xfrm>
            <a:off x="1349700" y="326641"/>
            <a:ext cx="10254615" cy="534032"/>
          </a:xfrm>
          <a:prstGeom prst="rect">
            <a:avLst/>
          </a:prstGeom>
          <a:noFill/>
          <a:ln>
            <a:noFill/>
          </a:ln>
        </p:spPr>
        <p:txBody>
          <a:bodyPr spcFirstLastPara="1" wrap="square" lIns="0" tIns="94600" rIns="0" bIns="0" anchor="t" anchorCtr="0">
            <a:spAutoFit/>
          </a:bodyPr>
          <a:lstStyle/>
          <a:p>
            <a:pPr marL="12700" lvl="0" indent="0" algn="ctr" rtl="0">
              <a:lnSpc>
                <a:spcPct val="100000"/>
              </a:lnSpc>
              <a:spcBef>
                <a:spcPts val="0"/>
              </a:spcBef>
              <a:spcAft>
                <a:spcPts val="0"/>
              </a:spcAft>
              <a:buNone/>
            </a:pPr>
            <a:r>
              <a:rPr lang="en-US" sz="2800" b="1">
                <a:latin typeface="Cambria"/>
                <a:ea typeface="Cambria"/>
                <a:cs typeface="Cambria"/>
                <a:sym typeface="Cambria"/>
              </a:rPr>
              <a:t>DEPARTMENT OF INFORMATION SCIENCE &amp; ENGINEERING</a:t>
            </a:r>
            <a:endParaRPr sz="2800">
              <a:latin typeface="Cambria"/>
              <a:ea typeface="Cambria"/>
              <a:cs typeface="Cambria"/>
              <a:sym typeface="Cambria"/>
            </a:endParaRPr>
          </a:p>
        </p:txBody>
      </p:sp>
      <p:sp>
        <p:nvSpPr>
          <p:cNvPr id="51" name="Google Shape;51;p1"/>
          <p:cNvSpPr txBox="1"/>
          <p:nvPr/>
        </p:nvSpPr>
        <p:spPr>
          <a:xfrm>
            <a:off x="381000" y="1227942"/>
            <a:ext cx="11430000" cy="2205732"/>
          </a:xfrm>
          <a:prstGeom prst="rect">
            <a:avLst/>
          </a:prstGeom>
          <a:noFill/>
          <a:ln>
            <a:noFill/>
          </a:ln>
        </p:spPr>
        <p:txBody>
          <a:bodyPr spcFirstLastPara="1" wrap="square" lIns="0" tIns="12700" rIns="0" bIns="0" anchor="t" anchorCtr="0">
            <a:spAutoFit/>
          </a:bodyPr>
          <a:lstStyle/>
          <a:p>
            <a:pPr algn="ctr"/>
            <a:r>
              <a:rPr lang="en-US" sz="3600" b="1" dirty="0">
                <a:latin typeface="Cambria"/>
                <a:ea typeface="Cambria"/>
              </a:rPr>
              <a:t>SEST AAT-1 (</a:t>
            </a:r>
            <a:r>
              <a:rPr lang="en-US" sz="3600" b="1" dirty="0">
                <a:latin typeface="Times New Roman"/>
                <a:cs typeface="Times New Roman"/>
              </a:rPr>
              <a:t>IPCC22IS63</a:t>
            </a:r>
            <a:r>
              <a:rPr lang="en-US" sz="3600" b="1" dirty="0">
                <a:latin typeface="Cambria"/>
                <a:ea typeface="Cambria"/>
              </a:rPr>
              <a:t>)</a:t>
            </a:r>
            <a:endParaRPr lang="en-US" dirty="0"/>
          </a:p>
          <a:p>
            <a:pPr algn="ctr"/>
            <a:endParaRPr lang="en-US" dirty="0"/>
          </a:p>
          <a:p>
            <a:pPr algn="ctr">
              <a:spcBef>
                <a:spcPts val="100"/>
              </a:spcBef>
            </a:pPr>
            <a:r>
              <a:rPr lang="en-US" sz="2800" b="1" dirty="0">
                <a:latin typeface="Cambria"/>
                <a:ea typeface="Cambria"/>
              </a:rPr>
              <a:t>AY 2025-26</a:t>
            </a:r>
            <a:endParaRPr lang="en-US" dirty="0"/>
          </a:p>
          <a:p>
            <a:pPr algn="ctr">
              <a:spcBef>
                <a:spcPts val="100"/>
              </a:spcBef>
            </a:pPr>
            <a:r>
              <a:rPr lang="en-IN" sz="2400" b="1" dirty="0">
                <a:latin typeface="Times New Roman" panose="02020603050405020304" pitchFamily="18" charset="0"/>
                <a:cs typeface="Times New Roman" panose="02020603050405020304" pitchFamily="18" charset="0"/>
              </a:rPr>
              <a:t>An Empirical Study on Meta Virtual Reality Applications: Security and Privacy Perspectives</a:t>
            </a:r>
          </a:p>
          <a:p>
            <a:pPr algn="ctr">
              <a:spcBef>
                <a:spcPts val="100"/>
              </a:spcBef>
            </a:pPr>
            <a:endParaRPr lang="en-US" dirty="0"/>
          </a:p>
        </p:txBody>
      </p:sp>
      <p:sp>
        <p:nvSpPr>
          <p:cNvPr id="52" name="Google Shape;52;p1"/>
          <p:cNvSpPr txBox="1"/>
          <p:nvPr/>
        </p:nvSpPr>
        <p:spPr>
          <a:xfrm>
            <a:off x="922661" y="3762494"/>
            <a:ext cx="2324100"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Cambria"/>
                <a:ea typeface="Cambria"/>
                <a:cs typeface="Cambria"/>
                <a:sym typeface="Cambria"/>
              </a:rPr>
              <a:t> Presented by:</a:t>
            </a:r>
            <a:endParaRPr sz="2000" dirty="0">
              <a:latin typeface="Cambria"/>
              <a:ea typeface="Cambria"/>
              <a:cs typeface="Cambria"/>
              <a:sym typeface="Cambria"/>
            </a:endParaRPr>
          </a:p>
        </p:txBody>
      </p:sp>
      <p:sp>
        <p:nvSpPr>
          <p:cNvPr id="54" name="Google Shape;54;p1"/>
          <p:cNvSpPr txBox="1">
            <a:spLocks noGrp="1"/>
          </p:cNvSpPr>
          <p:nvPr>
            <p:ph type="dt" idx="10"/>
          </p:nvPr>
        </p:nvSpPr>
        <p:spPr>
          <a:xfrm>
            <a:off x="179704" y="6441100"/>
            <a:ext cx="1528200" cy="246300"/>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28630BFE-F387-49AB-8A8A-E42245877B8D}" type="datetime1">
              <a:rPr lang="en-US" smtClean="0"/>
              <a:t>4/19/2026</a:t>
            </a:fld>
            <a:endParaRPr/>
          </a:p>
        </p:txBody>
      </p:sp>
      <p:sp>
        <p:nvSpPr>
          <p:cNvPr id="55" name="Google Shape;55;p1"/>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56" name="Google Shape;56;p1"/>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1</a:t>
            </a:fld>
            <a:endParaRPr/>
          </a:p>
        </p:txBody>
      </p:sp>
      <p:graphicFrame>
        <p:nvGraphicFramePr>
          <p:cNvPr id="2" name="Table 1">
            <a:extLst>
              <a:ext uri="{FF2B5EF4-FFF2-40B4-BE49-F238E27FC236}">
                <a16:creationId xmlns:a16="http://schemas.microsoft.com/office/drawing/2014/main" id="{2E52FA77-A99F-B2CC-4FBA-BC8883CE4D5B}"/>
              </a:ext>
            </a:extLst>
          </p:cNvPr>
          <p:cNvGraphicFramePr>
            <a:graphicFrameLocks noGrp="1"/>
          </p:cNvGraphicFramePr>
          <p:nvPr>
            <p:extLst>
              <p:ext uri="{D42A27DB-BD31-4B8C-83A1-F6EECF244321}">
                <p14:modId xmlns:p14="http://schemas.microsoft.com/office/powerpoint/2010/main" val="1062393054"/>
              </p:ext>
            </p:extLst>
          </p:nvPr>
        </p:nvGraphicFramePr>
        <p:xfrm>
          <a:off x="922661" y="4114386"/>
          <a:ext cx="5677644" cy="1584960"/>
        </p:xfrm>
        <a:graphic>
          <a:graphicData uri="http://schemas.openxmlformats.org/drawingml/2006/table">
            <a:tbl>
              <a:tblPr firstRow="1" bandRow="1">
                <a:tableStyleId>{2D5ABB26-0587-4C30-8999-92F81FD0307C}</a:tableStyleId>
              </a:tblPr>
              <a:tblGrid>
                <a:gridCol w="3502368">
                  <a:extLst>
                    <a:ext uri="{9D8B030D-6E8A-4147-A177-3AD203B41FA5}">
                      <a16:colId xmlns:a16="http://schemas.microsoft.com/office/drawing/2014/main" val="677702421"/>
                    </a:ext>
                  </a:extLst>
                </a:gridCol>
                <a:gridCol w="2175276">
                  <a:extLst>
                    <a:ext uri="{9D8B030D-6E8A-4147-A177-3AD203B41FA5}">
                      <a16:colId xmlns:a16="http://schemas.microsoft.com/office/drawing/2014/main" val="2239276761"/>
                    </a:ext>
                  </a:extLst>
                </a:gridCol>
              </a:tblGrid>
              <a:tr h="370840">
                <a:tc>
                  <a:txBody>
                    <a:bodyPr/>
                    <a:lstStyle/>
                    <a:p>
                      <a:pPr marL="12700" marR="0" lvl="0" indent="0" algn="l" rtl="0">
                        <a:lnSpc>
                          <a:spcPct val="100000"/>
                        </a:lnSpc>
                        <a:spcBef>
                          <a:spcPts val="0"/>
                        </a:spcBef>
                        <a:spcAft>
                          <a:spcPts val="0"/>
                        </a:spcAft>
                        <a:buClr>
                          <a:srgbClr val="000000"/>
                        </a:buClr>
                        <a:buFont typeface="Arial"/>
                        <a:buNone/>
                      </a:pPr>
                      <a:r>
                        <a:rPr lang="en-IN" sz="2000" b="0" i="0" u="none" strike="noStrike" cap="none" dirty="0">
                          <a:solidFill>
                            <a:srgbClr val="000000"/>
                          </a:solidFill>
                          <a:latin typeface="Cambria"/>
                          <a:ea typeface="Cambria"/>
                          <a:sym typeface="Arial"/>
                        </a:rPr>
                        <a:t>Bhoomika K Nayak</a:t>
                      </a:r>
                    </a:p>
                  </a:txBody>
                  <a:tcPr/>
                </a:tc>
                <a:tc>
                  <a:txBody>
                    <a:bodyPr/>
                    <a:lstStyle/>
                    <a:p>
                      <a:pPr marL="12700" marR="0" lvl="0" indent="0" algn="l" rtl="0">
                        <a:lnSpc>
                          <a:spcPct val="100000"/>
                        </a:lnSpc>
                        <a:spcBef>
                          <a:spcPts val="0"/>
                        </a:spcBef>
                        <a:spcAft>
                          <a:spcPts val="0"/>
                        </a:spcAft>
                        <a:buClr>
                          <a:srgbClr val="000000"/>
                        </a:buClr>
                        <a:buFont typeface="Arial"/>
                        <a:buNone/>
                      </a:pPr>
                      <a:r>
                        <a:rPr lang="en-US" sz="2000" b="0" u="none" strike="noStrike" cap="none" dirty="0">
                          <a:solidFill>
                            <a:srgbClr val="000000"/>
                          </a:solidFill>
                          <a:sym typeface="Arial"/>
                        </a:rPr>
                        <a:t>(1DS23IS031)</a:t>
                      </a:r>
                      <a:endParaRPr lang="en-IN" sz="2000" b="0" i="0" u="none" strike="noStrike" cap="none" dirty="0">
                        <a:solidFill>
                          <a:srgbClr val="000000"/>
                        </a:solidFill>
                        <a:latin typeface="Cambria"/>
                        <a:ea typeface="Cambria"/>
                        <a:sym typeface="Arial"/>
                      </a:endParaRPr>
                    </a:p>
                  </a:txBody>
                  <a:tcPr/>
                </a:tc>
                <a:extLst>
                  <a:ext uri="{0D108BD9-81ED-4DB2-BD59-A6C34878D82A}">
                    <a16:rowId xmlns:a16="http://schemas.microsoft.com/office/drawing/2014/main" val="2323421181"/>
                  </a:ext>
                </a:extLst>
              </a:tr>
              <a:tr h="370840">
                <a:tc>
                  <a:txBody>
                    <a:bodyPr/>
                    <a:lstStyle/>
                    <a:p>
                      <a:pPr marL="12700" marR="0" lvl="0" indent="0" algn="l" rtl="0">
                        <a:lnSpc>
                          <a:spcPct val="100000"/>
                        </a:lnSpc>
                        <a:spcBef>
                          <a:spcPts val="0"/>
                        </a:spcBef>
                        <a:spcAft>
                          <a:spcPts val="0"/>
                        </a:spcAft>
                        <a:buClr>
                          <a:srgbClr val="000000"/>
                        </a:buClr>
                        <a:buFont typeface="Arial"/>
                        <a:buNone/>
                      </a:pPr>
                      <a:r>
                        <a:rPr lang="en-US" sz="2000" b="0" u="none" strike="noStrike" cap="none" dirty="0">
                          <a:solidFill>
                            <a:srgbClr val="000000"/>
                          </a:solidFill>
                          <a:sym typeface="Arial"/>
                        </a:rPr>
                        <a:t>Chandra Shekar</a:t>
                      </a:r>
                      <a:endParaRPr lang="en-IN" sz="2000" b="0" i="0" u="none" strike="noStrike" cap="none" dirty="0">
                        <a:solidFill>
                          <a:srgbClr val="000000"/>
                        </a:solidFill>
                        <a:latin typeface="Cambria"/>
                        <a:ea typeface="Cambria"/>
                        <a:sym typeface="Arial"/>
                      </a:endParaRPr>
                    </a:p>
                  </a:txBody>
                  <a:tcPr/>
                </a:tc>
                <a:tc>
                  <a:txBody>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a:solidFill>
                            <a:srgbClr val="000000"/>
                          </a:solidFill>
                          <a:sym typeface="Arial"/>
                        </a:rPr>
                        <a:t>(1DS23IS035)</a:t>
                      </a:r>
                      <a:endParaRPr lang="en-IN" sz="2000" b="0" i="0" u="none" strike="noStrike" cap="none" dirty="0">
                        <a:solidFill>
                          <a:srgbClr val="000000"/>
                        </a:solidFill>
                        <a:latin typeface="Cambria"/>
                        <a:ea typeface="Cambria"/>
                        <a:sym typeface="Arial"/>
                      </a:endParaRPr>
                    </a:p>
                  </a:txBody>
                  <a:tcPr/>
                </a:tc>
                <a:extLst>
                  <a:ext uri="{0D108BD9-81ED-4DB2-BD59-A6C34878D82A}">
                    <a16:rowId xmlns:a16="http://schemas.microsoft.com/office/drawing/2014/main" val="197150067"/>
                  </a:ext>
                </a:extLst>
              </a:tr>
              <a:tr h="370840">
                <a:tc>
                  <a:txBody>
                    <a:bodyPr/>
                    <a:lstStyle/>
                    <a:p>
                      <a:pPr marL="12700" marR="0" lvl="0" indent="0" algn="l" rtl="0">
                        <a:lnSpc>
                          <a:spcPct val="100000"/>
                        </a:lnSpc>
                        <a:spcBef>
                          <a:spcPts val="0"/>
                        </a:spcBef>
                        <a:spcAft>
                          <a:spcPts val="0"/>
                        </a:spcAft>
                        <a:buClr>
                          <a:srgbClr val="000000"/>
                        </a:buClr>
                        <a:buFont typeface="Arial"/>
                        <a:buNone/>
                      </a:pPr>
                      <a:r>
                        <a:rPr lang="en-US" sz="2000" b="0" u="none" strike="noStrike" cap="none" dirty="0">
                          <a:solidFill>
                            <a:srgbClr val="000000"/>
                          </a:solidFill>
                          <a:sym typeface="Arial"/>
                        </a:rPr>
                        <a:t>Chetan S</a:t>
                      </a:r>
                      <a:endParaRPr lang="en-IN" sz="2000" b="0" i="0" u="none" strike="noStrike" cap="none" dirty="0">
                        <a:solidFill>
                          <a:srgbClr val="000000"/>
                        </a:solidFill>
                        <a:latin typeface="Cambria"/>
                        <a:ea typeface="Cambria"/>
                        <a:sym typeface="Arial"/>
                      </a:endParaRPr>
                    </a:p>
                  </a:txBody>
                  <a:tcPr/>
                </a:tc>
                <a:tc>
                  <a:txBody>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a:solidFill>
                            <a:srgbClr val="000000"/>
                          </a:solidFill>
                          <a:sym typeface="Arial"/>
                        </a:rPr>
                        <a:t>(1DS23IS037)</a:t>
                      </a:r>
                      <a:endParaRPr lang="en-IN" sz="2000" b="0" i="0" u="none" strike="noStrike" cap="none" dirty="0">
                        <a:solidFill>
                          <a:srgbClr val="000000"/>
                        </a:solidFill>
                        <a:latin typeface="Cambria"/>
                        <a:ea typeface="Cambria"/>
                        <a:sym typeface="Arial"/>
                      </a:endParaRPr>
                    </a:p>
                  </a:txBody>
                  <a:tcPr/>
                </a:tc>
                <a:extLst>
                  <a:ext uri="{0D108BD9-81ED-4DB2-BD59-A6C34878D82A}">
                    <a16:rowId xmlns:a16="http://schemas.microsoft.com/office/drawing/2014/main" val="831247751"/>
                  </a:ext>
                </a:extLst>
              </a:tr>
              <a:tr h="370840">
                <a:tc>
                  <a:txBody>
                    <a:bodyPr/>
                    <a:lstStyle/>
                    <a:p>
                      <a:pPr marL="12700" marR="0" lvl="0" indent="0" algn="l" rtl="0">
                        <a:lnSpc>
                          <a:spcPct val="100000"/>
                        </a:lnSpc>
                        <a:spcBef>
                          <a:spcPts val="0"/>
                        </a:spcBef>
                        <a:spcAft>
                          <a:spcPts val="0"/>
                        </a:spcAft>
                        <a:buClr>
                          <a:srgbClr val="000000"/>
                        </a:buClr>
                        <a:buFont typeface="Arial"/>
                        <a:buNone/>
                      </a:pPr>
                      <a:r>
                        <a:rPr lang="en-US" sz="2000" b="0" i="0" u="none" strike="noStrike" cap="none" dirty="0">
                          <a:solidFill>
                            <a:srgbClr val="000000"/>
                          </a:solidFill>
                          <a:latin typeface="Cambria"/>
                          <a:ea typeface="Cambria"/>
                          <a:sym typeface="Arial"/>
                        </a:rPr>
                        <a:t>Dikshith M</a:t>
                      </a:r>
                      <a:endParaRPr lang="en-IN" sz="2000" b="0" i="0" u="none" strike="noStrike" cap="none" dirty="0">
                        <a:solidFill>
                          <a:srgbClr val="000000"/>
                        </a:solidFill>
                        <a:latin typeface="Cambria"/>
                        <a:ea typeface="Cambria"/>
                        <a:sym typeface="Arial"/>
                      </a:endParaRPr>
                    </a:p>
                  </a:txBody>
                  <a:tcPr/>
                </a:tc>
                <a:tc>
                  <a:txBody>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u="none" strike="noStrike" cap="none" dirty="0">
                          <a:solidFill>
                            <a:srgbClr val="000000"/>
                          </a:solidFill>
                          <a:sym typeface="Arial"/>
                        </a:rPr>
                        <a:t>(1DS23IS044)</a:t>
                      </a:r>
                      <a:endParaRPr lang="en-IN" sz="2000" b="0" i="0" u="none" strike="noStrike" cap="none" dirty="0">
                        <a:solidFill>
                          <a:srgbClr val="000000"/>
                        </a:solidFill>
                        <a:latin typeface="Cambria"/>
                        <a:ea typeface="Cambria"/>
                        <a:sym typeface="Arial"/>
                      </a:endParaRPr>
                    </a:p>
                  </a:txBody>
                  <a:tcPr/>
                </a:tc>
                <a:extLst>
                  <a:ext uri="{0D108BD9-81ED-4DB2-BD59-A6C34878D82A}">
                    <a16:rowId xmlns:a16="http://schemas.microsoft.com/office/drawing/2014/main" val="1346640860"/>
                  </a:ext>
                </a:extLst>
              </a:tr>
            </a:tbl>
          </a:graphicData>
        </a:graphic>
      </p:graphicFrame>
      <p:sp>
        <p:nvSpPr>
          <p:cNvPr id="3" name="Google Shape;52;p1">
            <a:extLst>
              <a:ext uri="{FF2B5EF4-FFF2-40B4-BE49-F238E27FC236}">
                <a16:creationId xmlns:a16="http://schemas.microsoft.com/office/drawing/2014/main" id="{CC7A4A17-FCF8-09D6-6075-A210938DD9F3}"/>
              </a:ext>
            </a:extLst>
          </p:cNvPr>
          <p:cNvSpPr txBox="1"/>
          <p:nvPr/>
        </p:nvSpPr>
        <p:spPr>
          <a:xfrm>
            <a:off x="7370789" y="4233243"/>
            <a:ext cx="4679949" cy="1367041"/>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2200" dirty="0">
                <a:latin typeface="Cambria"/>
                <a:ea typeface="Cambria"/>
                <a:cs typeface="Cambria"/>
                <a:sym typeface="Cambria"/>
              </a:rPr>
              <a:t>Under the guidance of:</a:t>
            </a:r>
          </a:p>
          <a:p>
            <a:pPr marL="12700" algn="ctr"/>
            <a:r>
              <a:rPr lang="en-US" sz="2200" dirty="0">
                <a:latin typeface="Cambria"/>
                <a:ea typeface="Cambria"/>
                <a:cs typeface="Cambria"/>
                <a:sym typeface="Cambria"/>
              </a:rPr>
              <a:t>Prof. Girija R</a:t>
            </a:r>
            <a:endParaRPr lang="en-US" sz="2200" dirty="0">
              <a:latin typeface="Cambria"/>
              <a:ea typeface="Cambria"/>
              <a:cs typeface="Cambria"/>
            </a:endParaRPr>
          </a:p>
          <a:p>
            <a:pPr marL="12700" algn="ctr"/>
            <a:r>
              <a:rPr lang="en-US" sz="2200" dirty="0">
                <a:latin typeface="Cambria"/>
                <a:ea typeface="Cambria"/>
                <a:cs typeface="Cambria"/>
              </a:rPr>
              <a:t>Associate Professor</a:t>
            </a:r>
          </a:p>
          <a:p>
            <a:pPr marL="12700" algn="ctr"/>
            <a:r>
              <a:rPr lang="en-US" sz="2200" dirty="0">
                <a:latin typeface="Cambria"/>
                <a:ea typeface="Cambria"/>
                <a:cs typeface="Cambria"/>
                <a:sym typeface="Cambria"/>
              </a:rPr>
              <a:t>ISE Dept, DSCE   </a:t>
            </a:r>
            <a:endParaRPr sz="2200" dirty="0">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a:latin typeface="Cambria"/>
              <a:ea typeface="Cambria"/>
              <a:cs typeface="Cambria"/>
              <a:sym typeface="Cambria"/>
            </a:endParaRPr>
          </a:p>
        </p:txBody>
      </p:sp>
      <p:sp>
        <p:nvSpPr>
          <p:cNvPr id="62" name="Google Shape;62;p2"/>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2</a:t>
            </a:fld>
            <a:endParaRPr/>
          </a:p>
        </p:txBody>
      </p:sp>
      <p:sp>
        <p:nvSpPr>
          <p:cNvPr id="65" name="Google Shape;65;p2"/>
          <p:cNvSpPr txBox="1"/>
          <p:nvPr/>
        </p:nvSpPr>
        <p:spPr>
          <a:xfrm>
            <a:off x="2698025" y="221300"/>
            <a:ext cx="7068600" cy="1052566"/>
          </a:xfrm>
          <a:prstGeom prst="rect">
            <a:avLst/>
          </a:prstGeom>
          <a:noFill/>
          <a:ln>
            <a:noFill/>
          </a:ln>
        </p:spPr>
        <p:txBody>
          <a:bodyPr spcFirstLastPara="1" wrap="square" lIns="91425" tIns="91425" rIns="91425" bIns="91425" anchor="t" anchorCtr="0">
            <a:spAutoFit/>
          </a:bodyPr>
          <a:lstStyle/>
          <a:p>
            <a:pPr marL="0" lvl="0" indent="0" algn="ctr" rtl="0">
              <a:lnSpc>
                <a:spcPct val="145454"/>
              </a:lnSpc>
              <a:spcBef>
                <a:spcPts val="0"/>
              </a:spcBef>
              <a:spcAft>
                <a:spcPts val="1200"/>
              </a:spcAft>
              <a:buNone/>
            </a:pPr>
            <a:r>
              <a:rPr lang="en-US" sz="3200" b="1">
                <a:solidFill>
                  <a:schemeClr val="lt1"/>
                </a:solidFill>
                <a:latin typeface="Cambria"/>
                <a:ea typeface="Cambria"/>
                <a:cs typeface="Cambria"/>
                <a:sym typeface="Cambria"/>
              </a:rPr>
              <a:t>Introduction</a:t>
            </a:r>
            <a:endParaRPr sz="3200" b="1">
              <a:solidFill>
                <a:schemeClr val="lt1"/>
              </a:solidFill>
              <a:latin typeface="Cambria"/>
              <a:ea typeface="Cambria"/>
              <a:cs typeface="Cambria"/>
              <a:sym typeface="Cambria"/>
            </a:endParaRPr>
          </a:p>
        </p:txBody>
      </p:sp>
      <p:sp>
        <p:nvSpPr>
          <p:cNvPr id="4" name="TextBox 3">
            <a:extLst>
              <a:ext uri="{FF2B5EF4-FFF2-40B4-BE49-F238E27FC236}">
                <a16:creationId xmlns:a16="http://schemas.microsoft.com/office/drawing/2014/main" id="{42F1FCF6-6382-02B3-D539-F4D1E3D6D090}"/>
              </a:ext>
            </a:extLst>
          </p:cNvPr>
          <p:cNvSpPr txBox="1"/>
          <p:nvPr/>
        </p:nvSpPr>
        <p:spPr>
          <a:xfrm>
            <a:off x="424788" y="1726167"/>
            <a:ext cx="11342424" cy="3970318"/>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Virtual Reality (VR) has rapidly grown with the advancement of metaverse technologies, offering immersive 3D experiences through devices such as head-mounted displays and sensors.</a:t>
            </a:r>
          </a:p>
          <a:p>
            <a:pPr algn="just"/>
            <a:r>
              <a:rPr lang="en-US" sz="18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VR applications collect a large amount of sensitive user data, including biometric information like eye tracking, face tracking, and hand movements, along with personal data such as voice and identity details.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VR apps are built on existing mobile platforms like Android, which means they inherit many of the security and privacy vulnerabilities found in traditional mobile applications.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However, due to the additional collection of highly sensitive biometric data, the risks in VR environments are even more critical. Despite this, security and privacy issues in VR applications have not been extensively studied.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Therefore, it is important to analyze VR apps to identify potential vulnerabilities and ensure better protection of user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B9ED41E-43A3-86B5-C2D7-AB0B312D1473}"/>
            </a:ext>
          </a:extLst>
        </p:cNvPr>
        <p:cNvGrpSpPr/>
        <p:nvPr/>
      </p:nvGrpSpPr>
      <p:grpSpPr>
        <a:xfrm>
          <a:off x="0" y="0"/>
          <a:ext cx="0" cy="0"/>
          <a:chOff x="0" y="0"/>
          <a:chExt cx="0" cy="0"/>
        </a:xfrm>
      </p:grpSpPr>
      <p:sp>
        <p:nvSpPr>
          <p:cNvPr id="61" name="Google Shape;61;p2">
            <a:extLst>
              <a:ext uri="{FF2B5EF4-FFF2-40B4-BE49-F238E27FC236}">
                <a16:creationId xmlns:a16="http://schemas.microsoft.com/office/drawing/2014/main" id="{06A41431-BD92-E7A7-72F0-1834DEA52CCB}"/>
              </a:ext>
            </a:extLst>
          </p:cNvPr>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dirty="0">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dirty="0">
              <a:latin typeface="Cambria"/>
              <a:ea typeface="Cambria"/>
              <a:cs typeface="Cambria"/>
              <a:sym typeface="Cambria"/>
            </a:endParaRPr>
          </a:p>
        </p:txBody>
      </p:sp>
      <p:sp>
        <p:nvSpPr>
          <p:cNvPr id="62" name="Google Shape;62;p2">
            <a:extLst>
              <a:ext uri="{FF2B5EF4-FFF2-40B4-BE49-F238E27FC236}">
                <a16:creationId xmlns:a16="http://schemas.microsoft.com/office/drawing/2014/main" id="{91533FF8-1BF9-C8B5-8506-CBB86BF24C72}"/>
              </a:ext>
            </a:extLst>
          </p:cNvPr>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a:extLst>
              <a:ext uri="{FF2B5EF4-FFF2-40B4-BE49-F238E27FC236}">
                <a16:creationId xmlns:a16="http://schemas.microsoft.com/office/drawing/2014/main" id="{704655E7-D50A-14F2-A8C1-92048CB0BC55}"/>
              </a:ext>
            </a:extLst>
          </p:cNvPr>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a:extLst>
              <a:ext uri="{FF2B5EF4-FFF2-40B4-BE49-F238E27FC236}">
                <a16:creationId xmlns:a16="http://schemas.microsoft.com/office/drawing/2014/main" id="{C7A14541-4643-B7F7-0CAE-7C96C8BA4AA5}"/>
              </a:ext>
            </a:extLst>
          </p:cNvPr>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3</a:t>
            </a:fld>
            <a:endParaRPr/>
          </a:p>
        </p:txBody>
      </p:sp>
      <p:sp>
        <p:nvSpPr>
          <p:cNvPr id="65" name="Google Shape;65;p2">
            <a:extLst>
              <a:ext uri="{FF2B5EF4-FFF2-40B4-BE49-F238E27FC236}">
                <a16:creationId xmlns:a16="http://schemas.microsoft.com/office/drawing/2014/main" id="{3B211E8B-8C29-26BC-0A7F-137E98FD2DE8}"/>
              </a:ext>
            </a:extLst>
          </p:cNvPr>
          <p:cNvSpPr txBox="1"/>
          <p:nvPr/>
        </p:nvSpPr>
        <p:spPr>
          <a:xfrm>
            <a:off x="2565503" y="430"/>
            <a:ext cx="7068600" cy="1052566"/>
          </a:xfrm>
          <a:prstGeom prst="rect">
            <a:avLst/>
          </a:prstGeom>
          <a:noFill/>
          <a:ln>
            <a:noFill/>
          </a:ln>
        </p:spPr>
        <p:txBody>
          <a:bodyPr spcFirstLastPara="1" wrap="square" lIns="91425" tIns="91425" rIns="91425" bIns="91425" anchor="t" anchorCtr="0">
            <a:spAutoFit/>
          </a:bodyPr>
          <a:lstStyle/>
          <a:p>
            <a:pPr algn="ctr">
              <a:lnSpc>
                <a:spcPct val="145454"/>
              </a:lnSpc>
              <a:spcAft>
                <a:spcPts val="1200"/>
              </a:spcAft>
            </a:pPr>
            <a:r>
              <a:rPr lang="en-US" sz="3200" dirty="0">
                <a:solidFill>
                  <a:schemeClr val="lt1"/>
                </a:solidFill>
                <a:latin typeface="Times New Roman" panose="02020603050405020304" pitchFamily="18" charset="0"/>
                <a:ea typeface="Cambria"/>
                <a:cs typeface="Times New Roman" panose="02020603050405020304" pitchFamily="18" charset="0"/>
                <a:sym typeface="Cambria"/>
              </a:rPr>
              <a:t>Overview of the Research Paper</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F1E7C7C-BBEC-33CE-1B7E-E9CBAE39DC32}"/>
              </a:ext>
            </a:extLst>
          </p:cNvPr>
          <p:cNvSpPr txBox="1"/>
          <p:nvPr/>
        </p:nvSpPr>
        <p:spPr>
          <a:xfrm>
            <a:off x="424788" y="1681566"/>
            <a:ext cx="11342424" cy="3970318"/>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research paper presents an empirical study on the security and privacy issues in Meta Virtual Reality (VR) applications.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authors propose a tool called </a:t>
            </a:r>
            <a:r>
              <a:rPr lang="en-US" sz="1800" b="1" dirty="0">
                <a:latin typeface="Times New Roman" panose="02020603050405020304" pitchFamily="18" charset="0"/>
                <a:cs typeface="Times New Roman" panose="02020603050405020304" pitchFamily="18" charset="0"/>
              </a:rPr>
              <a:t>VR-SP Detector</a:t>
            </a:r>
            <a:r>
              <a:rPr lang="en-US" sz="1800" dirty="0">
                <a:latin typeface="Times New Roman" panose="02020603050405020304" pitchFamily="18" charset="0"/>
                <a:cs typeface="Times New Roman" panose="02020603050405020304" pitchFamily="18" charset="0"/>
              </a:rPr>
              <a:t>, which is designed to automatically analyze VR apps for potential vulnerabilities and privacy risks.</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study is conducted on a large dataset of 900 VR applications collected from the </a:t>
            </a:r>
            <a:r>
              <a:rPr lang="en-US" sz="1800" dirty="0" err="1">
                <a:latin typeface="Times New Roman" panose="02020603050405020304" pitchFamily="18" charset="0"/>
                <a:cs typeface="Times New Roman" panose="02020603050405020304" pitchFamily="18" charset="0"/>
              </a:rPr>
              <a:t>SideQuest</a:t>
            </a:r>
            <a:r>
              <a:rPr lang="en-US" sz="1800" dirty="0">
                <a:latin typeface="Times New Roman" panose="02020603050405020304" pitchFamily="18" charset="0"/>
                <a:cs typeface="Times New Roman" panose="02020603050405020304" pitchFamily="18" charset="0"/>
              </a:rPr>
              <a:t> platform.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tool performs multiple analyses, including static code analysis, privacy policy analysis, and user review analysis, to identify security flaws, data leaks, and inconsistencies in privacy policies.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By combining Software Engineering principles with AI-based techniques such as taint analysis and natural language processing, the paper provides a comprehensive evaluation of current VR applications and highlights major security and privacy concerns.</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1429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31ED73B-661E-120D-C507-EE9A41B6CC7F}"/>
            </a:ext>
          </a:extLst>
        </p:cNvPr>
        <p:cNvGrpSpPr/>
        <p:nvPr/>
      </p:nvGrpSpPr>
      <p:grpSpPr>
        <a:xfrm>
          <a:off x="0" y="0"/>
          <a:ext cx="0" cy="0"/>
          <a:chOff x="0" y="0"/>
          <a:chExt cx="0" cy="0"/>
        </a:xfrm>
      </p:grpSpPr>
      <p:sp>
        <p:nvSpPr>
          <p:cNvPr id="61" name="Google Shape;61;p2">
            <a:extLst>
              <a:ext uri="{FF2B5EF4-FFF2-40B4-BE49-F238E27FC236}">
                <a16:creationId xmlns:a16="http://schemas.microsoft.com/office/drawing/2014/main" id="{19CC24D9-CC28-FA01-18C9-AE37544895FE}"/>
              </a:ext>
            </a:extLst>
          </p:cNvPr>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dirty="0">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dirty="0">
              <a:latin typeface="Cambria"/>
              <a:ea typeface="Cambria"/>
              <a:cs typeface="Cambria"/>
              <a:sym typeface="Cambria"/>
            </a:endParaRPr>
          </a:p>
        </p:txBody>
      </p:sp>
      <p:sp>
        <p:nvSpPr>
          <p:cNvPr id="62" name="Google Shape;62;p2">
            <a:extLst>
              <a:ext uri="{FF2B5EF4-FFF2-40B4-BE49-F238E27FC236}">
                <a16:creationId xmlns:a16="http://schemas.microsoft.com/office/drawing/2014/main" id="{770EB4E2-6F56-E857-3C8B-204E0F2DB3EF}"/>
              </a:ext>
            </a:extLst>
          </p:cNvPr>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a:extLst>
              <a:ext uri="{FF2B5EF4-FFF2-40B4-BE49-F238E27FC236}">
                <a16:creationId xmlns:a16="http://schemas.microsoft.com/office/drawing/2014/main" id="{170A878F-9BD9-A388-38C2-047FDE2B8CF3}"/>
              </a:ext>
            </a:extLst>
          </p:cNvPr>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a:extLst>
              <a:ext uri="{FF2B5EF4-FFF2-40B4-BE49-F238E27FC236}">
                <a16:creationId xmlns:a16="http://schemas.microsoft.com/office/drawing/2014/main" id="{0BF5223F-A602-F9B3-E038-8B0A0B031D7F}"/>
              </a:ext>
            </a:extLst>
          </p:cNvPr>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4</a:t>
            </a:fld>
            <a:endParaRPr/>
          </a:p>
        </p:txBody>
      </p:sp>
      <p:sp>
        <p:nvSpPr>
          <p:cNvPr id="65" name="Google Shape;65;p2">
            <a:extLst>
              <a:ext uri="{FF2B5EF4-FFF2-40B4-BE49-F238E27FC236}">
                <a16:creationId xmlns:a16="http://schemas.microsoft.com/office/drawing/2014/main" id="{FE5A9D3F-1112-A503-D1BB-E6C1E1EBFF0B}"/>
              </a:ext>
            </a:extLst>
          </p:cNvPr>
          <p:cNvSpPr txBox="1"/>
          <p:nvPr/>
        </p:nvSpPr>
        <p:spPr>
          <a:xfrm>
            <a:off x="2561700" y="0"/>
            <a:ext cx="7068600" cy="1052566"/>
          </a:xfrm>
          <a:prstGeom prst="rect">
            <a:avLst/>
          </a:prstGeom>
          <a:noFill/>
          <a:ln>
            <a:noFill/>
          </a:ln>
        </p:spPr>
        <p:txBody>
          <a:bodyPr spcFirstLastPara="1" wrap="square" lIns="91425" tIns="91425" rIns="91425" bIns="91425" anchor="t" anchorCtr="0">
            <a:spAutoFit/>
          </a:bodyPr>
          <a:lstStyle/>
          <a:p>
            <a:pPr algn="ctr">
              <a:lnSpc>
                <a:spcPct val="145454"/>
              </a:lnSpc>
              <a:spcAft>
                <a:spcPts val="1200"/>
              </a:spcAft>
            </a:pPr>
            <a:r>
              <a:rPr lang="en-IN" sz="3200" dirty="0">
                <a:solidFill>
                  <a:schemeClr val="bg1"/>
                </a:solidFill>
                <a:latin typeface="Times New Roman" panose="02020603050405020304" pitchFamily="18" charset="0"/>
                <a:cs typeface="Times New Roman" panose="02020603050405020304" pitchFamily="18" charset="0"/>
              </a:rPr>
              <a:t>Methodology of VR Detector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D938ACC-3B3F-8F6E-B66B-D54C238AFF07}"/>
              </a:ext>
            </a:extLst>
          </p:cNvPr>
          <p:cNvSpPr txBox="1"/>
          <p:nvPr/>
        </p:nvSpPr>
        <p:spPr>
          <a:xfrm>
            <a:off x="673293" y="1681996"/>
            <a:ext cx="11481619" cy="3693319"/>
          </a:xfrm>
          <a:prstGeom prst="rect">
            <a:avLst/>
          </a:prstGeom>
          <a:noFill/>
        </p:spPr>
        <p:txBody>
          <a:bodyPr wrap="square">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VR-SP Detector follows a systematic approach to analyze security and privacy in VR applications.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begins by collecting VR apps and extracting their APK files for analysis.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apps are then decompiled to examine code and configuration details.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Static analysis is used to detect security vulnerabilities, while taint analysis tracks the flow of sensitive data to identify potential privacy leaks.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addition, privacy policies are analyzed to check for inconsistencies, and user reviews are studied to understand real-world concerns.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combined approach provides a comprehensive evaluation of VR app security and privacy.</a:t>
            </a:r>
          </a:p>
        </p:txBody>
      </p:sp>
    </p:spTree>
    <p:extLst>
      <p:ext uri="{BB962C8B-B14F-4D97-AF65-F5344CB8AC3E}">
        <p14:creationId xmlns:p14="http://schemas.microsoft.com/office/powerpoint/2010/main" val="4107941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83311BA-CE96-4984-55C8-4B5DB213C9AE}"/>
            </a:ext>
          </a:extLst>
        </p:cNvPr>
        <p:cNvGrpSpPr/>
        <p:nvPr/>
      </p:nvGrpSpPr>
      <p:grpSpPr>
        <a:xfrm>
          <a:off x="0" y="0"/>
          <a:ext cx="0" cy="0"/>
          <a:chOff x="0" y="0"/>
          <a:chExt cx="0" cy="0"/>
        </a:xfrm>
      </p:grpSpPr>
      <p:sp>
        <p:nvSpPr>
          <p:cNvPr id="61" name="Google Shape;61;p2">
            <a:extLst>
              <a:ext uri="{FF2B5EF4-FFF2-40B4-BE49-F238E27FC236}">
                <a16:creationId xmlns:a16="http://schemas.microsoft.com/office/drawing/2014/main" id="{5FAD0A98-95E2-67A8-BD78-23CE149DE193}"/>
              </a:ext>
            </a:extLst>
          </p:cNvPr>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dirty="0">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dirty="0">
              <a:latin typeface="Cambria"/>
              <a:ea typeface="Cambria"/>
              <a:cs typeface="Cambria"/>
              <a:sym typeface="Cambria"/>
            </a:endParaRPr>
          </a:p>
        </p:txBody>
      </p:sp>
      <p:sp>
        <p:nvSpPr>
          <p:cNvPr id="62" name="Google Shape;62;p2">
            <a:extLst>
              <a:ext uri="{FF2B5EF4-FFF2-40B4-BE49-F238E27FC236}">
                <a16:creationId xmlns:a16="http://schemas.microsoft.com/office/drawing/2014/main" id="{C22275C8-1538-4858-D4B9-2553A1126851}"/>
              </a:ext>
            </a:extLst>
          </p:cNvPr>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a:extLst>
              <a:ext uri="{FF2B5EF4-FFF2-40B4-BE49-F238E27FC236}">
                <a16:creationId xmlns:a16="http://schemas.microsoft.com/office/drawing/2014/main" id="{367EFA13-F410-34E9-4855-393EDFCD196D}"/>
              </a:ext>
            </a:extLst>
          </p:cNvPr>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a:extLst>
              <a:ext uri="{FF2B5EF4-FFF2-40B4-BE49-F238E27FC236}">
                <a16:creationId xmlns:a16="http://schemas.microsoft.com/office/drawing/2014/main" id="{3BD158AA-137C-3ADE-FB0C-F18EE6844F97}"/>
              </a:ext>
            </a:extLst>
          </p:cNvPr>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5</a:t>
            </a:fld>
            <a:endParaRPr/>
          </a:p>
        </p:txBody>
      </p:sp>
      <p:sp>
        <p:nvSpPr>
          <p:cNvPr id="65" name="Google Shape;65;p2">
            <a:extLst>
              <a:ext uri="{FF2B5EF4-FFF2-40B4-BE49-F238E27FC236}">
                <a16:creationId xmlns:a16="http://schemas.microsoft.com/office/drawing/2014/main" id="{20972E6A-7C88-0C50-6BB0-2ED911AEC132}"/>
              </a:ext>
            </a:extLst>
          </p:cNvPr>
          <p:cNvSpPr txBox="1"/>
          <p:nvPr/>
        </p:nvSpPr>
        <p:spPr>
          <a:xfrm>
            <a:off x="2709068" y="430"/>
            <a:ext cx="7068600" cy="1052566"/>
          </a:xfrm>
          <a:prstGeom prst="rect">
            <a:avLst/>
          </a:prstGeom>
          <a:noFill/>
          <a:ln>
            <a:noFill/>
          </a:ln>
        </p:spPr>
        <p:txBody>
          <a:bodyPr spcFirstLastPara="1" wrap="square" lIns="91425" tIns="91425" rIns="91425" bIns="91425" anchor="t" anchorCtr="0">
            <a:spAutoFit/>
          </a:bodyPr>
          <a:lstStyle/>
          <a:p>
            <a:pPr algn="ctr">
              <a:lnSpc>
                <a:spcPct val="145454"/>
              </a:lnSpc>
              <a:spcAft>
                <a:spcPts val="1200"/>
              </a:spcAft>
            </a:pPr>
            <a:r>
              <a:rPr lang="en-IN" sz="3200" dirty="0">
                <a:solidFill>
                  <a:schemeClr val="bg1"/>
                </a:solidFill>
                <a:latin typeface="Times New Roman" panose="02020603050405020304" pitchFamily="18" charset="0"/>
                <a:cs typeface="Times New Roman" panose="02020603050405020304" pitchFamily="18" charset="0"/>
              </a:rPr>
              <a:t>SE &amp; AI Tools Used</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78F3894-0D27-38BD-C38C-57C1D3F749E7}"/>
              </a:ext>
            </a:extLst>
          </p:cNvPr>
          <p:cNvSpPr txBox="1"/>
          <p:nvPr/>
        </p:nvSpPr>
        <p:spPr>
          <a:xfrm>
            <a:off x="1154145" y="1887717"/>
            <a:ext cx="11342424" cy="3416320"/>
          </a:xfrm>
          <a:prstGeom prst="rect">
            <a:avLst/>
          </a:prstGeom>
          <a:noFill/>
        </p:spPr>
        <p:txBody>
          <a:bodyPr wrap="square" lIns="91440" tIns="45720" rIns="91440" bIns="45720" rtlCol="0" anchor="t">
            <a:spAutoFit/>
          </a:bodyPr>
          <a:lstStyle/>
          <a:p>
            <a:pPr algn="just"/>
            <a:r>
              <a:rPr lang="en-IN" sz="1800" b="1" dirty="0">
                <a:latin typeface="Times New Roman" panose="02020603050405020304" pitchFamily="18" charset="0"/>
                <a:cs typeface="Times New Roman" panose="02020603050405020304" pitchFamily="18" charset="0"/>
              </a:rPr>
              <a:t>Software Engineering Tools:</a:t>
            </a:r>
          </a:p>
          <a:p>
            <a:pPr marL="285750" indent="-285750"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Androguard</a:t>
            </a:r>
            <a:r>
              <a:rPr lang="en-IN" sz="1800" dirty="0">
                <a:latin typeface="Times New Roman" panose="02020603050405020304" pitchFamily="18" charset="0"/>
                <a:cs typeface="Times New Roman" panose="02020603050405020304" pitchFamily="18" charset="0"/>
              </a:rPr>
              <a:t> → APK analysis &amp; code extraction </a:t>
            </a:r>
          </a:p>
          <a:p>
            <a:pPr marL="285750" indent="-285750" algn="just">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LibScan</a:t>
            </a:r>
            <a:r>
              <a:rPr lang="en-IN" sz="1800" dirty="0">
                <a:latin typeface="Times New Roman" panose="02020603050405020304" pitchFamily="18" charset="0"/>
                <a:cs typeface="Times New Roman" panose="02020603050405020304" pitchFamily="18" charset="0"/>
              </a:rPr>
              <a:t> → Detects third-party libraries (TPLs) </a:t>
            </a:r>
          </a:p>
          <a:p>
            <a:pPr marL="285750" indent="-285750" algn="just">
              <a:buFont typeface="Arial" panose="020B0604020202020204" pitchFamily="34" charset="0"/>
              <a:buChar char="•"/>
            </a:pPr>
            <a:r>
              <a:rPr lang="en-IN" sz="1800" b="1" dirty="0" err="1">
                <a:latin typeface="Times New Roman" panose="02020603050405020304" pitchFamily="18" charset="0"/>
                <a:cs typeface="Times New Roman" panose="02020603050405020304" pitchFamily="18" charset="0"/>
              </a:rPr>
              <a:t>PolicyLint</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privacy policies </a:t>
            </a:r>
          </a:p>
          <a:p>
            <a:pPr algn="just"/>
            <a:endParaRPr lang="en-IN" sz="1800" dirty="0">
              <a:latin typeface="Times New Roman" panose="02020603050405020304" pitchFamily="18" charset="0"/>
              <a:cs typeface="Times New Roman" panose="02020603050405020304" pitchFamily="18" charset="0"/>
            </a:endParaRPr>
          </a:p>
          <a:p>
            <a:pPr algn="just"/>
            <a:r>
              <a:rPr lang="en-IN" sz="1800" b="1" dirty="0">
                <a:latin typeface="Times New Roman" panose="02020603050405020304" pitchFamily="18" charset="0"/>
                <a:cs typeface="Times New Roman" panose="02020603050405020304" pitchFamily="18" charset="0"/>
              </a:rPr>
              <a:t>AI / Analysis Techniques:</a:t>
            </a:r>
          </a:p>
          <a:p>
            <a:pPr marL="285750" indent="-285750" algn="just">
              <a:buFont typeface="Arial" panose="020B0604020202020204" pitchFamily="34" charset="0"/>
              <a:buChar char="•"/>
            </a:pPr>
            <a:endParaRPr lang="en-IN"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Taint Analysis</a:t>
            </a:r>
            <a:r>
              <a:rPr lang="en-IN" sz="1800" dirty="0">
                <a:latin typeface="Times New Roman" panose="02020603050405020304" pitchFamily="18" charset="0"/>
                <a:cs typeface="Times New Roman" panose="02020603050405020304" pitchFamily="18" charset="0"/>
              </a:rPr>
              <a:t> → Tracks sensitive data flow &amp; detects leaks </a:t>
            </a: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NLP (Natural Language Processing)</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Analyzes</a:t>
            </a:r>
            <a:r>
              <a:rPr lang="en-IN" sz="1800" dirty="0">
                <a:latin typeface="Times New Roman" panose="02020603050405020304" pitchFamily="18" charset="0"/>
                <a:cs typeface="Times New Roman" panose="02020603050405020304" pitchFamily="18" charset="0"/>
              </a:rPr>
              <a:t> privacy policy text </a:t>
            </a:r>
          </a:p>
          <a:p>
            <a:pPr marL="285750" indent="-285750" algn="just">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Pattern Matching</a:t>
            </a:r>
            <a:r>
              <a:rPr lang="en-IN" sz="1800" dirty="0">
                <a:latin typeface="Times New Roman" panose="02020603050405020304" pitchFamily="18" charset="0"/>
                <a:cs typeface="Times New Roman" panose="02020603050405020304" pitchFamily="18" charset="0"/>
              </a:rPr>
              <a:t> → Identifies security vulnerabilities</a:t>
            </a:r>
          </a:p>
          <a:p>
            <a:pPr marL="342900" indent="-342900" algn="just">
              <a:buFont typeface="Wingdings" panose="020B0604020202020204" pitchFamily="34" charset="0"/>
              <a:buChar char="Ø"/>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6425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7E94ED2-403F-A32C-F1AF-721786E564D5}"/>
            </a:ext>
          </a:extLst>
        </p:cNvPr>
        <p:cNvGrpSpPr/>
        <p:nvPr/>
      </p:nvGrpSpPr>
      <p:grpSpPr>
        <a:xfrm>
          <a:off x="0" y="0"/>
          <a:ext cx="0" cy="0"/>
          <a:chOff x="0" y="0"/>
          <a:chExt cx="0" cy="0"/>
        </a:xfrm>
      </p:grpSpPr>
      <p:sp>
        <p:nvSpPr>
          <p:cNvPr id="61" name="Google Shape;61;p2">
            <a:extLst>
              <a:ext uri="{FF2B5EF4-FFF2-40B4-BE49-F238E27FC236}">
                <a16:creationId xmlns:a16="http://schemas.microsoft.com/office/drawing/2014/main" id="{308DA5D4-948C-7821-3875-64142F33654B}"/>
              </a:ext>
            </a:extLst>
          </p:cNvPr>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dirty="0">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dirty="0">
              <a:latin typeface="Cambria"/>
              <a:ea typeface="Cambria"/>
              <a:cs typeface="Cambria"/>
              <a:sym typeface="Cambria"/>
            </a:endParaRPr>
          </a:p>
        </p:txBody>
      </p:sp>
      <p:sp>
        <p:nvSpPr>
          <p:cNvPr id="62" name="Google Shape;62;p2">
            <a:extLst>
              <a:ext uri="{FF2B5EF4-FFF2-40B4-BE49-F238E27FC236}">
                <a16:creationId xmlns:a16="http://schemas.microsoft.com/office/drawing/2014/main" id="{728B0FB6-60C4-8E43-22F1-3974E6436D61}"/>
              </a:ext>
            </a:extLst>
          </p:cNvPr>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a:extLst>
              <a:ext uri="{FF2B5EF4-FFF2-40B4-BE49-F238E27FC236}">
                <a16:creationId xmlns:a16="http://schemas.microsoft.com/office/drawing/2014/main" id="{AD09E62A-FAB5-BDB5-210A-BB04C7C667A6}"/>
              </a:ext>
            </a:extLst>
          </p:cNvPr>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a:extLst>
              <a:ext uri="{FF2B5EF4-FFF2-40B4-BE49-F238E27FC236}">
                <a16:creationId xmlns:a16="http://schemas.microsoft.com/office/drawing/2014/main" id="{AA5D233E-3098-65BC-4707-2C3EE3D10274}"/>
              </a:ext>
            </a:extLst>
          </p:cNvPr>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6</a:t>
            </a:fld>
            <a:endParaRPr/>
          </a:p>
        </p:txBody>
      </p:sp>
      <p:sp>
        <p:nvSpPr>
          <p:cNvPr id="65" name="Google Shape;65;p2">
            <a:extLst>
              <a:ext uri="{FF2B5EF4-FFF2-40B4-BE49-F238E27FC236}">
                <a16:creationId xmlns:a16="http://schemas.microsoft.com/office/drawing/2014/main" id="{4DE73FC9-E560-E3EA-E975-F991D7E7163E}"/>
              </a:ext>
            </a:extLst>
          </p:cNvPr>
          <p:cNvSpPr txBox="1"/>
          <p:nvPr/>
        </p:nvSpPr>
        <p:spPr>
          <a:xfrm>
            <a:off x="4074128" y="275334"/>
            <a:ext cx="7068600" cy="553968"/>
          </a:xfrm>
          <a:prstGeom prst="rect">
            <a:avLst/>
          </a:prstGeom>
          <a:noFill/>
          <a:ln>
            <a:noFill/>
          </a:ln>
        </p:spPr>
        <p:txBody>
          <a:bodyPr spcFirstLastPara="1" wrap="square" lIns="91425" tIns="91425" rIns="91425" bIns="91425" anchor="t" anchorCtr="0">
            <a:spAutoFit/>
          </a:bodyPr>
          <a:lstStyle/>
          <a:p>
            <a:pPr lvl="0" fontAlgn="base"/>
            <a:r>
              <a:rPr lang="en-IN" sz="2400" dirty="0">
                <a:solidFill>
                  <a:schemeClr val="bg1"/>
                </a:solidFill>
                <a:latin typeface="Times New Roman" panose="02020603050405020304" pitchFamily="18" charset="0"/>
                <a:cs typeface="Times New Roman" panose="02020603050405020304" pitchFamily="18" charset="0"/>
              </a:rPr>
              <a:t>Experiments and Results</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D085AFA-55DD-A548-C5DF-B51243438996}"/>
              </a:ext>
            </a:extLst>
          </p:cNvPr>
          <p:cNvSpPr txBox="1"/>
          <p:nvPr/>
        </p:nvSpPr>
        <p:spPr>
          <a:xfrm>
            <a:off x="498764" y="1573084"/>
            <a:ext cx="11342424" cy="4247317"/>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this study, the proposed VR-SP Detector was evaluated on a dataset of 900 VR applications collected from popular platforms.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experiments involved analyzing app code, permissions, privacy policies, and user reviews to identify security and privacy issues.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results revealed that a large number of VR apps contain vulnerabilities such as insecure configurations, data leaks, and misuse of permissions.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It was also observed that many applications lack proper privacy policies or have inconsistent statements.</a:t>
            </a:r>
          </a:p>
          <a:p>
            <a:pPr algn="just"/>
            <a:r>
              <a:rPr lang="en-US" sz="18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Additionally, several apps were found to collect sensitive biometric data without appropriate permissions.</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These findings highlight the widespread presence of security and privacy risks in current VR applications and demonstrate the effectiveness of the proposed approach in identifying them.</a:t>
            </a:r>
          </a:p>
        </p:txBody>
      </p:sp>
    </p:spTree>
    <p:extLst>
      <p:ext uri="{BB962C8B-B14F-4D97-AF65-F5344CB8AC3E}">
        <p14:creationId xmlns:p14="http://schemas.microsoft.com/office/powerpoint/2010/main" val="3065511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DBF80ED-3FA1-3C01-15AB-482516E57CF8}"/>
            </a:ext>
          </a:extLst>
        </p:cNvPr>
        <p:cNvGrpSpPr/>
        <p:nvPr/>
      </p:nvGrpSpPr>
      <p:grpSpPr>
        <a:xfrm>
          <a:off x="0" y="0"/>
          <a:ext cx="0" cy="0"/>
          <a:chOff x="0" y="0"/>
          <a:chExt cx="0" cy="0"/>
        </a:xfrm>
      </p:grpSpPr>
      <p:sp>
        <p:nvSpPr>
          <p:cNvPr id="61" name="Google Shape;61;p2">
            <a:extLst>
              <a:ext uri="{FF2B5EF4-FFF2-40B4-BE49-F238E27FC236}">
                <a16:creationId xmlns:a16="http://schemas.microsoft.com/office/drawing/2014/main" id="{D09ED47C-2AEB-D3DA-8BA4-467064300DB4}"/>
              </a:ext>
            </a:extLst>
          </p:cNvPr>
          <p:cNvSpPr txBox="1">
            <a:spLocks noGrp="1"/>
          </p:cNvSpPr>
          <p:nvPr>
            <p:ph type="title"/>
          </p:nvPr>
        </p:nvSpPr>
        <p:spPr>
          <a:xfrm>
            <a:off x="1349700" y="326648"/>
            <a:ext cx="10254600" cy="1028700"/>
          </a:xfrm>
          <a:prstGeom prst="rect">
            <a:avLst/>
          </a:prstGeom>
          <a:noFill/>
          <a:ln>
            <a:noFill/>
          </a:ln>
        </p:spPr>
        <p:txBody>
          <a:bodyPr spcFirstLastPara="1" wrap="square" lIns="0" tIns="12700" rIns="0" bIns="0" anchor="t" anchorCtr="0">
            <a:spAutoFit/>
          </a:bodyPr>
          <a:lstStyle/>
          <a:p>
            <a:pPr marL="0" lvl="0" indent="0" algn="l" rtl="0">
              <a:lnSpc>
                <a:spcPct val="145454"/>
              </a:lnSpc>
              <a:spcBef>
                <a:spcPts val="0"/>
              </a:spcBef>
              <a:spcAft>
                <a:spcPts val="0"/>
              </a:spcAft>
              <a:buClr>
                <a:schemeClr val="dk1"/>
              </a:buClr>
              <a:buSzPts val="1100"/>
              <a:buFont typeface="Arial"/>
              <a:buNone/>
            </a:pPr>
            <a:endParaRPr sz="1650" b="1" dirty="0">
              <a:solidFill>
                <a:srgbClr val="F9FAFB"/>
              </a:solidFill>
              <a:highlight>
                <a:schemeClr val="lt1"/>
              </a:highlight>
              <a:latin typeface="Roboto"/>
              <a:ea typeface="Roboto"/>
              <a:cs typeface="Roboto"/>
              <a:sym typeface="Roboto"/>
            </a:endParaRPr>
          </a:p>
          <a:p>
            <a:pPr marL="3695700" lvl="0" indent="0" algn="l" rtl="0">
              <a:lnSpc>
                <a:spcPct val="100000"/>
              </a:lnSpc>
              <a:spcBef>
                <a:spcPts val="1200"/>
              </a:spcBef>
              <a:spcAft>
                <a:spcPts val="0"/>
              </a:spcAft>
              <a:buNone/>
            </a:pPr>
            <a:endParaRPr b="1" dirty="0">
              <a:latin typeface="Cambria"/>
              <a:ea typeface="Cambria"/>
              <a:cs typeface="Cambria"/>
              <a:sym typeface="Cambria"/>
            </a:endParaRPr>
          </a:p>
        </p:txBody>
      </p:sp>
      <p:sp>
        <p:nvSpPr>
          <p:cNvPr id="62" name="Google Shape;62;p2">
            <a:extLst>
              <a:ext uri="{FF2B5EF4-FFF2-40B4-BE49-F238E27FC236}">
                <a16:creationId xmlns:a16="http://schemas.microsoft.com/office/drawing/2014/main" id="{39D80917-4770-7389-70AF-58903A9ED011}"/>
              </a:ext>
            </a:extLst>
          </p:cNvPr>
          <p:cNvSpPr txBox="1">
            <a:spLocks noGrp="1"/>
          </p:cNvSpPr>
          <p:nvPr>
            <p:ph type="dt" idx="10"/>
          </p:nvPr>
        </p:nvSpPr>
        <p:spPr>
          <a:xfrm>
            <a:off x="152400" y="6477000"/>
            <a:ext cx="1344311"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1A2E0C83-1898-433E-9498-3A585DDD0F6C}" type="datetime1">
              <a:rPr lang="en-US" smtClean="0"/>
              <a:t>4/19/2026</a:t>
            </a:fld>
            <a:endParaRPr/>
          </a:p>
        </p:txBody>
      </p:sp>
      <p:sp>
        <p:nvSpPr>
          <p:cNvPr id="63" name="Google Shape;63;p2">
            <a:extLst>
              <a:ext uri="{FF2B5EF4-FFF2-40B4-BE49-F238E27FC236}">
                <a16:creationId xmlns:a16="http://schemas.microsoft.com/office/drawing/2014/main" id="{C20317C8-CB20-EA81-F86F-683E24C336EA}"/>
              </a:ext>
            </a:extLst>
          </p:cNvPr>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64" name="Google Shape;64;p2">
            <a:extLst>
              <a:ext uri="{FF2B5EF4-FFF2-40B4-BE49-F238E27FC236}">
                <a16:creationId xmlns:a16="http://schemas.microsoft.com/office/drawing/2014/main" id="{9D52BA87-5E7B-C215-4D20-518D52DF1EAF}"/>
              </a:ext>
            </a:extLst>
          </p:cNvPr>
          <p:cNvSpPr txBox="1">
            <a:spLocks noGrp="1"/>
          </p:cNvSpPr>
          <p:nvPr>
            <p:ph type="sldNum" idx="12"/>
          </p:nvPr>
        </p:nvSpPr>
        <p:spPr>
          <a:xfrm>
            <a:off x="11841188" y="6441110"/>
            <a:ext cx="209550" cy="229234"/>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7</a:t>
            </a:fld>
            <a:endParaRPr/>
          </a:p>
        </p:txBody>
      </p:sp>
      <p:sp>
        <p:nvSpPr>
          <p:cNvPr id="65" name="Google Shape;65;p2">
            <a:extLst>
              <a:ext uri="{FF2B5EF4-FFF2-40B4-BE49-F238E27FC236}">
                <a16:creationId xmlns:a16="http://schemas.microsoft.com/office/drawing/2014/main" id="{82E3AD7C-FD81-59D2-6BCC-AD7AA84BD34C}"/>
              </a:ext>
            </a:extLst>
          </p:cNvPr>
          <p:cNvSpPr txBox="1"/>
          <p:nvPr/>
        </p:nvSpPr>
        <p:spPr>
          <a:xfrm>
            <a:off x="2879803" y="287030"/>
            <a:ext cx="7068600" cy="553968"/>
          </a:xfrm>
          <a:prstGeom prst="rect">
            <a:avLst/>
          </a:prstGeom>
          <a:noFill/>
          <a:ln>
            <a:noFill/>
          </a:ln>
        </p:spPr>
        <p:txBody>
          <a:bodyPr spcFirstLastPara="1" wrap="square" lIns="91425" tIns="91425" rIns="91425" bIns="91425" anchor="t" anchorCtr="0">
            <a:spAutoFit/>
          </a:bodyPr>
          <a:lstStyle/>
          <a:p>
            <a:pPr lvl="0" fontAlgn="base"/>
            <a:r>
              <a:rPr lang="en-IN" sz="2400" b="1" dirty="0">
                <a:solidFill>
                  <a:schemeClr val="bg1"/>
                </a:solidFill>
                <a:latin typeface="Times New Roman" panose="02020603050405020304" pitchFamily="18" charset="0"/>
                <a:cs typeface="Times New Roman" panose="02020603050405020304" pitchFamily="18" charset="0"/>
              </a:rPr>
              <a:t>LIMITATION AND THREATS TO VALIDITY</a:t>
            </a:r>
          </a:p>
        </p:txBody>
      </p:sp>
      <p:sp>
        <p:nvSpPr>
          <p:cNvPr id="4" name="TextBox 3">
            <a:extLst>
              <a:ext uri="{FF2B5EF4-FFF2-40B4-BE49-F238E27FC236}">
                <a16:creationId xmlns:a16="http://schemas.microsoft.com/office/drawing/2014/main" id="{87BA33D9-6389-09BF-74CE-7F8D65011F95}"/>
              </a:ext>
            </a:extLst>
          </p:cNvPr>
          <p:cNvSpPr txBox="1"/>
          <p:nvPr/>
        </p:nvSpPr>
        <p:spPr>
          <a:xfrm>
            <a:off x="708314" y="1927046"/>
            <a:ext cx="11342424" cy="3416320"/>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Although the proposed VR-SP Detector provides a comprehensive analysis, the study has some limitations.</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analysis is mainly based on static techniques, which may not capture all runtime or dynamic vulnerabilities.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dataset includes only 900 VR apps from specific platforms, which may not fully represent all VR applications.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Some results may contain false positives or false negatives due to limitations in pattern matching and analysis tools.</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Additionally, the accuracy of privacy policy analysis depends on the quality and completeness of the policies provided by developers.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These factors may affect the overall validity of the findings</a:t>
            </a:r>
          </a:p>
        </p:txBody>
      </p:sp>
    </p:spTree>
    <p:extLst>
      <p:ext uri="{BB962C8B-B14F-4D97-AF65-F5344CB8AC3E}">
        <p14:creationId xmlns:p14="http://schemas.microsoft.com/office/powerpoint/2010/main" val="2174438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g39d7f8a4e17_0_8"/>
          <p:cNvSpPr txBox="1">
            <a:spLocks noGrp="1"/>
          </p:cNvSpPr>
          <p:nvPr>
            <p:ph type="title"/>
          </p:nvPr>
        </p:nvSpPr>
        <p:spPr>
          <a:xfrm>
            <a:off x="1538049" y="295393"/>
            <a:ext cx="10254600" cy="505500"/>
          </a:xfrm>
          <a:prstGeom prst="rect">
            <a:avLst/>
          </a:prstGeom>
          <a:noFill/>
          <a:ln>
            <a:noFill/>
          </a:ln>
        </p:spPr>
        <p:txBody>
          <a:bodyPr spcFirstLastPara="1" wrap="square" lIns="0" tIns="12700" rIns="0" bIns="0" anchor="t" anchorCtr="0">
            <a:spAutoFit/>
          </a:bodyPr>
          <a:lstStyle/>
          <a:p>
            <a:pPr marL="3695700" lvl="0" indent="0" algn="l">
              <a:lnSpc>
                <a:spcPct val="100000"/>
              </a:lnSpc>
              <a:spcBef>
                <a:spcPts val="0"/>
              </a:spcBef>
              <a:spcAft>
                <a:spcPts val="0"/>
              </a:spcAft>
              <a:buNone/>
            </a:pPr>
            <a:r>
              <a:rPr lang="en-US" b="1">
                <a:latin typeface="Cambria"/>
                <a:ea typeface="Cambria"/>
                <a:sym typeface="Cambria"/>
              </a:rPr>
              <a:t>Conclusion</a:t>
            </a:r>
            <a:endParaRPr lang="en-US"/>
          </a:p>
        </p:txBody>
      </p:sp>
      <p:sp>
        <p:nvSpPr>
          <p:cNvPr id="81" name="Google Shape;81;g39d7f8a4e17_0_8"/>
          <p:cNvSpPr txBox="1">
            <a:spLocks noGrp="1"/>
          </p:cNvSpPr>
          <p:nvPr>
            <p:ph type="dt" idx="10"/>
          </p:nvPr>
        </p:nvSpPr>
        <p:spPr>
          <a:xfrm>
            <a:off x="179701" y="6441100"/>
            <a:ext cx="1277400" cy="246300"/>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5A9944E1-1B33-43CA-8B18-445EA559B039}" type="datetime1">
              <a:rPr lang="en-US" smtClean="0"/>
              <a:t>4/19/2026</a:t>
            </a:fld>
            <a:endParaRPr/>
          </a:p>
        </p:txBody>
      </p:sp>
      <p:sp>
        <p:nvSpPr>
          <p:cNvPr id="82" name="Google Shape;82;g39d7f8a4e17_0_8"/>
          <p:cNvSpPr txBox="1">
            <a:spLocks noGrp="1"/>
          </p:cNvSpPr>
          <p:nvPr>
            <p:ph type="ftr" idx="11"/>
          </p:nvPr>
        </p:nvSpPr>
        <p:spPr>
          <a:xfrm>
            <a:off x="4074128" y="6441110"/>
            <a:ext cx="4680000" cy="246300"/>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83" name="Google Shape;83;g39d7f8a4e17_0_8"/>
          <p:cNvSpPr txBox="1">
            <a:spLocks noGrp="1"/>
          </p:cNvSpPr>
          <p:nvPr>
            <p:ph type="sldNum" idx="12"/>
          </p:nvPr>
        </p:nvSpPr>
        <p:spPr>
          <a:xfrm>
            <a:off x="11598232" y="6441110"/>
            <a:ext cx="452656" cy="256096"/>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8</a:t>
            </a:fld>
            <a:endParaRPr/>
          </a:p>
        </p:txBody>
      </p:sp>
      <p:sp>
        <p:nvSpPr>
          <p:cNvPr id="4" name="TextBox 3">
            <a:extLst>
              <a:ext uri="{FF2B5EF4-FFF2-40B4-BE49-F238E27FC236}">
                <a16:creationId xmlns:a16="http://schemas.microsoft.com/office/drawing/2014/main" id="{64E80E7E-5F15-1257-0C2C-71385F5BF8A1}"/>
              </a:ext>
            </a:extLst>
          </p:cNvPr>
          <p:cNvSpPr txBox="1"/>
          <p:nvPr/>
        </p:nvSpPr>
        <p:spPr>
          <a:xfrm>
            <a:off x="698894" y="1670831"/>
            <a:ext cx="10977996" cy="3693319"/>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conclusion, this research paper highlights the significant security and privacy challenges present in Meta Virtual Reality applications.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By proposing the VR-SP Detector, the study provides an effective approach to analyze VR apps using Software Engineering principles and AI-based techniques.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analysis of 900 applications reveals major issues such as data leaks, insecure permissions, and lack of proper privacy policies.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These findings emphasize the need for stronger security measures and better privacy practices in VR development.</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Overall, the paper demonstrates how combining Software Engineering and AI can improve the reliability, security, and quality of modern VR applications.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3"/>
          <p:cNvSpPr txBox="1">
            <a:spLocks noGrp="1"/>
          </p:cNvSpPr>
          <p:nvPr>
            <p:ph type="title"/>
          </p:nvPr>
        </p:nvSpPr>
        <p:spPr>
          <a:xfrm>
            <a:off x="665018" y="392289"/>
            <a:ext cx="10254600" cy="505500"/>
          </a:xfrm>
          <a:prstGeom prst="rect">
            <a:avLst/>
          </a:prstGeom>
          <a:noFill/>
          <a:ln>
            <a:noFill/>
          </a:ln>
        </p:spPr>
        <p:txBody>
          <a:bodyPr spcFirstLastPara="1" wrap="square" lIns="0" tIns="12700" rIns="0" bIns="0" anchor="t" anchorCtr="0">
            <a:spAutoFit/>
          </a:bodyPr>
          <a:lstStyle/>
          <a:p>
            <a:pPr marL="3695700"/>
            <a:r>
              <a:rPr lang="en-US" b="1">
                <a:latin typeface="Cambria"/>
                <a:ea typeface="Cambria"/>
                <a:sym typeface="Cambria"/>
              </a:rPr>
              <a:t>Future Scope</a:t>
            </a:r>
            <a:endParaRPr lang="en-US"/>
          </a:p>
        </p:txBody>
      </p:sp>
      <p:sp>
        <p:nvSpPr>
          <p:cNvPr id="72" name="Google Shape;72;p3"/>
          <p:cNvSpPr txBox="1">
            <a:spLocks noGrp="1"/>
          </p:cNvSpPr>
          <p:nvPr>
            <p:ph type="dt" idx="10"/>
          </p:nvPr>
        </p:nvSpPr>
        <p:spPr>
          <a:xfrm>
            <a:off x="179702" y="6441100"/>
            <a:ext cx="1362900" cy="246300"/>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05122E65-54CE-46A3-9807-49A804C08D24}" type="datetime1">
              <a:rPr lang="en-US" smtClean="0"/>
              <a:t>4/19/2026</a:t>
            </a:fld>
            <a:endParaRPr/>
          </a:p>
        </p:txBody>
      </p:sp>
      <p:sp>
        <p:nvSpPr>
          <p:cNvPr id="73" name="Google Shape;73;p3"/>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74" name="Google Shape;74;p3"/>
          <p:cNvSpPr txBox="1">
            <a:spLocks noGrp="1"/>
          </p:cNvSpPr>
          <p:nvPr>
            <p:ph type="sldNum" idx="12"/>
          </p:nvPr>
        </p:nvSpPr>
        <p:spPr>
          <a:xfrm>
            <a:off x="11233797" y="6441110"/>
            <a:ext cx="816941" cy="256096"/>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9</a:t>
            </a:fld>
            <a:endParaRPr/>
          </a:p>
        </p:txBody>
      </p:sp>
      <p:sp>
        <p:nvSpPr>
          <p:cNvPr id="75" name="Google Shape;75;p3"/>
          <p:cNvSpPr txBox="1">
            <a:spLocks noGrp="1"/>
          </p:cNvSpPr>
          <p:nvPr>
            <p:ph type="body" idx="1"/>
          </p:nvPr>
        </p:nvSpPr>
        <p:spPr>
          <a:xfrm>
            <a:off x="1226200" y="1614001"/>
            <a:ext cx="10375800" cy="859210"/>
          </a:xfrm>
          <a:prstGeom prst="rect">
            <a:avLst/>
          </a:prstGeom>
          <a:noFill/>
          <a:ln>
            <a:noFill/>
          </a:ln>
        </p:spPr>
        <p:txBody>
          <a:bodyPr spcFirstLastPara="1" wrap="square" lIns="0" tIns="241300" rIns="0" bIns="0" anchor="t" anchorCtr="0">
            <a:spAutoFit/>
          </a:bodyPr>
          <a:lstStyle/>
          <a:p>
            <a:pPr marL="101600" lvl="0" indent="0" algn="l" rtl="0">
              <a:spcBef>
                <a:spcPts val="0"/>
              </a:spcBef>
              <a:spcAft>
                <a:spcPts val="0"/>
              </a:spcAft>
              <a:buSzPts val="2000"/>
            </a:pPr>
            <a:endParaRPr sz="2000">
              <a:latin typeface="Cambria"/>
              <a:ea typeface="Cambria"/>
              <a:cs typeface="Cambria"/>
              <a:sym typeface="Cambria"/>
            </a:endParaRPr>
          </a:p>
          <a:p>
            <a:pPr marL="457200" lvl="0" indent="0" algn="l" rtl="0">
              <a:lnSpc>
                <a:spcPct val="100000"/>
              </a:lnSpc>
              <a:spcBef>
                <a:spcPts val="0"/>
              </a:spcBef>
              <a:spcAft>
                <a:spcPts val="0"/>
              </a:spcAft>
              <a:buNone/>
            </a:pPr>
            <a:endParaRPr sz="2000">
              <a:latin typeface="Cambria"/>
              <a:ea typeface="Cambria"/>
              <a:cs typeface="Cambria"/>
              <a:sym typeface="Cambria"/>
            </a:endParaRPr>
          </a:p>
        </p:txBody>
      </p:sp>
      <p:sp>
        <p:nvSpPr>
          <p:cNvPr id="4" name="TextBox 3">
            <a:extLst>
              <a:ext uri="{FF2B5EF4-FFF2-40B4-BE49-F238E27FC236}">
                <a16:creationId xmlns:a16="http://schemas.microsoft.com/office/drawing/2014/main" id="{17C2C18C-4448-2636-3D01-5ABB444BBAF5}"/>
              </a:ext>
            </a:extLst>
          </p:cNvPr>
          <p:cNvSpPr txBox="1"/>
          <p:nvPr/>
        </p:nvSpPr>
        <p:spPr>
          <a:xfrm>
            <a:off x="665018" y="1713145"/>
            <a:ext cx="11176170" cy="3970318"/>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 the future, the proposed approach can be extended to support more VR platforms and devices, making it applicable to a wider range of applications. </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can be improved by incorporating advanced AI and machine learning techniques to enhance detection accuracy.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Real-time monitoring and dynamic analysis can also be added to identify runtime vulnerabilities more effectively.</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Additionally, stronger mechanisms can be developed to ensure better privacy policy compliance and protection of sensitive biometric data. </a:t>
            </a: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Integrating the tool into development pipelines can further help developers build more secure and reliable VR applications.</a:t>
            </a:r>
          </a:p>
          <a:p>
            <a:pPr marL="342900" indent="-342900" algn="just">
              <a:buFont typeface="Wingdings"/>
              <a:buChar char="Ø"/>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4"/>
          <p:cNvSpPr txBox="1">
            <a:spLocks noGrp="1"/>
          </p:cNvSpPr>
          <p:nvPr>
            <p:ph type="title"/>
          </p:nvPr>
        </p:nvSpPr>
        <p:spPr>
          <a:xfrm>
            <a:off x="3983844" y="2868324"/>
            <a:ext cx="3281679" cy="635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b="1">
                <a:solidFill>
                  <a:srgbClr val="000000"/>
                </a:solidFill>
                <a:latin typeface="Palatino Linotype"/>
                <a:ea typeface="Palatino Linotype"/>
                <a:cs typeface="Palatino Linotype"/>
                <a:sym typeface="Palatino Linotype"/>
              </a:rPr>
              <a:t>THANK YOU</a:t>
            </a:r>
            <a:endParaRPr sz="4000">
              <a:latin typeface="Palatino Linotype"/>
              <a:ea typeface="Palatino Linotype"/>
              <a:cs typeface="Palatino Linotype"/>
              <a:sym typeface="Palatino Linotype"/>
            </a:endParaRPr>
          </a:p>
        </p:txBody>
      </p:sp>
      <p:sp>
        <p:nvSpPr>
          <p:cNvPr id="152" name="Google Shape;152;p4"/>
          <p:cNvSpPr txBox="1">
            <a:spLocks noGrp="1"/>
          </p:cNvSpPr>
          <p:nvPr>
            <p:ph type="dt" idx="10"/>
          </p:nvPr>
        </p:nvSpPr>
        <p:spPr>
          <a:xfrm>
            <a:off x="179689" y="6441110"/>
            <a:ext cx="1124585" cy="218008"/>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fld id="{7213E635-B8B0-42DC-86B7-B57CC736A990}" type="datetime1">
              <a:rPr lang="en-US" smtClean="0"/>
              <a:t>4/19/2026</a:t>
            </a:fld>
            <a:endParaRPr/>
          </a:p>
        </p:txBody>
      </p:sp>
      <p:sp>
        <p:nvSpPr>
          <p:cNvPr id="153" name="Google Shape;153;p4"/>
          <p:cNvSpPr txBox="1">
            <a:spLocks noGrp="1"/>
          </p:cNvSpPr>
          <p:nvPr>
            <p:ph type="ftr" idx="11"/>
          </p:nvPr>
        </p:nvSpPr>
        <p:spPr>
          <a:xfrm>
            <a:off x="4074128" y="6441110"/>
            <a:ext cx="4679950" cy="229234"/>
          </a:xfrm>
          <a:prstGeom prst="rect">
            <a:avLst/>
          </a:prstGeom>
          <a:noFill/>
          <a:ln>
            <a:noFill/>
          </a:ln>
        </p:spPr>
        <p:txBody>
          <a:bodyPr spcFirstLastPara="1" wrap="square" lIns="0" tIns="0" rIns="0" bIns="0" anchor="t" anchorCtr="0">
            <a:spAutoFit/>
          </a:bodyPr>
          <a:lstStyle/>
          <a:p>
            <a:pPr marL="12700" lvl="0" indent="0" algn="l" rtl="0">
              <a:lnSpc>
                <a:spcPct val="104000"/>
              </a:lnSpc>
              <a:spcBef>
                <a:spcPts val="0"/>
              </a:spcBef>
              <a:spcAft>
                <a:spcPts val="0"/>
              </a:spcAft>
              <a:buNone/>
            </a:pPr>
            <a:r>
              <a:rPr lang="en-US"/>
              <a:t>Department of Information Science &amp; Engineering</a:t>
            </a:r>
            <a:endParaRPr/>
          </a:p>
        </p:txBody>
      </p:sp>
      <p:sp>
        <p:nvSpPr>
          <p:cNvPr id="154" name="Google Shape;154;p4"/>
          <p:cNvSpPr txBox="1">
            <a:spLocks noGrp="1"/>
          </p:cNvSpPr>
          <p:nvPr>
            <p:ph type="sldNum" idx="12"/>
          </p:nvPr>
        </p:nvSpPr>
        <p:spPr>
          <a:xfrm>
            <a:off x="11608305" y="6452336"/>
            <a:ext cx="808012" cy="218008"/>
          </a:xfrm>
          <a:prstGeom prst="rect">
            <a:avLst/>
          </a:prstGeom>
          <a:noFill/>
          <a:ln>
            <a:noFill/>
          </a:ln>
        </p:spPr>
        <p:txBody>
          <a:bodyPr spcFirstLastPara="1" wrap="square" lIns="0" tIns="0" rIns="0" bIns="0" anchor="t" anchorCtr="0">
            <a:spAutoFit/>
          </a:bodyPr>
          <a:lstStyle/>
          <a:p>
            <a:pPr marL="38100" lvl="0" indent="0" algn="l" rtl="0">
              <a:lnSpc>
                <a:spcPct val="104000"/>
              </a:lnSpc>
              <a:spcBef>
                <a:spcPts val="0"/>
              </a:spcBef>
              <a:spcAft>
                <a:spcPts val="0"/>
              </a:spcAft>
              <a:buNone/>
            </a:pPr>
            <a:fld id="{00000000-1234-1234-1234-123412341234}" type="slidenum">
              <a:rPr lang="en-US"/>
              <a:t>10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1061</Words>
  <Application>Microsoft Office PowerPoint</Application>
  <PresentationFormat>Widescreen</PresentationFormat>
  <Paragraphs>137</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Wingdings</vt:lpstr>
      <vt:lpstr>Palatino Linotype</vt:lpstr>
      <vt:lpstr>Calibri</vt:lpstr>
      <vt:lpstr>Cambria</vt:lpstr>
      <vt:lpstr>Arial</vt:lpstr>
      <vt:lpstr>Times New Roman</vt:lpstr>
      <vt:lpstr>Roboto</vt:lpstr>
      <vt:lpstr>Office Theme</vt:lpstr>
      <vt:lpstr>DEPARTMENT OF INFORMATION SCIENCE &amp; ENGINEERING</vt:lpstr>
      <vt:lpstr> </vt:lpstr>
      <vt:lpstr> </vt:lpstr>
      <vt:lpstr> </vt:lpstr>
      <vt:lpstr> </vt:lpstr>
      <vt:lpstr> </vt:lpstr>
      <vt:lpstr> </vt:lpstr>
      <vt:lpstr>Conclusion</vt:lpstr>
      <vt:lpstr>Future Scope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INFORMATION SCIENCE &amp; ENGINEERING</dc:title>
  <dc:creator>Srujan</dc:creator>
  <cp:lastModifiedBy>BHOOMIKA NAYAK</cp:lastModifiedBy>
  <cp:revision>22</cp:revision>
  <dcterms:created xsi:type="dcterms:W3CDTF">2025-04-24T12:17:43Z</dcterms:created>
  <dcterms:modified xsi:type="dcterms:W3CDTF">2026-04-19T06:36:41Z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2025-04-24T00:00:00Z</vt:filetime>
  </property>
  <property fmtid="{D5CDD505-2E9C-101B-9397-08002B2CF9AE}" pid="3" name="Creator">
    <vt:lpwstr>Google</vt:lpwstr>
  </property>
  <property fmtid="{D5CDD505-2E9C-101B-9397-08002B2CF9AE}" pid="4" name="LastSaved">
    <vt:filetime>2025-04-24T00:00:00Z</vt:filetime>
  </property>
</Properties>
</file>