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97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37D05110-15E0-436A-A1E0-14ACC8514312}" type="datetimeFigureOut">
              <a:rPr lang="en-US" smtClean="0"/>
              <a:t>4/27/2026</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E3358E72-14A1-4264-A291-83FE5A8FB6CD}" type="slidenum">
              <a:rPr lang="en-US" smtClean="0"/>
              <a:t>‹#›</a:t>
            </a:fld>
            <a:endParaRPr lang="en-US"/>
          </a:p>
        </p:txBody>
      </p:sp>
    </p:spTree>
    <p:extLst>
      <p:ext uri="{BB962C8B-B14F-4D97-AF65-F5344CB8AC3E}">
        <p14:creationId xmlns:p14="http://schemas.microsoft.com/office/powerpoint/2010/main" val="4033012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358E72-14A1-4264-A291-83FE5A8FB6CD}" type="slidenum">
              <a:rPr lang="en-US" smtClean="0"/>
              <a:t>5</a:t>
            </a:fld>
            <a:endParaRPr lang="en-US"/>
          </a:p>
        </p:txBody>
      </p:sp>
    </p:spTree>
    <p:extLst>
      <p:ext uri="{BB962C8B-B14F-4D97-AF65-F5344CB8AC3E}">
        <p14:creationId xmlns:p14="http://schemas.microsoft.com/office/powerpoint/2010/main" val="3403749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2" name="bg object 16"/>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12191999" y="1094703"/>
                </a:moveTo>
                <a:lnTo>
                  <a:pt x="0" y="1094703"/>
                </a:lnTo>
                <a:lnTo>
                  <a:pt x="0" y="0"/>
                </a:lnTo>
                <a:lnTo>
                  <a:pt x="12191999" y="0"/>
                </a:lnTo>
                <a:lnTo>
                  <a:pt x="12191999" y="1094703"/>
                </a:lnTo>
                <a:close/>
              </a:path>
            </a:pathLst>
          </a:custGeom>
          <a:solidFill>
            <a:srgbClr val="2F5496"/>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3" name="bg object 17"/>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0" y="0"/>
                </a:moveTo>
                <a:lnTo>
                  <a:pt x="12191999" y="0"/>
                </a:lnTo>
                <a:lnTo>
                  <a:pt x="12191999" y="1094703"/>
                </a:lnTo>
                <a:lnTo>
                  <a:pt x="0" y="1094703"/>
                </a:lnTo>
                <a:lnTo>
                  <a:pt x="0" y="0"/>
                </a:lnTo>
                <a:close/>
              </a:path>
            </a:pathLst>
          </a:custGeom>
          <a:noFill/>
          <a:ln w="12699">
            <a:solidFill>
              <a:srgbClr val="1B3052"/>
            </a:solidFill>
            <a:round/>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4" name="bg object 18"/>
          <p:cNvPicPr/>
          <p:nvPr/>
        </p:nvPicPr>
        <p:blipFill>
          <a:blip r:embed="rId2"/>
          <a:stretch/>
        </p:blipFill>
        <p:spPr>
          <a:xfrm>
            <a:off x="0" y="0"/>
            <a:ext cx="1190880" cy="1107360"/>
          </a:xfrm>
          <a:prstGeom prst="rect">
            <a:avLst/>
          </a:prstGeom>
          <a:noFill/>
          <a:ln w="0">
            <a:noFill/>
          </a:ln>
        </p:spPr>
      </p:pic>
      <p:sp>
        <p:nvSpPr>
          <p:cNvPr id="5" name="PlaceHolder 1"/>
          <p:cNvSpPr>
            <a:spLocks noGrp="1"/>
          </p:cNvSpPr>
          <p:nvPr>
            <p:ph type="title"/>
          </p:nvPr>
        </p:nvSpPr>
        <p:spPr>
          <a:xfrm>
            <a:off x="5067000" y="360720"/>
            <a:ext cx="2130840" cy="1463760"/>
          </a:xfrm>
          <a:prstGeom prst="rect">
            <a:avLst/>
          </a:prstGeom>
          <a:noFill/>
          <a:ln w="0">
            <a:noFill/>
          </a:ln>
        </p:spPr>
        <p:txBody>
          <a:bodyPr lIns="0" tIns="0" rIns="0" bIns="0" anchor="t">
            <a:spAutoFit/>
          </a:bodyPr>
          <a:lstStyle>
            <a:lvl1pPr indent="0" algn="l">
              <a:buNone/>
              <a:defRPr lang="en-US" sz="3200" b="0" u="none" strike="noStrike">
                <a:solidFill>
                  <a:srgbClr val="000000"/>
                </a:solidFill>
                <a:effectLst/>
                <a:uFillTx/>
                <a:latin typeface="Calibri"/>
              </a:defRPr>
            </a:lvl1pPr>
          </a:lstStyle>
          <a:p>
            <a:pPr indent="0" algn="l">
              <a:buNone/>
            </a:pPr>
            <a:r>
              <a:rPr lang="en-US" sz="3200" b="0" u="none" strike="noStrike">
                <a:solidFill>
                  <a:srgbClr val="000000"/>
                </a:solidFill>
                <a:effectLst/>
                <a:uFillTx/>
                <a:latin typeface="Calibri"/>
              </a:rPr>
              <a:t>Click to edit the title text format</a:t>
            </a:r>
          </a:p>
        </p:txBody>
      </p:sp>
      <p:sp>
        <p:nvSpPr>
          <p:cNvPr id="6" name="PlaceHolder 2"/>
          <p:cNvSpPr>
            <a:spLocks noGrp="1"/>
          </p:cNvSpPr>
          <p:nvPr>
            <p:ph type="ftr" idx="1"/>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a:solidFill>
                  <a:srgbClr val="888888"/>
                </a:solidFill>
                <a:effectLst/>
                <a:uFillTx/>
                <a:latin typeface="Cambria"/>
              </a:defRPr>
            </a:lvl1pPr>
          </a:lstStyle>
          <a:p>
            <a:pPr marL="12600" indent="0" algn="l">
              <a:lnSpc>
                <a:spcPts val="1664"/>
              </a:lnSpc>
              <a:buNone/>
            </a:pPr>
            <a:r>
              <a:rPr lang="en-US" sz="1600" b="1" u="none" strike="noStrike">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7" name="PlaceHolder 3"/>
          <p:cNvSpPr>
            <a:spLocks noGrp="1"/>
          </p:cNvSpPr>
          <p:nvPr>
            <p:ph type="dt" idx="2"/>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r>
              <a:rPr lang="en-US" sz="1600" b="1" u="none" strike="noStrike" spc="-20">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8" name="PlaceHolder 4"/>
          <p:cNvSpPr>
            <a:spLocks noGrp="1"/>
          </p:cNvSpPr>
          <p:nvPr>
            <p:ph type="sldNum" idx="3"/>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C59277F8-694F-47C0-ADF5-DC0809EFB419}" type="slidenum">
              <a:rPr lang="en-US" sz="1600" b="1" u="none" strike="noStrike" spc="-51">
                <a:solidFill>
                  <a:srgbClr val="888888"/>
                </a:solidFill>
                <a:effectLst/>
                <a:uFillTx/>
                <a:latin typeface="Cambria"/>
              </a:rPr>
              <a:t>‹#›</a:t>
            </a:fld>
            <a:endParaRPr lang="en-US" sz="16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9" name="bg object 16"/>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12191999" y="1094703"/>
                </a:moveTo>
                <a:lnTo>
                  <a:pt x="0" y="1094703"/>
                </a:lnTo>
                <a:lnTo>
                  <a:pt x="0" y="0"/>
                </a:lnTo>
                <a:lnTo>
                  <a:pt x="12191999" y="0"/>
                </a:lnTo>
                <a:lnTo>
                  <a:pt x="12191999" y="1094703"/>
                </a:lnTo>
                <a:close/>
              </a:path>
            </a:pathLst>
          </a:custGeom>
          <a:solidFill>
            <a:srgbClr val="2F5496"/>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10" name="bg object 17"/>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0" y="0"/>
                </a:moveTo>
                <a:lnTo>
                  <a:pt x="12191999" y="0"/>
                </a:lnTo>
                <a:lnTo>
                  <a:pt x="12191999" y="1094703"/>
                </a:lnTo>
                <a:lnTo>
                  <a:pt x="0" y="1094703"/>
                </a:lnTo>
                <a:lnTo>
                  <a:pt x="0" y="0"/>
                </a:lnTo>
                <a:close/>
              </a:path>
            </a:pathLst>
          </a:custGeom>
          <a:noFill/>
          <a:ln w="12699">
            <a:solidFill>
              <a:srgbClr val="1B3052"/>
            </a:solidFill>
            <a:round/>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11" name="bg object 18"/>
          <p:cNvPicPr/>
          <p:nvPr/>
        </p:nvPicPr>
        <p:blipFill>
          <a:blip r:embed="rId2"/>
          <a:stretch/>
        </p:blipFill>
        <p:spPr>
          <a:xfrm>
            <a:off x="0" y="0"/>
            <a:ext cx="1190880" cy="1107360"/>
          </a:xfrm>
          <a:prstGeom prst="rect">
            <a:avLst/>
          </a:prstGeom>
          <a:noFill/>
          <a:ln w="0">
            <a:noFill/>
          </a:ln>
        </p:spPr>
      </p:pic>
      <p:sp>
        <p:nvSpPr>
          <p:cNvPr id="12" name="PlaceHolder 1"/>
          <p:cNvSpPr>
            <a:spLocks noGrp="1"/>
          </p:cNvSpPr>
          <p:nvPr>
            <p:ph type="title"/>
          </p:nvPr>
        </p:nvSpPr>
        <p:spPr>
          <a:xfrm>
            <a:off x="1349640" y="326520"/>
            <a:ext cx="10254240" cy="533520"/>
          </a:xfrm>
          <a:prstGeom prst="rect">
            <a:avLst/>
          </a:prstGeom>
          <a:noFill/>
          <a:ln w="0">
            <a:noFill/>
          </a:ln>
        </p:spPr>
        <p:txBody>
          <a:bodyPr lIns="0" tIns="0" rIns="0" bIns="0" anchor="t">
            <a:noAutofit/>
          </a:bodyPr>
          <a:lstStyle>
            <a:lvl1pPr indent="0" algn="l">
              <a:buNone/>
              <a:defRPr lang="en-US" sz="3200" b="0" u="none" strike="noStrike">
                <a:solidFill>
                  <a:srgbClr val="000000"/>
                </a:solidFill>
                <a:effectLst/>
                <a:uFillTx/>
                <a:latin typeface="Calibri"/>
              </a:defRPr>
            </a:lvl1pPr>
          </a:lstStyle>
          <a:p>
            <a:pPr indent="0" algn="l">
              <a:buNone/>
            </a:pPr>
            <a:r>
              <a:rPr lang="en-US" sz="3200" b="0" u="none" strike="noStrike">
                <a:solidFill>
                  <a:srgbClr val="000000"/>
                </a:solidFill>
                <a:effectLst/>
                <a:uFillTx/>
                <a:latin typeface="Calibri"/>
              </a:rPr>
              <a:t>Click to edit the title text format</a:t>
            </a:r>
          </a:p>
        </p:txBody>
      </p:sp>
      <p:sp>
        <p:nvSpPr>
          <p:cNvPr id="13" name="PlaceHolder 2"/>
          <p:cNvSpPr>
            <a:spLocks noGrp="1"/>
          </p:cNvSpPr>
          <p:nvPr>
            <p:ph type="body"/>
          </p:nvPr>
        </p:nvSpPr>
        <p:spPr>
          <a:xfrm>
            <a:off x="901800" y="1044360"/>
            <a:ext cx="5309640" cy="414000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30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30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30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30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30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30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30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30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Seventh Outline Level</a:t>
            </a:r>
          </a:p>
        </p:txBody>
      </p:sp>
      <p:sp>
        <p:nvSpPr>
          <p:cNvPr id="14" name="PlaceHolder 3"/>
          <p:cNvSpPr>
            <a:spLocks noGrp="1"/>
          </p:cNvSpPr>
          <p:nvPr>
            <p:ph type="ftr" idx="4"/>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a:solidFill>
                  <a:srgbClr val="888888"/>
                </a:solidFill>
                <a:effectLst/>
                <a:uFillTx/>
                <a:latin typeface="Cambria"/>
              </a:defRPr>
            </a:lvl1pPr>
          </a:lstStyle>
          <a:p>
            <a:pPr marL="12600" indent="0" algn="l">
              <a:lnSpc>
                <a:spcPts val="1664"/>
              </a:lnSpc>
              <a:buNone/>
            </a:pPr>
            <a:r>
              <a:rPr lang="en-US" sz="1600" b="1" u="none" strike="noStrike">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15" name="PlaceHolder 4"/>
          <p:cNvSpPr>
            <a:spLocks noGrp="1"/>
          </p:cNvSpPr>
          <p:nvPr>
            <p:ph type="dt" idx="5"/>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r>
              <a:rPr lang="en-US" sz="1600" b="1" u="none" strike="noStrike" spc="-20">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16" name="PlaceHolder 5"/>
          <p:cNvSpPr>
            <a:spLocks noGrp="1"/>
          </p:cNvSpPr>
          <p:nvPr>
            <p:ph type="sldNum" idx="6"/>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38AA226C-0181-4D0A-B3C8-0C56139C53F0}" type="slidenum">
              <a:rPr lang="en-US" sz="1600" b="1" u="none" strike="noStrike" spc="-51">
                <a:solidFill>
                  <a:srgbClr val="888888"/>
                </a:solidFill>
                <a:effectLst/>
                <a:uFillTx/>
                <a:latin typeface="Cambria"/>
              </a:rPr>
              <a:t>‹#›</a:t>
            </a:fld>
            <a:endParaRPr lang="en-US" sz="16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17" name="bg object 16"/>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12191999" y="1094703"/>
                </a:moveTo>
                <a:lnTo>
                  <a:pt x="0" y="1094703"/>
                </a:lnTo>
                <a:lnTo>
                  <a:pt x="0" y="0"/>
                </a:lnTo>
                <a:lnTo>
                  <a:pt x="12191999" y="0"/>
                </a:lnTo>
                <a:lnTo>
                  <a:pt x="12191999" y="1094703"/>
                </a:lnTo>
                <a:close/>
              </a:path>
            </a:pathLst>
          </a:custGeom>
          <a:solidFill>
            <a:srgbClr val="2F5496"/>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18" name="bg object 17"/>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0" y="0"/>
                </a:moveTo>
                <a:lnTo>
                  <a:pt x="12191999" y="0"/>
                </a:lnTo>
                <a:lnTo>
                  <a:pt x="12191999" y="1094703"/>
                </a:lnTo>
                <a:lnTo>
                  <a:pt x="0" y="1094703"/>
                </a:lnTo>
                <a:lnTo>
                  <a:pt x="0" y="0"/>
                </a:lnTo>
                <a:close/>
              </a:path>
            </a:pathLst>
          </a:custGeom>
          <a:noFill/>
          <a:ln w="12699">
            <a:solidFill>
              <a:srgbClr val="1B3052"/>
            </a:solidFill>
            <a:round/>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19" name="bg object 18"/>
          <p:cNvPicPr/>
          <p:nvPr/>
        </p:nvPicPr>
        <p:blipFill>
          <a:blip r:embed="rId2"/>
          <a:stretch/>
        </p:blipFill>
        <p:spPr>
          <a:xfrm>
            <a:off x="0" y="0"/>
            <a:ext cx="1190880" cy="1107360"/>
          </a:xfrm>
          <a:prstGeom prst="rect">
            <a:avLst/>
          </a:prstGeom>
          <a:noFill/>
          <a:ln w="0">
            <a:noFill/>
          </a:ln>
        </p:spPr>
      </p:pic>
      <p:sp>
        <p:nvSpPr>
          <p:cNvPr id="20" name="PlaceHolder 1"/>
          <p:cNvSpPr>
            <a:spLocks noGrp="1"/>
          </p:cNvSpPr>
          <p:nvPr>
            <p:ph type="title"/>
          </p:nvPr>
        </p:nvSpPr>
        <p:spPr>
          <a:xfrm>
            <a:off x="1349640" y="326520"/>
            <a:ext cx="10254240" cy="533520"/>
          </a:xfrm>
          <a:prstGeom prst="rect">
            <a:avLst/>
          </a:prstGeom>
          <a:noFill/>
          <a:ln w="0">
            <a:noFill/>
          </a:ln>
        </p:spPr>
        <p:txBody>
          <a:bodyPr lIns="0" tIns="0" rIns="0" bIns="0" anchor="t">
            <a:noAutofit/>
          </a:bodyPr>
          <a:lstStyle>
            <a:lvl1pPr indent="0" algn="l">
              <a:buNone/>
              <a:defRPr lang="en-US" sz="3200" b="0" u="none" strike="noStrike">
                <a:solidFill>
                  <a:srgbClr val="000000"/>
                </a:solidFill>
                <a:effectLst/>
                <a:uFillTx/>
                <a:latin typeface="Calibri"/>
              </a:defRPr>
            </a:lvl1pPr>
          </a:lstStyle>
          <a:p>
            <a:pPr indent="0" algn="l">
              <a:buNone/>
            </a:pPr>
            <a:r>
              <a:rPr lang="en-US" sz="3200" b="0" u="none" strike="noStrike">
                <a:solidFill>
                  <a:srgbClr val="000000"/>
                </a:solidFill>
                <a:effectLst/>
                <a:uFillTx/>
                <a:latin typeface="Calibri"/>
              </a:rPr>
              <a:t>Click to edit the title text format</a:t>
            </a:r>
          </a:p>
        </p:txBody>
      </p:sp>
      <p:sp>
        <p:nvSpPr>
          <p:cNvPr id="21" name="PlaceHolder 2"/>
          <p:cNvSpPr>
            <a:spLocks noGrp="1"/>
          </p:cNvSpPr>
          <p:nvPr>
            <p:ph type="body"/>
          </p:nvPr>
        </p:nvSpPr>
        <p:spPr>
          <a:xfrm>
            <a:off x="609480" y="1577520"/>
            <a:ext cx="5303160" cy="500436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US" sz="30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30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30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30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30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30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30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30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Seventh Outline Level</a:t>
            </a:r>
          </a:p>
        </p:txBody>
      </p:sp>
      <p:sp>
        <p:nvSpPr>
          <p:cNvPr id="22" name="PlaceHolder 3"/>
          <p:cNvSpPr>
            <a:spLocks noGrp="1"/>
          </p:cNvSpPr>
          <p:nvPr>
            <p:ph type="body"/>
          </p:nvPr>
        </p:nvSpPr>
        <p:spPr>
          <a:xfrm>
            <a:off x="6278760" y="1577520"/>
            <a:ext cx="5303160" cy="500436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US" sz="30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30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30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30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30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30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30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30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30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3000" b="0" u="none" strike="noStrike">
                <a:solidFill>
                  <a:srgbClr val="000000"/>
                </a:solidFill>
                <a:effectLst/>
                <a:uFillTx/>
                <a:latin typeface="Calibri"/>
              </a:rPr>
              <a:t>Seventh Outline Level</a:t>
            </a:r>
          </a:p>
        </p:txBody>
      </p:sp>
      <p:sp>
        <p:nvSpPr>
          <p:cNvPr id="23" name="PlaceHolder 4"/>
          <p:cNvSpPr>
            <a:spLocks noGrp="1"/>
          </p:cNvSpPr>
          <p:nvPr>
            <p:ph type="ftr" idx="7"/>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a:solidFill>
                  <a:srgbClr val="888888"/>
                </a:solidFill>
                <a:effectLst/>
                <a:uFillTx/>
                <a:latin typeface="Cambria"/>
              </a:defRPr>
            </a:lvl1pPr>
          </a:lstStyle>
          <a:p>
            <a:pPr marL="12600" indent="0" algn="l">
              <a:lnSpc>
                <a:spcPts val="1664"/>
              </a:lnSpc>
              <a:buNone/>
            </a:pPr>
            <a:r>
              <a:rPr lang="en-US" sz="1600" b="1" u="none" strike="noStrike">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24" name="PlaceHolder 5"/>
          <p:cNvSpPr>
            <a:spLocks noGrp="1"/>
          </p:cNvSpPr>
          <p:nvPr>
            <p:ph type="dt" idx="8"/>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r>
              <a:rPr lang="en-US" sz="1600" b="1" u="none" strike="noStrike" spc="-20">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25" name="PlaceHolder 6"/>
          <p:cNvSpPr>
            <a:spLocks noGrp="1"/>
          </p:cNvSpPr>
          <p:nvPr>
            <p:ph type="sldNum" idx="9"/>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054C7450-F67C-4031-A0EA-860DE3135744}" type="slidenum">
              <a:rPr lang="en-US" sz="1600" b="1" u="none" strike="noStrike" spc="-51">
                <a:solidFill>
                  <a:srgbClr val="888888"/>
                </a:solidFill>
                <a:effectLst/>
                <a:uFillTx/>
                <a:latin typeface="Cambria"/>
              </a:rPr>
              <a:t>‹#›</a:t>
            </a:fld>
            <a:endParaRPr lang="en-US" sz="16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26" name="bg object 16"/>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12191999" y="1094703"/>
                </a:moveTo>
                <a:lnTo>
                  <a:pt x="0" y="1094703"/>
                </a:lnTo>
                <a:lnTo>
                  <a:pt x="0" y="0"/>
                </a:lnTo>
                <a:lnTo>
                  <a:pt x="12191999" y="0"/>
                </a:lnTo>
                <a:lnTo>
                  <a:pt x="12191999" y="1094703"/>
                </a:lnTo>
                <a:close/>
              </a:path>
            </a:pathLst>
          </a:custGeom>
          <a:solidFill>
            <a:srgbClr val="2F5496"/>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27" name="bg object 17"/>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0" y="0"/>
                </a:moveTo>
                <a:lnTo>
                  <a:pt x="12191999" y="0"/>
                </a:lnTo>
                <a:lnTo>
                  <a:pt x="12191999" y="1094703"/>
                </a:lnTo>
                <a:lnTo>
                  <a:pt x="0" y="1094703"/>
                </a:lnTo>
                <a:lnTo>
                  <a:pt x="0" y="0"/>
                </a:lnTo>
                <a:close/>
              </a:path>
            </a:pathLst>
          </a:custGeom>
          <a:noFill/>
          <a:ln w="12699">
            <a:solidFill>
              <a:srgbClr val="1B3052"/>
            </a:solidFill>
            <a:round/>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28" name="bg object 18"/>
          <p:cNvPicPr/>
          <p:nvPr/>
        </p:nvPicPr>
        <p:blipFill>
          <a:blip r:embed="rId2"/>
          <a:stretch/>
        </p:blipFill>
        <p:spPr>
          <a:xfrm>
            <a:off x="0" y="0"/>
            <a:ext cx="1190880" cy="1107360"/>
          </a:xfrm>
          <a:prstGeom prst="rect">
            <a:avLst/>
          </a:prstGeom>
          <a:noFill/>
          <a:ln w="0">
            <a:noFill/>
          </a:ln>
        </p:spPr>
      </p:pic>
      <p:sp>
        <p:nvSpPr>
          <p:cNvPr id="29" name="PlaceHolder 1"/>
          <p:cNvSpPr>
            <a:spLocks noGrp="1"/>
          </p:cNvSpPr>
          <p:nvPr>
            <p:ph type="title"/>
          </p:nvPr>
        </p:nvSpPr>
        <p:spPr>
          <a:xfrm>
            <a:off x="1349640" y="326520"/>
            <a:ext cx="10254240" cy="533520"/>
          </a:xfrm>
          <a:prstGeom prst="rect">
            <a:avLst/>
          </a:prstGeom>
          <a:noFill/>
          <a:ln w="0">
            <a:noFill/>
          </a:ln>
        </p:spPr>
        <p:txBody>
          <a:bodyPr lIns="0" tIns="0" rIns="0" bIns="0" anchor="t">
            <a:noAutofit/>
          </a:bodyPr>
          <a:lstStyle>
            <a:lvl1pPr indent="0" algn="l">
              <a:buNone/>
              <a:defRPr lang="en-US" sz="3200" b="0" u="none" strike="noStrike">
                <a:solidFill>
                  <a:srgbClr val="000000"/>
                </a:solidFill>
                <a:effectLst/>
                <a:uFillTx/>
                <a:latin typeface="Calibri"/>
              </a:defRPr>
            </a:lvl1pPr>
          </a:lstStyle>
          <a:p>
            <a:pPr indent="0" algn="l">
              <a:buNone/>
            </a:pPr>
            <a:r>
              <a:rPr lang="en-US" sz="3200" b="0" u="none" strike="noStrike">
                <a:solidFill>
                  <a:srgbClr val="000000"/>
                </a:solidFill>
                <a:effectLst/>
                <a:uFillTx/>
                <a:latin typeface="Calibri"/>
              </a:rPr>
              <a:t>Click to edit the title text format</a:t>
            </a:r>
          </a:p>
        </p:txBody>
      </p:sp>
      <p:sp>
        <p:nvSpPr>
          <p:cNvPr id="30" name="PlaceHolder 2"/>
          <p:cNvSpPr>
            <a:spLocks noGrp="1"/>
          </p:cNvSpPr>
          <p:nvPr>
            <p:ph type="ftr" idx="10"/>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a:solidFill>
                  <a:srgbClr val="888888"/>
                </a:solidFill>
                <a:effectLst/>
                <a:uFillTx/>
                <a:latin typeface="Cambria"/>
              </a:defRPr>
            </a:lvl1pPr>
          </a:lstStyle>
          <a:p>
            <a:pPr marL="12600" indent="0" algn="l">
              <a:lnSpc>
                <a:spcPts val="1664"/>
              </a:lnSpc>
              <a:buNone/>
            </a:pPr>
            <a:r>
              <a:rPr lang="en-US" sz="1600" b="1" u="none" strike="noStrike">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31" name="PlaceHolder 3"/>
          <p:cNvSpPr>
            <a:spLocks noGrp="1"/>
          </p:cNvSpPr>
          <p:nvPr>
            <p:ph type="dt" idx="11"/>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r>
              <a:rPr lang="en-US" sz="1600" b="1" u="none" strike="noStrike" spc="-20">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32" name="PlaceHolder 4"/>
          <p:cNvSpPr>
            <a:spLocks noGrp="1"/>
          </p:cNvSpPr>
          <p:nvPr>
            <p:ph type="sldNum" idx="12"/>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DC4C071B-7C86-4FC5-AAEB-F12C1593C9A8}" type="slidenum">
              <a:rPr lang="en-US" sz="1600" b="1" u="none" strike="noStrike" spc="-51">
                <a:solidFill>
                  <a:srgbClr val="888888"/>
                </a:solidFill>
                <a:effectLst/>
                <a:uFillTx/>
                <a:latin typeface="Cambria"/>
              </a:rPr>
              <a:t>‹#›</a:t>
            </a:fld>
            <a:endParaRPr lang="en-US" sz="16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33" name="bg object 16"/>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12191999" y="1094703"/>
                </a:moveTo>
                <a:lnTo>
                  <a:pt x="0" y="1094703"/>
                </a:lnTo>
                <a:lnTo>
                  <a:pt x="0" y="0"/>
                </a:lnTo>
                <a:lnTo>
                  <a:pt x="12191999" y="0"/>
                </a:lnTo>
                <a:lnTo>
                  <a:pt x="12191999" y="1094703"/>
                </a:lnTo>
                <a:close/>
              </a:path>
            </a:pathLst>
          </a:custGeom>
          <a:solidFill>
            <a:srgbClr val="2F5496"/>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34" name="bg object 17"/>
          <p:cNvSpPr/>
          <p:nvPr/>
        </p:nvSpPr>
        <p:spPr>
          <a:xfrm>
            <a:off x="0" y="0"/>
            <a:ext cx="12191760" cy="1094400"/>
          </a:xfrm>
          <a:custGeom>
            <a:avLst/>
            <a:gdLst>
              <a:gd name="textAreaLeft" fmla="*/ 0 w 12191760"/>
              <a:gd name="textAreaRight" fmla="*/ 12192120 w 12191760"/>
              <a:gd name="textAreaTop" fmla="*/ 0 h 1094400"/>
              <a:gd name="textAreaBottom" fmla="*/ 1094760 h 1094400"/>
            </a:gdLst>
            <a:ahLst/>
            <a:cxnLst/>
            <a:rect l="textAreaLeft" t="textAreaTop" r="textAreaRight" b="textAreaBottom"/>
            <a:pathLst>
              <a:path w="12192000" h="1094740">
                <a:moveTo>
                  <a:pt x="0" y="0"/>
                </a:moveTo>
                <a:lnTo>
                  <a:pt x="12191999" y="0"/>
                </a:lnTo>
                <a:lnTo>
                  <a:pt x="12191999" y="1094703"/>
                </a:lnTo>
                <a:lnTo>
                  <a:pt x="0" y="1094703"/>
                </a:lnTo>
                <a:lnTo>
                  <a:pt x="0" y="0"/>
                </a:lnTo>
                <a:close/>
              </a:path>
            </a:pathLst>
          </a:custGeom>
          <a:noFill/>
          <a:ln w="12699">
            <a:solidFill>
              <a:srgbClr val="1B3052"/>
            </a:solidFill>
            <a:round/>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35" name="bg object 18"/>
          <p:cNvPicPr/>
          <p:nvPr/>
        </p:nvPicPr>
        <p:blipFill>
          <a:blip r:embed="rId2"/>
          <a:stretch/>
        </p:blipFill>
        <p:spPr>
          <a:xfrm>
            <a:off x="0" y="0"/>
            <a:ext cx="1190880" cy="1107360"/>
          </a:xfrm>
          <a:prstGeom prst="rect">
            <a:avLst/>
          </a:prstGeom>
          <a:noFill/>
          <a:ln w="0">
            <a:noFill/>
          </a:ln>
        </p:spPr>
      </p:pic>
      <p:sp>
        <p:nvSpPr>
          <p:cNvPr id="36" name="PlaceHolder 1"/>
          <p:cNvSpPr>
            <a:spLocks noGrp="1"/>
          </p:cNvSpPr>
          <p:nvPr>
            <p:ph type="ftr" idx="13"/>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a:solidFill>
                  <a:srgbClr val="888888"/>
                </a:solidFill>
                <a:effectLst/>
                <a:uFillTx/>
                <a:latin typeface="Cambria"/>
              </a:defRPr>
            </a:lvl1pPr>
          </a:lstStyle>
          <a:p>
            <a:pPr marL="12600" indent="0" algn="l">
              <a:lnSpc>
                <a:spcPts val="1664"/>
              </a:lnSpc>
              <a:buNone/>
            </a:pPr>
            <a:r>
              <a:rPr lang="en-US" sz="1600" b="1" u="none" strike="noStrike">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37" name="PlaceHolder 2"/>
          <p:cNvSpPr>
            <a:spLocks noGrp="1"/>
          </p:cNvSpPr>
          <p:nvPr>
            <p:ph type="dt" idx="14"/>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r>
              <a:rPr lang="en-US" sz="1600" b="1" u="none" strike="noStrike" spc="-20">
                <a:solidFill>
                  <a:srgbClr val="888888"/>
                </a:solidFill>
                <a:effectLst/>
                <a:uFillTx/>
                <a:latin typeface="Cambria"/>
              </a:rPr>
              <a:t> </a:t>
            </a:r>
            <a:endParaRPr lang="en-US" sz="1600" b="0" u="none" strike="noStrike">
              <a:solidFill>
                <a:srgbClr val="000000"/>
              </a:solidFill>
              <a:effectLst/>
              <a:uFillTx/>
              <a:latin typeface="Times New Roman"/>
            </a:endParaRPr>
          </a:p>
        </p:txBody>
      </p:sp>
      <p:sp>
        <p:nvSpPr>
          <p:cNvPr id="38" name="PlaceHolder 3"/>
          <p:cNvSpPr>
            <a:spLocks noGrp="1"/>
          </p:cNvSpPr>
          <p:nvPr>
            <p:ph type="sldNum" idx="15"/>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9B64D577-B819-470A-B674-54CBC3006ED4}" type="slidenum">
              <a:rPr lang="en-US" sz="1600" b="1" u="none" strike="noStrike" spc="-51">
                <a:solidFill>
                  <a:srgbClr val="888888"/>
                </a:solidFill>
                <a:effectLst/>
                <a:uFillTx/>
                <a:latin typeface="Cambria"/>
              </a:rPr>
              <a:t>‹#›</a:t>
            </a:fld>
            <a:endParaRPr lang="en-US" sz="16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adingmatrix.com/files/34-pu6skrn7.pdf" TargetMode="External"/><Relationship Id="rId2" Type="http://schemas.openxmlformats.org/officeDocument/2006/relationships/hyperlink" Target="https://www.researchgate.net/profile/Samuel-Gabriel-6/publication/AI-Driven-Administrative-Systems-and-the-Future-of-Citizen-Government-Interactions.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hal.science/hal-05140138/" TargetMode="External"/><Relationship Id="rId2" Type="http://schemas.openxmlformats.org/officeDocument/2006/relationships/hyperlink" Target="https://bush.tamu.edu/wp-content/uploads/2025/06/Davis_Final-Report_Inquiry-into-AI-as-related-to-Emerg-Mgmt_24-25.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1349640" y="326520"/>
            <a:ext cx="10254240" cy="582840"/>
          </a:xfrm>
          <a:prstGeom prst="rect">
            <a:avLst/>
          </a:prstGeom>
          <a:noFill/>
          <a:ln w="0">
            <a:noFill/>
          </a:ln>
        </p:spPr>
        <p:txBody>
          <a:bodyPr lIns="0" tIns="94680" rIns="0" bIns="0" anchor="t">
            <a:spAutoFit/>
          </a:bodyPr>
          <a:lstStyle/>
          <a:p>
            <a:pPr marL="12600" indent="0" algn="ctr">
              <a:lnSpc>
                <a:spcPct val="100000"/>
              </a:lnSpc>
              <a:spcBef>
                <a:spcPts val="99"/>
              </a:spcBef>
              <a:buNone/>
            </a:pPr>
            <a:r>
              <a:rPr lang="en-US" sz="2800" b="1" u="none" strike="noStrike" spc="-26">
                <a:solidFill>
                  <a:schemeClr val="lt1"/>
                </a:solidFill>
                <a:effectLst/>
                <a:uFillTx/>
                <a:latin typeface="Cambria"/>
                <a:ea typeface="Cambria"/>
              </a:rPr>
              <a:t>DEPARTMENT</a:t>
            </a:r>
            <a:r>
              <a:rPr lang="en-US" sz="2800" b="1" u="none" strike="noStrike" spc="-71">
                <a:solidFill>
                  <a:schemeClr val="lt1"/>
                </a:solidFill>
                <a:effectLst/>
                <a:uFillTx/>
                <a:latin typeface="Cambria"/>
                <a:ea typeface="Cambria"/>
              </a:rPr>
              <a:t> </a:t>
            </a:r>
            <a:r>
              <a:rPr lang="en-US" sz="2800" b="1" u="none" strike="noStrike">
                <a:solidFill>
                  <a:schemeClr val="lt1"/>
                </a:solidFill>
                <a:effectLst/>
                <a:uFillTx/>
                <a:latin typeface="Cambria"/>
                <a:ea typeface="Cambria"/>
              </a:rPr>
              <a:t>OF</a:t>
            </a:r>
            <a:r>
              <a:rPr lang="en-US" sz="2800" b="1" u="none" strike="noStrike" spc="-71">
                <a:solidFill>
                  <a:schemeClr val="lt1"/>
                </a:solidFill>
                <a:effectLst/>
                <a:uFillTx/>
                <a:latin typeface="Cambria"/>
                <a:ea typeface="Cambria"/>
              </a:rPr>
              <a:t> </a:t>
            </a:r>
            <a:r>
              <a:rPr lang="en-US" sz="2800" b="1" u="none" strike="noStrike" spc="-26">
                <a:solidFill>
                  <a:schemeClr val="lt1"/>
                </a:solidFill>
                <a:effectLst/>
                <a:uFillTx/>
                <a:latin typeface="Cambria"/>
                <a:ea typeface="Cambria"/>
              </a:rPr>
              <a:t>INFORMATION</a:t>
            </a:r>
            <a:r>
              <a:rPr lang="en-US" sz="2800" b="1" u="none" strike="noStrike" spc="-71">
                <a:solidFill>
                  <a:schemeClr val="lt1"/>
                </a:solidFill>
                <a:effectLst/>
                <a:uFillTx/>
                <a:latin typeface="Cambria"/>
                <a:ea typeface="Cambria"/>
              </a:rPr>
              <a:t> </a:t>
            </a:r>
            <a:r>
              <a:rPr lang="en-US" sz="2800" b="1" u="none" strike="noStrike">
                <a:solidFill>
                  <a:schemeClr val="lt1"/>
                </a:solidFill>
                <a:effectLst/>
                <a:uFillTx/>
                <a:latin typeface="Cambria"/>
                <a:ea typeface="Cambria"/>
              </a:rPr>
              <a:t>SCIENCE</a:t>
            </a:r>
            <a:r>
              <a:rPr lang="en-US" sz="2800" b="1" u="none" strike="noStrike" spc="-74">
                <a:solidFill>
                  <a:schemeClr val="lt1"/>
                </a:solidFill>
                <a:effectLst/>
                <a:uFillTx/>
                <a:latin typeface="Cambria"/>
                <a:ea typeface="Cambria"/>
              </a:rPr>
              <a:t> </a:t>
            </a:r>
            <a:r>
              <a:rPr lang="en-US" sz="2800" b="1" u="none" strike="noStrike">
                <a:solidFill>
                  <a:schemeClr val="lt1"/>
                </a:solidFill>
                <a:effectLst/>
                <a:uFillTx/>
                <a:latin typeface="Cambria"/>
                <a:ea typeface="Cambria"/>
              </a:rPr>
              <a:t>&amp;</a:t>
            </a:r>
            <a:r>
              <a:rPr lang="en-US" sz="2800" b="1" u="none" strike="noStrike" spc="-71">
                <a:solidFill>
                  <a:schemeClr val="lt1"/>
                </a:solidFill>
                <a:effectLst/>
                <a:uFillTx/>
                <a:latin typeface="Cambria"/>
                <a:ea typeface="Cambria"/>
              </a:rPr>
              <a:t> </a:t>
            </a:r>
            <a:r>
              <a:rPr lang="en-US" sz="2800" b="1" u="none" strike="noStrike" spc="-11">
                <a:solidFill>
                  <a:schemeClr val="lt1"/>
                </a:solidFill>
                <a:effectLst/>
                <a:uFillTx/>
                <a:latin typeface="Cambria"/>
                <a:ea typeface="Cambria"/>
              </a:rPr>
              <a:t>ENGINEERING</a:t>
            </a:r>
            <a:endParaRPr lang="en-US" sz="2800" b="0" u="none" strike="noStrike">
              <a:solidFill>
                <a:srgbClr val="000000"/>
              </a:solidFill>
              <a:effectLst/>
              <a:uFillTx/>
              <a:latin typeface="Calibri"/>
            </a:endParaRPr>
          </a:p>
        </p:txBody>
      </p:sp>
      <p:sp>
        <p:nvSpPr>
          <p:cNvPr id="40" name="object 3"/>
          <p:cNvSpPr/>
          <p:nvPr/>
        </p:nvSpPr>
        <p:spPr>
          <a:xfrm>
            <a:off x="380880" y="1955160"/>
            <a:ext cx="11429640" cy="142812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algn="ctr">
              <a:lnSpc>
                <a:spcPct val="100000"/>
              </a:lnSpc>
              <a:spcBef>
                <a:spcPts val="99"/>
              </a:spcBef>
            </a:pPr>
            <a:r>
              <a:rPr lang="en-US" sz="3600" b="1" u="none" strike="noStrike">
                <a:solidFill>
                  <a:srgbClr val="000000"/>
                </a:solidFill>
                <a:effectLst/>
                <a:uFillTx/>
                <a:latin typeface="Cambria"/>
                <a:ea typeface="Cambria"/>
              </a:rPr>
              <a:t>MINI</a:t>
            </a:r>
            <a:r>
              <a:rPr lang="en-US" sz="3600" b="1" u="none" strike="noStrike" spc="-139">
                <a:solidFill>
                  <a:srgbClr val="000000"/>
                </a:solidFill>
                <a:effectLst/>
                <a:uFillTx/>
                <a:latin typeface="Cambria"/>
                <a:ea typeface="Cambria"/>
              </a:rPr>
              <a:t> </a:t>
            </a:r>
            <a:r>
              <a:rPr lang="en-US" sz="3600" b="1" u="none" strike="noStrike">
                <a:solidFill>
                  <a:srgbClr val="000000"/>
                </a:solidFill>
                <a:effectLst/>
                <a:uFillTx/>
                <a:latin typeface="Cambria"/>
                <a:ea typeface="Cambria"/>
              </a:rPr>
              <a:t>PROJECT</a:t>
            </a:r>
            <a:r>
              <a:rPr lang="en-US" sz="3600" b="1" u="none" strike="noStrike" spc="-136">
                <a:solidFill>
                  <a:srgbClr val="000000"/>
                </a:solidFill>
                <a:effectLst/>
                <a:uFillTx/>
                <a:latin typeface="Cambria"/>
                <a:ea typeface="Cambria"/>
              </a:rPr>
              <a:t> II </a:t>
            </a:r>
            <a:r>
              <a:rPr lang="en-US" sz="3600" b="1" u="none" strike="noStrike" spc="-11">
                <a:solidFill>
                  <a:srgbClr val="000000"/>
                </a:solidFill>
                <a:effectLst/>
                <a:uFillTx/>
                <a:latin typeface="Cambria"/>
                <a:ea typeface="Cambria"/>
              </a:rPr>
              <a:t>(PROJ22IS66)</a:t>
            </a:r>
            <a:endParaRPr lang="en-US" sz="3600" b="0" u="none" strike="noStrike">
              <a:solidFill>
                <a:srgbClr val="000000"/>
              </a:solidFill>
              <a:effectLst/>
              <a:uFillTx/>
              <a:latin typeface="Arial"/>
            </a:endParaRPr>
          </a:p>
          <a:p>
            <a:pPr algn="ctr" defTabSz="914400">
              <a:lnSpc>
                <a:spcPct val="100000"/>
              </a:lnSpc>
            </a:pPr>
            <a:r>
              <a:rPr lang="en-US" sz="2800" b="0" u="none" strike="noStrike">
                <a:solidFill>
                  <a:srgbClr val="000000"/>
                </a:solidFill>
                <a:effectLst/>
                <a:uFillTx/>
                <a:latin typeface="Times New Roman"/>
                <a:ea typeface="Cambria"/>
              </a:rPr>
              <a:t>CivicFlow — AI Civic Issue Triage Assistant to enhance the system performance</a:t>
            </a:r>
            <a:endParaRPr lang="en-US" sz="2800" b="0" u="none" strike="noStrike">
              <a:solidFill>
                <a:srgbClr val="000000"/>
              </a:solidFill>
              <a:effectLst/>
              <a:uFillTx/>
              <a:latin typeface="Arial"/>
            </a:endParaRPr>
          </a:p>
        </p:txBody>
      </p:sp>
      <p:sp>
        <p:nvSpPr>
          <p:cNvPr id="41" name="object 4"/>
          <p:cNvSpPr/>
          <p:nvPr/>
        </p:nvSpPr>
        <p:spPr>
          <a:xfrm>
            <a:off x="228600" y="4321800"/>
            <a:ext cx="2323800" cy="3819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pPr>
            <a:r>
              <a:rPr lang="en-US" sz="2400" b="0" u="none" strike="noStrike" spc="-11">
                <a:solidFill>
                  <a:srgbClr val="000000"/>
                </a:solidFill>
                <a:effectLst/>
                <a:uFillTx/>
                <a:latin typeface="Cambria"/>
                <a:ea typeface="Cambria"/>
              </a:rPr>
              <a:t>Presented</a:t>
            </a:r>
            <a:r>
              <a:rPr lang="en-US" sz="2400" b="0" u="none" strike="noStrike" spc="-105">
                <a:solidFill>
                  <a:srgbClr val="000000"/>
                </a:solidFill>
                <a:effectLst/>
                <a:uFillTx/>
                <a:latin typeface="Calibri"/>
                <a:ea typeface="Cambria"/>
              </a:rPr>
              <a:t> </a:t>
            </a:r>
            <a:r>
              <a:rPr lang="en-US" sz="2400" b="0" u="none" strike="noStrike" spc="-26">
                <a:solidFill>
                  <a:srgbClr val="000000"/>
                </a:solidFill>
                <a:effectLst/>
                <a:uFillTx/>
                <a:latin typeface="Calibri"/>
                <a:ea typeface="Cambria"/>
              </a:rPr>
              <a:t>by:</a:t>
            </a:r>
            <a:endParaRPr lang="en-US" sz="2400" b="0" u="none" strike="noStrike">
              <a:solidFill>
                <a:srgbClr val="000000"/>
              </a:solidFill>
              <a:effectLst/>
              <a:uFillTx/>
              <a:latin typeface="Arial"/>
            </a:endParaRPr>
          </a:p>
        </p:txBody>
      </p:sp>
      <p:sp>
        <p:nvSpPr>
          <p:cNvPr id="42" name="object 6"/>
          <p:cNvSpPr/>
          <p:nvPr/>
        </p:nvSpPr>
        <p:spPr>
          <a:xfrm>
            <a:off x="8100720" y="4460400"/>
            <a:ext cx="3709800" cy="38196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a:lnSpc>
                <a:spcPct val="100000"/>
              </a:lnSpc>
              <a:spcBef>
                <a:spcPts val="99"/>
              </a:spcBef>
            </a:pPr>
            <a:r>
              <a:rPr lang="en-US" sz="2400" b="0" u="none" strike="noStrike">
                <a:solidFill>
                  <a:srgbClr val="000000"/>
                </a:solidFill>
                <a:effectLst/>
                <a:uFillTx/>
                <a:latin typeface="Cambria"/>
                <a:ea typeface="Cambria"/>
              </a:rPr>
              <a:t>Under</a:t>
            </a:r>
            <a:r>
              <a:rPr lang="en-US" sz="2400" b="0" u="none" strike="noStrike" spc="-91">
                <a:solidFill>
                  <a:srgbClr val="000000"/>
                </a:solidFill>
                <a:effectLst/>
                <a:uFillTx/>
                <a:latin typeface="Cambria"/>
                <a:ea typeface="Cambria"/>
              </a:rPr>
              <a:t> </a:t>
            </a:r>
            <a:r>
              <a:rPr lang="en-US" sz="2400" b="0" u="none" strike="noStrike">
                <a:solidFill>
                  <a:srgbClr val="000000"/>
                </a:solidFill>
                <a:effectLst/>
                <a:uFillTx/>
                <a:latin typeface="Cambria"/>
                <a:ea typeface="Cambria"/>
              </a:rPr>
              <a:t>the</a:t>
            </a:r>
            <a:r>
              <a:rPr lang="en-US" sz="2400" b="0" u="none" strike="noStrike" spc="-85">
                <a:solidFill>
                  <a:srgbClr val="000000"/>
                </a:solidFill>
                <a:effectLst/>
                <a:uFillTx/>
                <a:latin typeface="Cambria"/>
                <a:ea typeface="Cambria"/>
              </a:rPr>
              <a:t> </a:t>
            </a:r>
            <a:r>
              <a:rPr lang="en-US" sz="2400" b="0" u="none" strike="noStrike">
                <a:solidFill>
                  <a:srgbClr val="000000"/>
                </a:solidFill>
                <a:effectLst/>
                <a:uFillTx/>
                <a:latin typeface="Cambria"/>
                <a:ea typeface="Cambria"/>
              </a:rPr>
              <a:t>guidance</a:t>
            </a:r>
            <a:r>
              <a:rPr lang="en-US" sz="2400" b="0" u="none" strike="noStrike" spc="-91">
                <a:solidFill>
                  <a:srgbClr val="000000"/>
                </a:solidFill>
                <a:effectLst/>
                <a:uFillTx/>
                <a:latin typeface="Cambria"/>
                <a:ea typeface="Cambria"/>
              </a:rPr>
              <a:t> </a:t>
            </a:r>
            <a:r>
              <a:rPr lang="en-US" sz="2400" b="0" u="none" strike="noStrike" spc="-26">
                <a:solidFill>
                  <a:srgbClr val="000000"/>
                </a:solidFill>
                <a:effectLst/>
                <a:uFillTx/>
                <a:latin typeface="Cambria"/>
                <a:ea typeface="Cambria"/>
              </a:rPr>
              <a:t>of:</a:t>
            </a:r>
            <a:endParaRPr lang="en-US" sz="2400" b="0" u="none" strike="noStrike">
              <a:solidFill>
                <a:srgbClr val="000000"/>
              </a:solidFill>
              <a:effectLst/>
              <a:uFillTx/>
              <a:latin typeface="Arial"/>
            </a:endParaRPr>
          </a:p>
        </p:txBody>
      </p:sp>
      <p:sp>
        <p:nvSpPr>
          <p:cNvPr id="43" name="object 7"/>
          <p:cNvSpPr/>
          <p:nvPr/>
        </p:nvSpPr>
        <p:spPr>
          <a:xfrm>
            <a:off x="7010280" y="4842360"/>
            <a:ext cx="6171840" cy="112032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indent="895320" defTabSz="914400">
              <a:lnSpc>
                <a:spcPct val="100000"/>
              </a:lnSpc>
              <a:tabLst>
                <a:tab pos="0" algn="l"/>
              </a:tabLst>
            </a:pPr>
            <a:r>
              <a:rPr lang="en-US" sz="2400" b="0" u="none" strike="noStrike" spc="-11">
                <a:solidFill>
                  <a:srgbClr val="000000"/>
                </a:solidFill>
                <a:effectLst/>
                <a:uFillTx/>
                <a:latin typeface="Times New Roman"/>
              </a:rPr>
              <a:t>  </a:t>
            </a:r>
            <a:r>
              <a:rPr lang="en-US" sz="2400" b="0" u="none" strike="noStrike">
                <a:solidFill>
                  <a:srgbClr val="000000"/>
                </a:solidFill>
                <a:effectLst/>
                <a:uFillTx/>
                <a:latin typeface="Times New Roman"/>
                <a:ea typeface="Times New Roman"/>
              </a:rPr>
              <a:t>        Dr. Vaidehi M</a:t>
            </a:r>
            <a:endParaRPr lang="en-US" sz="2400" b="0" u="none" strike="noStrike">
              <a:solidFill>
                <a:srgbClr val="000000"/>
              </a:solidFill>
              <a:effectLst/>
              <a:uFillTx/>
              <a:latin typeface="Arial"/>
            </a:endParaRPr>
          </a:p>
          <a:p>
            <a:pPr marL="12600" indent="895320" defTabSz="914400">
              <a:lnSpc>
                <a:spcPct val="100000"/>
              </a:lnSpc>
              <a:tabLst>
                <a:tab pos="0" algn="l"/>
              </a:tabLst>
            </a:pPr>
            <a:r>
              <a:rPr lang="en-US" sz="2400" b="0" u="none" strike="noStrike">
                <a:solidFill>
                  <a:srgbClr val="000000"/>
                </a:solidFill>
                <a:effectLst/>
                <a:uFillTx/>
                <a:latin typeface="Times New Roman"/>
                <a:ea typeface="Times New Roman"/>
              </a:rPr>
              <a:t>               Professor</a:t>
            </a:r>
            <a:endParaRPr lang="en-US" sz="2400" b="0" u="none" strike="noStrike">
              <a:solidFill>
                <a:srgbClr val="000000"/>
              </a:solidFill>
              <a:effectLst/>
              <a:uFillTx/>
              <a:latin typeface="Arial"/>
            </a:endParaRPr>
          </a:p>
          <a:p>
            <a:pPr marL="12600" indent="895320" defTabSz="914400">
              <a:lnSpc>
                <a:spcPct val="100000"/>
              </a:lnSpc>
              <a:tabLst>
                <a:tab pos="0" algn="l"/>
              </a:tabLst>
            </a:pPr>
            <a:r>
              <a:rPr lang="en-US" sz="2400" b="0" u="none" strike="noStrike">
                <a:solidFill>
                  <a:srgbClr val="000000"/>
                </a:solidFill>
                <a:effectLst/>
                <a:uFillTx/>
                <a:latin typeface="Times New Roman"/>
                <a:ea typeface="Times New Roman"/>
              </a:rPr>
              <a:t>Dept.</a:t>
            </a:r>
            <a:r>
              <a:rPr lang="en-US" sz="2400" b="0" u="none" strike="noStrike" spc="-40">
                <a:solidFill>
                  <a:srgbClr val="000000"/>
                </a:solidFill>
                <a:effectLst/>
                <a:uFillTx/>
                <a:latin typeface="Times New Roman"/>
                <a:ea typeface="Times New Roman"/>
              </a:rPr>
              <a:t> </a:t>
            </a:r>
            <a:r>
              <a:rPr lang="en-US" sz="2400" b="0" u="none" strike="noStrike">
                <a:solidFill>
                  <a:srgbClr val="000000"/>
                </a:solidFill>
                <a:effectLst/>
                <a:uFillTx/>
                <a:latin typeface="Times New Roman"/>
                <a:ea typeface="Times New Roman"/>
              </a:rPr>
              <a:t>of</a:t>
            </a:r>
            <a:r>
              <a:rPr lang="en-US" sz="2400" b="0" u="none" strike="noStrike" spc="-34">
                <a:solidFill>
                  <a:srgbClr val="000000"/>
                </a:solidFill>
                <a:effectLst/>
                <a:uFillTx/>
                <a:latin typeface="Times New Roman"/>
                <a:ea typeface="Times New Roman"/>
              </a:rPr>
              <a:t> </a:t>
            </a:r>
            <a:r>
              <a:rPr lang="en-US" sz="2400" b="0" u="none" strike="noStrike">
                <a:solidFill>
                  <a:srgbClr val="000000"/>
                </a:solidFill>
                <a:effectLst/>
                <a:uFillTx/>
                <a:latin typeface="Times New Roman"/>
                <a:ea typeface="Times New Roman"/>
              </a:rPr>
              <a:t>ISE,</a:t>
            </a:r>
            <a:r>
              <a:rPr lang="en-US" sz="2400" b="0" u="none" strike="noStrike" spc="-40">
                <a:solidFill>
                  <a:srgbClr val="000000"/>
                </a:solidFill>
                <a:effectLst/>
                <a:uFillTx/>
                <a:latin typeface="Times New Roman"/>
                <a:ea typeface="Times New Roman"/>
              </a:rPr>
              <a:t> </a:t>
            </a:r>
            <a:r>
              <a:rPr lang="en-US" sz="2400" b="0" u="none" strike="noStrike">
                <a:solidFill>
                  <a:srgbClr val="000000"/>
                </a:solidFill>
                <a:effectLst/>
                <a:uFillTx/>
                <a:latin typeface="Times New Roman"/>
                <a:ea typeface="Times New Roman"/>
              </a:rPr>
              <a:t>DSCE, </a:t>
            </a:r>
            <a:r>
              <a:rPr lang="en-US" sz="2400" b="0" u="none" strike="noStrike" spc="-11">
                <a:solidFill>
                  <a:srgbClr val="000000"/>
                </a:solidFill>
                <a:effectLst/>
                <a:uFillTx/>
                <a:latin typeface="Times New Roman"/>
                <a:ea typeface="Times New Roman"/>
              </a:rPr>
              <a:t>Bangalore</a:t>
            </a:r>
            <a:endParaRPr lang="en-US" sz="2400" b="0" u="none" strike="noStrike">
              <a:solidFill>
                <a:srgbClr val="000000"/>
              </a:solidFill>
              <a:effectLst/>
              <a:uFillTx/>
              <a:latin typeface="Arial"/>
            </a:endParaRPr>
          </a:p>
        </p:txBody>
      </p:sp>
      <p:sp>
        <p:nvSpPr>
          <p:cNvPr id="44" name="TextBox 7"/>
          <p:cNvSpPr/>
          <p:nvPr/>
        </p:nvSpPr>
        <p:spPr>
          <a:xfrm>
            <a:off x="228600" y="4713120"/>
            <a:ext cx="4647960" cy="1199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tabLst>
                <a:tab pos="0" algn="l"/>
              </a:tabLst>
            </a:pPr>
            <a:r>
              <a:rPr lang="en-US" sz="1800" b="0" u="none" strike="noStrike">
                <a:solidFill>
                  <a:srgbClr val="000000"/>
                </a:solidFill>
                <a:effectLst/>
                <a:uFillTx/>
                <a:latin typeface="Cambria"/>
                <a:ea typeface="Cambria"/>
              </a:rPr>
              <a:t>Bhoomika              1DS23IS031</a:t>
            </a:r>
            <a:endParaRPr lang="en-US" sz="1800" b="0" u="none" strike="noStrike">
              <a:solidFill>
                <a:srgbClr val="000000"/>
              </a:solidFill>
              <a:effectLst/>
              <a:uFillTx/>
              <a:latin typeface="Arial"/>
            </a:endParaRPr>
          </a:p>
          <a:p>
            <a:pPr algn="just" defTabSz="914400">
              <a:lnSpc>
                <a:spcPct val="100000"/>
              </a:lnSpc>
              <a:tabLst>
                <a:tab pos="0" algn="l"/>
              </a:tabLst>
            </a:pPr>
            <a:r>
              <a:rPr lang="en-US" sz="1800" b="0" u="none" strike="noStrike">
                <a:solidFill>
                  <a:srgbClr val="000000"/>
                </a:solidFill>
                <a:effectLst/>
                <a:uFillTx/>
                <a:latin typeface="Cambria"/>
                <a:ea typeface="Cambria"/>
              </a:rPr>
              <a:t>Chandra Shekar   1DS23IS035</a:t>
            </a:r>
            <a:endParaRPr lang="en-US" sz="1800" b="0" u="none" strike="noStrike">
              <a:solidFill>
                <a:srgbClr val="000000"/>
              </a:solidFill>
              <a:effectLst/>
              <a:uFillTx/>
              <a:latin typeface="Arial"/>
            </a:endParaRPr>
          </a:p>
          <a:p>
            <a:pPr algn="just" defTabSz="914400">
              <a:lnSpc>
                <a:spcPct val="100000"/>
              </a:lnSpc>
              <a:tabLst>
                <a:tab pos="0" algn="l"/>
              </a:tabLst>
            </a:pPr>
            <a:r>
              <a:rPr lang="en-US" sz="1800" b="0" u="none" strike="noStrike">
                <a:solidFill>
                  <a:srgbClr val="000000"/>
                </a:solidFill>
                <a:effectLst/>
                <a:uFillTx/>
                <a:latin typeface="Cambria"/>
                <a:ea typeface="Cambria"/>
              </a:rPr>
              <a:t>Chetan S                 1DS23IS037</a:t>
            </a:r>
            <a:endParaRPr lang="en-US" sz="1800" b="0" u="none" strike="noStrike">
              <a:solidFill>
                <a:srgbClr val="000000"/>
              </a:solidFill>
              <a:effectLst/>
              <a:uFillTx/>
              <a:latin typeface="Arial"/>
            </a:endParaRPr>
          </a:p>
          <a:p>
            <a:pPr algn="just" defTabSz="914400">
              <a:lnSpc>
                <a:spcPct val="100000"/>
              </a:lnSpc>
              <a:tabLst>
                <a:tab pos="0" algn="l"/>
              </a:tabLst>
            </a:pPr>
            <a:r>
              <a:rPr lang="en-US" sz="1800" b="0" u="none" strike="noStrike">
                <a:solidFill>
                  <a:srgbClr val="000000"/>
                </a:solidFill>
                <a:effectLst/>
                <a:uFillTx/>
                <a:latin typeface="Cambria"/>
                <a:ea typeface="Cambria"/>
              </a:rPr>
              <a:t>Dikshith M             1DS23IS044</a:t>
            </a:r>
            <a:endParaRPr lang="en-US" sz="1800" b="0" u="none" strike="noStrike">
              <a:solidFill>
                <a:srgbClr val="000000"/>
              </a:solidFill>
              <a:effectLst/>
              <a:uFillTx/>
              <a:latin typeface="Arial"/>
            </a:endParaRPr>
          </a:p>
        </p:txBody>
      </p:sp>
      <p:sp>
        <p:nvSpPr>
          <p:cNvPr id="45" name="PlaceHolder 2"/>
          <p:cNvSpPr>
            <a:spLocks noGrp="1"/>
          </p:cNvSpPr>
          <p:nvPr>
            <p:ph type="dt" idx="16"/>
          </p:nvPr>
        </p:nvSpPr>
        <p:spPr>
          <a:xfrm>
            <a:off x="179640" y="6441120"/>
            <a:ext cx="112428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C170DDA4-252E-4A8D-B42C-9BB855834B36}"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46" name="PlaceHolder 3"/>
          <p:cNvSpPr>
            <a:spLocks noGrp="1"/>
          </p:cNvSpPr>
          <p:nvPr>
            <p:ph type="ftr" idx="17"/>
          </p:nvPr>
        </p:nvSpPr>
        <p:spPr>
          <a:xfrm>
            <a:off x="4074120" y="6441120"/>
            <a:ext cx="4679640" cy="228960"/>
          </a:xfrm>
          <a:prstGeom prst="rect">
            <a:avLst/>
          </a:prstGeom>
          <a:noFill/>
          <a:ln w="0">
            <a:noFill/>
          </a:ln>
        </p:spPr>
        <p:txBody>
          <a:bodyPr lIns="0" tIns="0" rIns="0" bIns="0" anchor="t">
            <a:no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47" name="PlaceHolder 4"/>
          <p:cNvSpPr>
            <a:spLocks noGrp="1"/>
          </p:cNvSpPr>
          <p:nvPr>
            <p:ph type="sldNum" idx="18"/>
          </p:nvPr>
        </p:nvSpPr>
        <p:spPr>
          <a:xfrm>
            <a:off x="11841120" y="6441120"/>
            <a:ext cx="209160" cy="228960"/>
          </a:xfrm>
          <a:prstGeom prst="rect">
            <a:avLst/>
          </a:prstGeom>
          <a:noFill/>
          <a:ln w="0">
            <a:noFill/>
          </a:ln>
        </p:spPr>
        <p:txBody>
          <a:bodyPr lIns="0" tIns="0" rIns="0" bIns="0" anchor="t">
            <a:no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AD5EFBA8-C50B-4772-999E-C803E903D23B}" type="slidenum">
              <a:rPr lang="en-US" sz="1600" b="1" u="none" strike="noStrike" spc="-51">
                <a:solidFill>
                  <a:srgbClr val="888888"/>
                </a:solidFill>
                <a:effectLst/>
                <a:uFillTx/>
                <a:latin typeface="Cambria"/>
              </a:rPr>
              <a:t>1</a:t>
            </a:fld>
            <a:endParaRPr lang="en-US" sz="16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3695760" indent="0" algn="l">
              <a:lnSpc>
                <a:spcPct val="100000"/>
              </a:lnSpc>
              <a:spcBef>
                <a:spcPts val="99"/>
              </a:spcBef>
              <a:buNone/>
            </a:pPr>
            <a:r>
              <a:rPr lang="en-US" sz="3200" b="1" u="none" strike="noStrike" spc="-11">
                <a:solidFill>
                  <a:schemeClr val="lt1"/>
                </a:solidFill>
                <a:effectLst/>
                <a:uFillTx/>
                <a:latin typeface="Cambria"/>
                <a:ea typeface="Cambria"/>
              </a:rPr>
              <a:t>CONTENTS</a:t>
            </a:r>
            <a:endParaRPr lang="en-US" sz="3200" b="0" u="none" strike="noStrike">
              <a:solidFill>
                <a:srgbClr val="000000"/>
              </a:solidFill>
              <a:effectLst/>
              <a:uFillTx/>
              <a:latin typeface="Calibri"/>
            </a:endParaRPr>
          </a:p>
        </p:txBody>
      </p:sp>
      <p:sp>
        <p:nvSpPr>
          <p:cNvPr id="49" name="PlaceHolder 2"/>
          <p:cNvSpPr>
            <a:spLocks noGrp="1"/>
          </p:cNvSpPr>
          <p:nvPr>
            <p:ph type="dt" idx="19"/>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DD61F7BE-23AD-4E70-AA27-F7C3C6AEE833}"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50" name="PlaceHolder 3"/>
          <p:cNvSpPr>
            <a:spLocks noGrp="1"/>
          </p:cNvSpPr>
          <p:nvPr>
            <p:ph type="ftr" idx="20"/>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51" name="PlaceHolder 4"/>
          <p:cNvSpPr>
            <a:spLocks noGrp="1"/>
          </p:cNvSpPr>
          <p:nvPr>
            <p:ph type="sldNum" idx="21"/>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0053908F-B4DF-49E1-8E27-115CEC02CBF5}" type="slidenum">
              <a:rPr lang="en-US" sz="1600" b="1" u="none" strike="noStrike" spc="-51">
                <a:solidFill>
                  <a:srgbClr val="888888"/>
                </a:solidFill>
                <a:effectLst/>
                <a:uFillTx/>
                <a:latin typeface="Cambria"/>
              </a:rPr>
              <a:t>2</a:t>
            </a:fld>
            <a:endParaRPr lang="en-US" sz="1600" b="0" u="none" strike="noStrike">
              <a:solidFill>
                <a:srgbClr val="000000"/>
              </a:solidFill>
              <a:effectLst/>
              <a:uFillTx/>
              <a:latin typeface="Times New Roman"/>
            </a:endParaRPr>
          </a:p>
        </p:txBody>
      </p:sp>
      <p:sp>
        <p:nvSpPr>
          <p:cNvPr id="52" name="PlaceHolder 5"/>
          <p:cNvSpPr>
            <a:spLocks noGrp="1"/>
          </p:cNvSpPr>
          <p:nvPr>
            <p:ph/>
          </p:nvPr>
        </p:nvSpPr>
        <p:spPr>
          <a:xfrm>
            <a:off x="304920" y="1964160"/>
            <a:ext cx="5790960" cy="3064841"/>
          </a:xfrm>
          <a:prstGeom prst="rect">
            <a:avLst/>
          </a:prstGeom>
          <a:noFill/>
          <a:ln w="0">
            <a:noFill/>
          </a:ln>
        </p:spPr>
        <p:txBody>
          <a:bodyPr lIns="0" tIns="241200" rIns="0" bIns="0" anchor="t">
            <a:spAutoFit/>
          </a:bodyPr>
          <a:lstStyle/>
          <a:p>
            <a:pPr marL="592560" indent="-579600" algn="l">
              <a:lnSpc>
                <a:spcPct val="100000"/>
              </a:lnSpc>
              <a:spcBef>
                <a:spcPts val="1899"/>
              </a:spcBef>
              <a:buClr>
                <a:srgbClr val="000000"/>
              </a:buClr>
              <a:buFont typeface="OpenSymbol"/>
              <a:buAutoNum type="arabicPeriod"/>
              <a:tabLst>
                <a:tab pos="592560" algn="l"/>
              </a:tabLst>
            </a:pPr>
            <a:r>
              <a:rPr lang="en-US" sz="2400" b="0" u="none" strike="noStrike" spc="-11" dirty="0">
                <a:solidFill>
                  <a:schemeClr val="dk1"/>
                </a:solidFill>
                <a:effectLst/>
                <a:uFillTx/>
                <a:latin typeface="Cambria"/>
                <a:ea typeface="Cambria"/>
              </a:rPr>
              <a:t>Abstract</a:t>
            </a:r>
            <a:endParaRPr lang="en-US" sz="2400" b="0" u="none" strike="noStrike" dirty="0">
              <a:solidFill>
                <a:srgbClr val="000000"/>
              </a:solidFill>
              <a:effectLst/>
              <a:uFillTx/>
              <a:latin typeface="Calibri"/>
            </a:endParaRPr>
          </a:p>
          <a:p>
            <a:pPr marL="592560" indent="-579600" algn="l">
              <a:lnSpc>
                <a:spcPct val="100000"/>
              </a:lnSpc>
              <a:spcBef>
                <a:spcPts val="1899"/>
              </a:spcBef>
              <a:buClr>
                <a:srgbClr val="000000"/>
              </a:buClr>
              <a:buFont typeface="OpenSymbol"/>
              <a:buAutoNum type="arabicPeriod"/>
              <a:tabLst>
                <a:tab pos="592560" algn="l"/>
              </a:tabLst>
            </a:pPr>
            <a:r>
              <a:rPr lang="en-US" sz="2400" b="0" u="none" strike="noStrike" spc="-11" dirty="0">
                <a:solidFill>
                  <a:schemeClr val="dk1"/>
                </a:solidFill>
                <a:effectLst/>
                <a:uFillTx/>
                <a:latin typeface="Cambria"/>
                <a:ea typeface="Cambria"/>
              </a:rPr>
              <a:t>Introduction</a:t>
            </a:r>
            <a:endParaRPr lang="en-US" sz="2400" b="0" u="none" strike="noStrike" dirty="0">
              <a:solidFill>
                <a:srgbClr val="000000"/>
              </a:solidFill>
              <a:effectLst/>
              <a:uFillTx/>
              <a:latin typeface="Calibri"/>
            </a:endParaRPr>
          </a:p>
          <a:p>
            <a:pPr marL="592560" indent="-579600" algn="l">
              <a:lnSpc>
                <a:spcPct val="100000"/>
              </a:lnSpc>
              <a:spcBef>
                <a:spcPts val="1899"/>
              </a:spcBef>
              <a:buClr>
                <a:srgbClr val="000000"/>
              </a:buClr>
              <a:buFont typeface="OpenSymbol"/>
              <a:buAutoNum type="arabicPeriod"/>
              <a:tabLst>
                <a:tab pos="592560" algn="l"/>
              </a:tabLst>
            </a:pPr>
            <a:r>
              <a:rPr lang="en-US" sz="2400" b="0" u="none" strike="noStrike" spc="-11" dirty="0">
                <a:solidFill>
                  <a:schemeClr val="dk1"/>
                </a:solidFill>
                <a:effectLst/>
                <a:uFillTx/>
                <a:latin typeface="Cambria"/>
                <a:ea typeface="Cambria"/>
              </a:rPr>
              <a:t>Literature</a:t>
            </a:r>
            <a:r>
              <a:rPr lang="en-US" sz="2400" b="0" u="none" strike="noStrike" spc="-119" dirty="0">
                <a:solidFill>
                  <a:schemeClr val="dk1"/>
                </a:solidFill>
                <a:effectLst/>
                <a:uFillTx/>
                <a:latin typeface="Cambria"/>
                <a:ea typeface="Cambria"/>
              </a:rPr>
              <a:t> </a:t>
            </a:r>
            <a:r>
              <a:rPr lang="en-US" sz="2400" b="0" u="none" strike="noStrike" spc="-11" dirty="0">
                <a:solidFill>
                  <a:schemeClr val="dk1"/>
                </a:solidFill>
                <a:effectLst/>
                <a:uFillTx/>
                <a:latin typeface="Cambria"/>
                <a:ea typeface="Cambria"/>
              </a:rPr>
              <a:t>survey</a:t>
            </a:r>
            <a:endParaRPr lang="en-US" sz="2400" b="0" u="none" strike="noStrike" dirty="0">
              <a:solidFill>
                <a:srgbClr val="000000"/>
              </a:solidFill>
              <a:effectLst/>
              <a:uFillTx/>
              <a:latin typeface="Calibri"/>
            </a:endParaRPr>
          </a:p>
          <a:p>
            <a:pPr marL="592560" indent="-579600" algn="l">
              <a:lnSpc>
                <a:spcPct val="100000"/>
              </a:lnSpc>
              <a:spcBef>
                <a:spcPts val="1899"/>
              </a:spcBef>
              <a:buClr>
                <a:srgbClr val="000000"/>
              </a:buClr>
              <a:buFont typeface="OpenSymbol"/>
              <a:buAutoNum type="arabicPeriod"/>
              <a:tabLst>
                <a:tab pos="592560" algn="l"/>
              </a:tabLst>
            </a:pPr>
            <a:r>
              <a:rPr lang="en-US" sz="2400" b="0" u="none" strike="noStrike" spc="-11" dirty="0">
                <a:solidFill>
                  <a:schemeClr val="dk1"/>
                </a:solidFill>
                <a:effectLst/>
                <a:uFillTx/>
                <a:latin typeface="Cambria"/>
                <a:ea typeface="Cambria"/>
              </a:rPr>
              <a:t>Problem</a:t>
            </a:r>
            <a:r>
              <a:rPr lang="en-US" sz="2400" b="0" u="none" strike="noStrike" spc="-113" dirty="0">
                <a:solidFill>
                  <a:schemeClr val="dk1"/>
                </a:solidFill>
                <a:effectLst/>
                <a:uFillTx/>
                <a:latin typeface="Cambria"/>
                <a:ea typeface="Cambria"/>
              </a:rPr>
              <a:t> </a:t>
            </a:r>
            <a:r>
              <a:rPr lang="en-US" sz="2400" b="0" u="none" strike="noStrike" spc="-11" dirty="0">
                <a:solidFill>
                  <a:schemeClr val="dk1"/>
                </a:solidFill>
                <a:effectLst/>
                <a:uFillTx/>
                <a:latin typeface="Cambria"/>
                <a:ea typeface="Cambria"/>
              </a:rPr>
              <a:t>analysis and design</a:t>
            </a:r>
            <a:endParaRPr lang="en-US" sz="2400" b="0" u="none" strike="noStrike" dirty="0">
              <a:solidFill>
                <a:srgbClr val="000000"/>
              </a:solidFill>
              <a:effectLst/>
              <a:uFillTx/>
              <a:latin typeface="Calibri"/>
            </a:endParaRPr>
          </a:p>
          <a:p>
            <a:pPr marL="12960" algn="l">
              <a:lnSpc>
                <a:spcPct val="100000"/>
              </a:lnSpc>
              <a:spcBef>
                <a:spcPts val="1899"/>
              </a:spcBef>
              <a:buClr>
                <a:srgbClr val="000000"/>
              </a:buClr>
              <a:tabLst>
                <a:tab pos="592560" algn="l"/>
              </a:tabLst>
            </a:pPr>
            <a:r>
              <a:rPr lang="en-US" sz="2400" b="0" u="none" strike="noStrike" spc="-11" dirty="0">
                <a:solidFill>
                  <a:schemeClr val="dk1"/>
                </a:solidFill>
                <a:effectLst/>
                <a:uFillTx/>
                <a:latin typeface="Cambria"/>
                <a:ea typeface="Cambria"/>
              </a:rPr>
              <a:t>5.      System</a:t>
            </a:r>
            <a:r>
              <a:rPr lang="en-US" sz="2400" b="0" u="none" strike="noStrike" spc="-60" dirty="0">
                <a:solidFill>
                  <a:schemeClr val="dk1"/>
                </a:solidFill>
                <a:effectLst/>
                <a:uFillTx/>
                <a:latin typeface="Cambria"/>
                <a:ea typeface="Cambria"/>
              </a:rPr>
              <a:t> </a:t>
            </a:r>
            <a:r>
              <a:rPr lang="en-US" sz="2400" b="0" u="none" strike="noStrike" dirty="0">
                <a:solidFill>
                  <a:schemeClr val="dk1"/>
                </a:solidFill>
                <a:effectLst/>
                <a:uFillTx/>
                <a:latin typeface="Cambria"/>
                <a:ea typeface="Cambria"/>
              </a:rPr>
              <a:t>design</a:t>
            </a:r>
            <a:r>
              <a:rPr lang="en-US" sz="2400" b="0" u="none" strike="noStrike" spc="-54" dirty="0">
                <a:solidFill>
                  <a:schemeClr val="dk1"/>
                </a:solidFill>
                <a:effectLst/>
                <a:uFillTx/>
                <a:latin typeface="Cambria"/>
                <a:ea typeface="Cambria"/>
              </a:rPr>
              <a:t> </a:t>
            </a:r>
            <a:r>
              <a:rPr lang="en-US" sz="2400" b="0" u="none" strike="noStrike" dirty="0">
                <a:solidFill>
                  <a:schemeClr val="dk1"/>
                </a:solidFill>
                <a:effectLst/>
                <a:uFillTx/>
                <a:latin typeface="Cambria"/>
                <a:ea typeface="Cambria"/>
              </a:rPr>
              <a:t>&amp;</a:t>
            </a:r>
            <a:r>
              <a:rPr lang="en-US" sz="2400" b="0" u="none" strike="noStrike" spc="-60" dirty="0">
                <a:solidFill>
                  <a:schemeClr val="dk1"/>
                </a:solidFill>
                <a:effectLst/>
                <a:uFillTx/>
                <a:latin typeface="Cambria"/>
                <a:ea typeface="Cambria"/>
              </a:rPr>
              <a:t> </a:t>
            </a:r>
            <a:r>
              <a:rPr lang="en-US" sz="2400" b="0" u="none" strike="noStrike" spc="-11" dirty="0">
                <a:solidFill>
                  <a:schemeClr val="dk1"/>
                </a:solidFill>
                <a:effectLst/>
                <a:uFillTx/>
                <a:latin typeface="Cambria"/>
                <a:ea typeface="Cambria"/>
              </a:rPr>
              <a:t>Methodology</a:t>
            </a:r>
            <a:endParaRPr lang="en-US" sz="2400" b="0" u="none" strike="noStrike" dirty="0">
              <a:solidFill>
                <a:srgbClr val="000000"/>
              </a:solidFill>
              <a:effectLst/>
              <a:uFillTx/>
              <a:latin typeface="Calibri"/>
            </a:endParaRPr>
          </a:p>
        </p:txBody>
      </p:sp>
      <p:sp>
        <p:nvSpPr>
          <p:cNvPr id="53" name="object 3"/>
          <p:cNvSpPr/>
          <p:nvPr/>
        </p:nvSpPr>
        <p:spPr>
          <a:xfrm>
            <a:off x="6781680" y="2116800"/>
            <a:ext cx="5105160" cy="3064841"/>
          </a:xfrm>
          <a:prstGeom prst="rect">
            <a:avLst/>
          </a:prstGeom>
          <a:noFill/>
          <a:ln w="0">
            <a:noFill/>
          </a:ln>
        </p:spPr>
        <p:style>
          <a:lnRef idx="0">
            <a:scrgbClr r="0" g="0" b="0"/>
          </a:lnRef>
          <a:fillRef idx="0">
            <a:scrgbClr r="0" g="0" b="0"/>
          </a:fillRef>
          <a:effectRef idx="0">
            <a:scrgbClr r="0" g="0" b="0"/>
          </a:effectRef>
          <a:fontRef idx="minor"/>
        </p:style>
        <p:txBody>
          <a:bodyPr lIns="0" tIns="241200" rIns="0" bIns="0" anchor="t">
            <a:spAutoFit/>
          </a:bodyPr>
          <a:lstStyle/>
          <a:p>
            <a:pPr marL="592560" indent="-579600">
              <a:lnSpc>
                <a:spcPct val="100000"/>
              </a:lnSpc>
              <a:spcBef>
                <a:spcPts val="1899"/>
              </a:spcBef>
              <a:buClr>
                <a:srgbClr val="000000"/>
              </a:buClr>
              <a:buFont typeface="Calibri"/>
              <a:buAutoNum type="arabicPeriod" startAt="6"/>
              <a:tabLst>
                <a:tab pos="592560" algn="l"/>
              </a:tabLst>
            </a:pPr>
            <a:r>
              <a:rPr lang="en-US" sz="2400" b="0" u="none" strike="noStrike" dirty="0">
                <a:solidFill>
                  <a:schemeClr val="dk1"/>
                </a:solidFill>
                <a:effectLst/>
                <a:uFillTx/>
                <a:latin typeface="Cambria"/>
                <a:ea typeface="Cambria"/>
              </a:rPr>
              <a:t>Implementation</a:t>
            </a:r>
            <a:endParaRPr lang="en-US" sz="2400" b="0" u="none" strike="noStrike" dirty="0">
              <a:solidFill>
                <a:srgbClr val="000000"/>
              </a:solidFill>
              <a:effectLst/>
              <a:uFillTx/>
              <a:latin typeface="Arial"/>
            </a:endParaRPr>
          </a:p>
          <a:p>
            <a:pPr marL="592560" indent="-579600">
              <a:lnSpc>
                <a:spcPct val="100000"/>
              </a:lnSpc>
              <a:spcBef>
                <a:spcPts val="1899"/>
              </a:spcBef>
              <a:buClr>
                <a:srgbClr val="000000"/>
              </a:buClr>
              <a:buFont typeface="Calibri"/>
              <a:buAutoNum type="arabicPeriod" startAt="6"/>
              <a:tabLst>
                <a:tab pos="592560" algn="l"/>
              </a:tabLst>
            </a:pPr>
            <a:r>
              <a:rPr lang="en-US" sz="2400" b="0" u="none" strike="noStrike" spc="-11" dirty="0">
                <a:solidFill>
                  <a:schemeClr val="dk1"/>
                </a:solidFill>
                <a:effectLst/>
                <a:uFillTx/>
                <a:latin typeface="Cambria"/>
                <a:ea typeface="Cambria"/>
              </a:rPr>
              <a:t>Testing and validation</a:t>
            </a:r>
            <a:endParaRPr lang="en-US" sz="2400" b="0" u="none" strike="noStrike" dirty="0">
              <a:solidFill>
                <a:srgbClr val="000000"/>
              </a:solidFill>
              <a:effectLst/>
              <a:uFillTx/>
              <a:latin typeface="Arial"/>
            </a:endParaRPr>
          </a:p>
          <a:p>
            <a:pPr marL="592560" indent="-579600">
              <a:lnSpc>
                <a:spcPct val="100000"/>
              </a:lnSpc>
              <a:spcBef>
                <a:spcPts val="1899"/>
              </a:spcBef>
              <a:buClr>
                <a:srgbClr val="000000"/>
              </a:buClr>
              <a:buFont typeface="Calibri"/>
              <a:buAutoNum type="arabicPeriod" startAt="6"/>
              <a:tabLst>
                <a:tab pos="592560" algn="l"/>
              </a:tabLst>
            </a:pPr>
            <a:r>
              <a:rPr lang="en-US" sz="2400" b="0" u="none" strike="noStrike" spc="-11" dirty="0">
                <a:solidFill>
                  <a:schemeClr val="dk1"/>
                </a:solidFill>
                <a:effectLst/>
                <a:uFillTx/>
                <a:latin typeface="Cambria"/>
                <a:ea typeface="Cambria"/>
              </a:rPr>
              <a:t>Results and discussion</a:t>
            </a:r>
            <a:endParaRPr lang="en-US" sz="2400" b="0" u="none" strike="noStrike" dirty="0">
              <a:solidFill>
                <a:srgbClr val="000000"/>
              </a:solidFill>
              <a:effectLst/>
              <a:uFillTx/>
              <a:latin typeface="Arial"/>
            </a:endParaRPr>
          </a:p>
          <a:p>
            <a:pPr marL="592560" indent="-579600">
              <a:lnSpc>
                <a:spcPct val="100000"/>
              </a:lnSpc>
              <a:spcBef>
                <a:spcPts val="1899"/>
              </a:spcBef>
              <a:buClr>
                <a:srgbClr val="000000"/>
              </a:buClr>
              <a:buFont typeface="Calibri"/>
              <a:buAutoNum type="arabicPeriod" startAt="6"/>
              <a:tabLst>
                <a:tab pos="592560" algn="l"/>
              </a:tabLst>
            </a:pPr>
            <a:r>
              <a:rPr lang="en-US" sz="2400" b="0" u="none" strike="noStrike" spc="-11" dirty="0">
                <a:solidFill>
                  <a:schemeClr val="dk1"/>
                </a:solidFill>
                <a:effectLst/>
                <a:uFillTx/>
                <a:latin typeface="Cambria"/>
                <a:ea typeface="Cambria"/>
              </a:rPr>
              <a:t>Conclusion &amp; Future work</a:t>
            </a:r>
            <a:endParaRPr lang="en-US" sz="2400" b="0" u="none" strike="noStrike" dirty="0">
              <a:solidFill>
                <a:srgbClr val="000000"/>
              </a:solidFill>
              <a:effectLst/>
              <a:uFillTx/>
              <a:latin typeface="Arial"/>
            </a:endParaRPr>
          </a:p>
          <a:p>
            <a:pPr marL="592560" indent="-579600">
              <a:lnSpc>
                <a:spcPct val="100000"/>
              </a:lnSpc>
              <a:spcBef>
                <a:spcPts val="1899"/>
              </a:spcBef>
              <a:buClr>
                <a:srgbClr val="000000"/>
              </a:buClr>
              <a:buFont typeface="Calibri"/>
              <a:buAutoNum type="arabicPeriod" startAt="6"/>
              <a:tabLst>
                <a:tab pos="592560" algn="l"/>
              </a:tabLst>
            </a:pPr>
            <a:r>
              <a:rPr lang="en-US" sz="2400" b="0" u="none" strike="noStrike" spc="-11" dirty="0">
                <a:solidFill>
                  <a:schemeClr val="dk1"/>
                </a:solidFill>
                <a:effectLst/>
                <a:uFillTx/>
                <a:latin typeface="Cambria"/>
                <a:ea typeface="Cambria"/>
              </a:rPr>
              <a:t>References</a:t>
            </a:r>
            <a:endParaRPr lang="en-US" sz="24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Abstract</a:t>
            </a:r>
            <a:endParaRPr lang="en-US" sz="3200" b="0" u="none" strike="noStrike">
              <a:solidFill>
                <a:srgbClr val="000000"/>
              </a:solidFill>
              <a:effectLst/>
              <a:uFillTx/>
              <a:latin typeface="Calibri"/>
            </a:endParaRPr>
          </a:p>
        </p:txBody>
      </p:sp>
      <p:sp>
        <p:nvSpPr>
          <p:cNvPr id="55" name="PlaceHolder 2"/>
          <p:cNvSpPr>
            <a:spLocks noGrp="1"/>
          </p:cNvSpPr>
          <p:nvPr>
            <p:ph type="dt" idx="22"/>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E136C8E7-9718-47BB-9E96-646C1675DBBB}"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56" name="PlaceHolder 3"/>
          <p:cNvSpPr>
            <a:spLocks noGrp="1"/>
          </p:cNvSpPr>
          <p:nvPr>
            <p:ph type="ftr" idx="23"/>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57" name="PlaceHolder 4"/>
          <p:cNvSpPr>
            <a:spLocks noGrp="1"/>
          </p:cNvSpPr>
          <p:nvPr>
            <p:ph type="sldNum" idx="24"/>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D64AE119-67A5-4753-BF02-566C01BCCD24}" type="slidenum">
              <a:rPr lang="en-US" sz="1600" b="1" u="none" strike="noStrike" spc="-51">
                <a:solidFill>
                  <a:srgbClr val="888888"/>
                </a:solidFill>
                <a:effectLst/>
                <a:uFillTx/>
                <a:latin typeface="Cambria"/>
              </a:rPr>
              <a:t>3</a:t>
            </a:fld>
            <a:endParaRPr lang="en-US" sz="1600" b="0" u="none" strike="noStrike">
              <a:solidFill>
                <a:srgbClr val="000000"/>
              </a:solidFill>
              <a:effectLst/>
              <a:uFillTx/>
              <a:latin typeface="Times New Roman"/>
            </a:endParaRPr>
          </a:p>
        </p:txBody>
      </p:sp>
      <p:sp>
        <p:nvSpPr>
          <p:cNvPr id="58" name="PlaceHolder 5"/>
          <p:cNvSpPr>
            <a:spLocks noGrp="1"/>
          </p:cNvSpPr>
          <p:nvPr>
            <p:ph/>
          </p:nvPr>
        </p:nvSpPr>
        <p:spPr>
          <a:xfrm>
            <a:off x="907920" y="1370160"/>
            <a:ext cx="10375560" cy="4398120"/>
          </a:xfrm>
          <a:prstGeom prst="rect">
            <a:avLst/>
          </a:prstGeom>
          <a:noFill/>
          <a:ln w="0">
            <a:noFill/>
          </a:ln>
        </p:spPr>
        <p:txBody>
          <a:bodyPr lIns="0" tIns="241200" rIns="0" bIns="0" anchor="t">
            <a:spAutoFit/>
          </a:bodyPr>
          <a:lstStyle/>
          <a:p>
            <a:pPr indent="0" algn="just" defTabSz="914400">
              <a:lnSpc>
                <a:spcPct val="150000"/>
              </a:lnSpc>
              <a:buNone/>
            </a:pPr>
            <a:r>
              <a:rPr lang="en-US" sz="2000" b="0" u="none" strike="noStrike">
                <a:solidFill>
                  <a:srgbClr val="000000"/>
                </a:solidFill>
                <a:effectLst/>
                <a:uFillTx/>
                <a:latin typeface="Times New Roman"/>
              </a:rPr>
              <a:t>CivicFlow is an AI-powered, multimodal assistant that automates the triage of civic complaints received through text, voice, and images.</a:t>
            </a:r>
            <a:endParaRPr lang="en-US" sz="2000" b="0" u="none" strike="noStrike">
              <a:solidFill>
                <a:srgbClr val="000000"/>
              </a:solidFill>
              <a:effectLst/>
              <a:uFillTx/>
              <a:latin typeface="Calibri"/>
            </a:endParaRPr>
          </a:p>
          <a:p>
            <a:pPr indent="0" algn="just" defTabSz="914400">
              <a:lnSpc>
                <a:spcPct val="150000"/>
              </a:lnSpc>
              <a:buNone/>
            </a:pPr>
            <a:r>
              <a:rPr lang="en-US" sz="2000" b="0" u="none" strike="noStrike">
                <a:solidFill>
                  <a:srgbClr val="000000"/>
                </a:solidFill>
                <a:effectLst/>
                <a:uFillTx/>
                <a:latin typeface="Times New Roman"/>
              </a:rPr>
              <a:t>It uses Whisper-based speech recognition, OCR and image captioning, and LLM-driven structured output to classify and route issues to the correct municipal departments.</a:t>
            </a:r>
            <a:endParaRPr lang="en-US" sz="2000" b="0" u="none" strike="noStrike">
              <a:solidFill>
                <a:srgbClr val="000000"/>
              </a:solidFill>
              <a:effectLst/>
              <a:uFillTx/>
              <a:latin typeface="Calibri"/>
            </a:endParaRPr>
          </a:p>
          <a:p>
            <a:pPr indent="0" algn="just" defTabSz="914400">
              <a:lnSpc>
                <a:spcPct val="150000"/>
              </a:lnSpc>
              <a:buNone/>
            </a:pPr>
            <a:r>
              <a:rPr lang="en-US" sz="2000" b="0" u="none" strike="noStrike">
                <a:solidFill>
                  <a:srgbClr val="000000"/>
                </a:solidFill>
                <a:effectLst/>
                <a:uFillTx/>
                <a:latin typeface="Times New Roman"/>
              </a:rPr>
              <a:t>A Retrieval-Augmented Generation (RAG) layer grounds responses in municipal guidelines, ensuring factual accuracy and traceability.</a:t>
            </a:r>
            <a:endParaRPr lang="en-US" sz="2000" b="0" u="none" strike="noStrike">
              <a:solidFill>
                <a:srgbClr val="000000"/>
              </a:solidFill>
              <a:effectLst/>
              <a:uFillTx/>
              <a:latin typeface="Calibri"/>
            </a:endParaRPr>
          </a:p>
          <a:p>
            <a:pPr indent="0" algn="just" defTabSz="914400">
              <a:lnSpc>
                <a:spcPct val="150000"/>
              </a:lnSpc>
              <a:buNone/>
            </a:pPr>
            <a:r>
              <a:rPr lang="en-US" sz="2000" b="0" u="none" strike="noStrike">
                <a:solidFill>
                  <a:srgbClr val="000000"/>
                </a:solidFill>
                <a:effectLst/>
                <a:uFillTx/>
                <a:latin typeface="Times New Roman"/>
              </a:rPr>
              <a:t>By streamlining 311-style workflows and enabling real-time tracking, CivicFlow enhances efficiency, transparency, and accountability in public service delivery.</a:t>
            </a:r>
            <a:endParaRPr lang="en-US" sz="2000" b="0" u="none" strike="noStrike">
              <a:solidFill>
                <a:srgbClr val="000000"/>
              </a:solidFill>
              <a:effectLst/>
              <a:uFillTx/>
              <a:latin typeface="Calibri"/>
            </a:endParaRPr>
          </a:p>
          <a:p>
            <a:pPr indent="0" algn="l" defTabSz="914400">
              <a:lnSpc>
                <a:spcPct val="100000"/>
              </a:lnSpc>
              <a:spcBef>
                <a:spcPts val="1899"/>
              </a:spcBef>
              <a:buNone/>
              <a:tabLst>
                <a:tab pos="592560" algn="l"/>
              </a:tabLst>
            </a:pPr>
            <a:endParaRPr lang="en-US" sz="2000" b="0" u="none" strike="noStrike">
              <a:solidFill>
                <a:srgbClr val="000000"/>
              </a:solidFill>
              <a:effectLst/>
              <a:uFillTx/>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Introduction</a:t>
            </a:r>
            <a:endParaRPr lang="en-US" sz="3200" b="0" u="none" strike="noStrike">
              <a:solidFill>
                <a:srgbClr val="000000"/>
              </a:solidFill>
              <a:effectLst/>
              <a:uFillTx/>
              <a:latin typeface="Calibri"/>
            </a:endParaRPr>
          </a:p>
        </p:txBody>
      </p:sp>
      <p:sp>
        <p:nvSpPr>
          <p:cNvPr id="60" name="PlaceHolder 2"/>
          <p:cNvSpPr>
            <a:spLocks noGrp="1"/>
          </p:cNvSpPr>
          <p:nvPr>
            <p:ph type="dt" idx="25"/>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53A615B2-9E6E-4EF8-A354-E76BDAA2B8F8}"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61" name="PlaceHolder 3"/>
          <p:cNvSpPr>
            <a:spLocks noGrp="1"/>
          </p:cNvSpPr>
          <p:nvPr>
            <p:ph type="ftr" idx="26"/>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62" name="PlaceHolder 4"/>
          <p:cNvSpPr>
            <a:spLocks noGrp="1"/>
          </p:cNvSpPr>
          <p:nvPr>
            <p:ph type="sldNum" idx="27"/>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DCC45812-8417-4EE3-A62B-8B5D2F4A0A23}" type="slidenum">
              <a:rPr lang="en-US" sz="1600" b="1" u="none" strike="noStrike" spc="-51">
                <a:solidFill>
                  <a:srgbClr val="888888"/>
                </a:solidFill>
                <a:effectLst/>
                <a:uFillTx/>
                <a:latin typeface="Cambria"/>
              </a:rPr>
              <a:t>4</a:t>
            </a:fld>
            <a:endParaRPr lang="en-US" sz="1600" b="0" u="none" strike="noStrike">
              <a:solidFill>
                <a:srgbClr val="000000"/>
              </a:solidFill>
              <a:effectLst/>
              <a:uFillTx/>
              <a:latin typeface="Times New Roman"/>
            </a:endParaRPr>
          </a:p>
        </p:txBody>
      </p:sp>
      <p:sp>
        <p:nvSpPr>
          <p:cNvPr id="63" name="PlaceHolder 5"/>
          <p:cNvSpPr>
            <a:spLocks noGrp="1"/>
          </p:cNvSpPr>
          <p:nvPr>
            <p:ph/>
          </p:nvPr>
        </p:nvSpPr>
        <p:spPr>
          <a:xfrm>
            <a:off x="907920" y="1186560"/>
            <a:ext cx="10375560" cy="4770000"/>
          </a:xfrm>
          <a:prstGeom prst="rect">
            <a:avLst/>
          </a:prstGeom>
          <a:noFill/>
          <a:ln w="0">
            <a:noFill/>
          </a:ln>
        </p:spPr>
        <p:txBody>
          <a:bodyPr lIns="0" tIns="241200" rIns="0" bIns="0" anchor="t">
            <a:spAutoFit/>
          </a:bodyPr>
          <a:lstStyle/>
          <a:p>
            <a:pPr marL="343080" indent="-343080" algn="just">
              <a:lnSpc>
                <a:spcPct val="100000"/>
              </a:lnSpc>
              <a:buClr>
                <a:srgbClr val="000000"/>
              </a:buClr>
              <a:buFont typeface="Arial"/>
              <a:buChar char="•"/>
            </a:pPr>
            <a:r>
              <a:rPr lang="en-US" sz="2000" b="0" u="none" strike="noStrike">
                <a:solidFill>
                  <a:schemeClr val="dk1"/>
                </a:solidFill>
                <a:effectLst/>
                <a:uFillTx/>
                <a:latin typeface="Times New Roman"/>
              </a:rPr>
              <a:t>Every day, city administrations receive thousands of complaints from citizens about damaged roads, water leaks, garbage accumulation, and power failures. These complaints arrive through multiple channels — text messages, emails, WhatsApp voice notes, social media posts, and images — often in different regional languages, making the data unstructured and difficult to process manually.</a:t>
            </a:r>
            <a:endParaRPr lang="en-US" sz="2000" b="0" u="none" strike="noStrike">
              <a:solidFill>
                <a:srgbClr val="000000"/>
              </a:solidFill>
              <a:effectLst/>
              <a:uFillTx/>
              <a:latin typeface="Calibri"/>
            </a:endParaRPr>
          </a:p>
          <a:p>
            <a:pPr indent="0" algn="just">
              <a:lnSpc>
                <a:spcPct val="100000"/>
              </a:lnSpc>
              <a:buNone/>
            </a:pPr>
            <a:endParaRPr lang="en-US" sz="2000" b="0" u="none" strike="noStrike">
              <a:solidFill>
                <a:srgbClr val="000000"/>
              </a:solidFill>
              <a:effectLst/>
              <a:uFillTx/>
              <a:latin typeface="Calibri"/>
            </a:endParaRPr>
          </a:p>
          <a:p>
            <a:pPr marL="343080" indent="-343080" algn="just">
              <a:lnSpc>
                <a:spcPct val="100000"/>
              </a:lnSpc>
              <a:buClr>
                <a:srgbClr val="000000"/>
              </a:buClr>
              <a:buFont typeface="Arial"/>
              <a:buChar char="•"/>
            </a:pPr>
            <a:r>
              <a:rPr lang="en-US" sz="2000" b="0" u="none" strike="noStrike">
                <a:solidFill>
                  <a:schemeClr val="dk1"/>
                </a:solidFill>
                <a:effectLst/>
                <a:uFillTx/>
                <a:latin typeface="Times New Roman"/>
              </a:rPr>
              <a:t>The current manual triage process is slow, inconsistent, and error-prone. On average, it takes 2 to 3 days to process a single complaint, nearly 30% of complaints are misrouted to the wrong department, and 40% of urgent issues breach their SLA deadlines. This leads to delayed resolutions and reduced trust in civic institutions.</a:t>
            </a:r>
            <a:endParaRPr lang="en-US" sz="2000" b="0" u="none" strike="noStrike">
              <a:solidFill>
                <a:srgbClr val="000000"/>
              </a:solidFill>
              <a:effectLst/>
              <a:uFillTx/>
              <a:latin typeface="Calibri"/>
            </a:endParaRPr>
          </a:p>
          <a:p>
            <a:pPr indent="0" algn="just">
              <a:lnSpc>
                <a:spcPct val="100000"/>
              </a:lnSpc>
              <a:buNone/>
            </a:pPr>
            <a:endParaRPr lang="en-US" sz="2000" b="0" u="none" strike="noStrike">
              <a:solidFill>
                <a:srgbClr val="000000"/>
              </a:solidFill>
              <a:effectLst/>
              <a:uFillTx/>
              <a:latin typeface="Calibri"/>
            </a:endParaRPr>
          </a:p>
          <a:p>
            <a:pPr marL="343080" indent="-343080" algn="just">
              <a:lnSpc>
                <a:spcPct val="100000"/>
              </a:lnSpc>
              <a:buClr>
                <a:srgbClr val="000000"/>
              </a:buClr>
              <a:buFont typeface="Arial"/>
              <a:buChar char="•"/>
            </a:pPr>
            <a:r>
              <a:rPr lang="en-US" sz="2000" b="0" u="none" strike="noStrike">
                <a:solidFill>
                  <a:schemeClr val="dk1"/>
                </a:solidFill>
                <a:effectLst/>
                <a:uFillTx/>
                <a:latin typeface="Times New Roman"/>
              </a:rPr>
              <a:t>AI Civic Issue Triage Assistant — is proposed as a solution to this problem. It is an intelligent, multimodal system that automatically ingests complaints from any channel, understands the content using Large Language Models and NLP, classifies the issue, and routes it to the correct municipal department in real time</a:t>
            </a:r>
            <a:endParaRPr lang="en-US" sz="2000" b="0" u="none" strike="noStrike">
              <a:solidFill>
                <a:srgbClr val="000000"/>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Cambria"/>
                <a:ea typeface="Cambria"/>
              </a:rPr>
              <a:t>Literature</a:t>
            </a:r>
            <a:r>
              <a:rPr lang="en-US" sz="3200" b="0" u="none" strike="noStrike" spc="-119">
                <a:solidFill>
                  <a:schemeClr val="lt1"/>
                </a:solidFill>
                <a:effectLst/>
                <a:uFillTx/>
                <a:latin typeface="Cambria"/>
                <a:ea typeface="Cambria"/>
              </a:rPr>
              <a:t> </a:t>
            </a:r>
            <a:r>
              <a:rPr lang="en-US" sz="3200" b="0" u="none" strike="noStrike" spc="-11">
                <a:solidFill>
                  <a:schemeClr val="lt1"/>
                </a:solidFill>
                <a:effectLst/>
                <a:uFillTx/>
                <a:latin typeface="Cambria"/>
                <a:ea typeface="Cambria"/>
              </a:rPr>
              <a:t>survey</a:t>
            </a:r>
            <a:endParaRPr lang="en-US" sz="3200" b="0" u="none" strike="noStrike">
              <a:solidFill>
                <a:srgbClr val="000000"/>
              </a:solidFill>
              <a:effectLst/>
              <a:uFillTx/>
              <a:latin typeface="Calibri"/>
            </a:endParaRPr>
          </a:p>
        </p:txBody>
      </p:sp>
      <p:sp>
        <p:nvSpPr>
          <p:cNvPr id="65" name="PlaceHolder 2"/>
          <p:cNvSpPr>
            <a:spLocks noGrp="1"/>
          </p:cNvSpPr>
          <p:nvPr>
            <p:ph type="dt" idx="28"/>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7F8AE056-FF92-4931-9510-DA15479B73C8}"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66" name="PlaceHolder 3"/>
          <p:cNvSpPr>
            <a:spLocks noGrp="1"/>
          </p:cNvSpPr>
          <p:nvPr>
            <p:ph type="ftr" idx="29"/>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67" name="PlaceHolder 4"/>
          <p:cNvSpPr>
            <a:spLocks noGrp="1"/>
          </p:cNvSpPr>
          <p:nvPr>
            <p:ph type="sldNum" idx="30"/>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DF4203E2-5275-4741-8B0F-C060CA495C04}" type="slidenum">
              <a:rPr lang="en-US" sz="1600" b="1" u="none" strike="noStrike" spc="-51">
                <a:solidFill>
                  <a:srgbClr val="888888"/>
                </a:solidFill>
                <a:effectLst/>
                <a:uFillTx/>
                <a:latin typeface="Cambria"/>
              </a:rPr>
              <a:t>5</a:t>
            </a:fld>
            <a:endParaRPr lang="en-US" sz="1600" b="0" u="none" strike="noStrike">
              <a:solidFill>
                <a:srgbClr val="000000"/>
              </a:solidFill>
              <a:effectLst/>
              <a:uFillTx/>
              <a:latin typeface="Times New Roman"/>
            </a:endParaRPr>
          </a:p>
        </p:txBody>
      </p:sp>
      <p:graphicFrame>
        <p:nvGraphicFramePr>
          <p:cNvPr id="68" name="Table 3"/>
          <p:cNvGraphicFramePr/>
          <p:nvPr>
            <p:extLst>
              <p:ext uri="{D42A27DB-BD31-4B8C-83A1-F6EECF244321}">
                <p14:modId xmlns:p14="http://schemas.microsoft.com/office/powerpoint/2010/main" val="4237441068"/>
              </p:ext>
            </p:extLst>
          </p:nvPr>
        </p:nvGraphicFramePr>
        <p:xfrm>
          <a:off x="763920" y="1319040"/>
          <a:ext cx="10662840" cy="4998960"/>
        </p:xfrm>
        <a:graphic>
          <a:graphicData uri="http://schemas.openxmlformats.org/drawingml/2006/table">
            <a:tbl>
              <a:tblPr/>
              <a:tblGrid>
                <a:gridCol w="922320">
                  <a:extLst>
                    <a:ext uri="{9D8B030D-6E8A-4147-A177-3AD203B41FA5}">
                      <a16:colId xmlns:a16="http://schemas.microsoft.com/office/drawing/2014/main" val="20000"/>
                    </a:ext>
                  </a:extLst>
                </a:gridCol>
                <a:gridCol w="4085640">
                  <a:extLst>
                    <a:ext uri="{9D8B030D-6E8A-4147-A177-3AD203B41FA5}">
                      <a16:colId xmlns:a16="http://schemas.microsoft.com/office/drawing/2014/main" val="20001"/>
                    </a:ext>
                  </a:extLst>
                </a:gridCol>
                <a:gridCol w="5654880">
                  <a:extLst>
                    <a:ext uri="{9D8B030D-6E8A-4147-A177-3AD203B41FA5}">
                      <a16:colId xmlns:a16="http://schemas.microsoft.com/office/drawing/2014/main" val="20002"/>
                    </a:ext>
                  </a:extLst>
                </a:gridCol>
              </a:tblGrid>
              <a:tr h="461160">
                <a:tc>
                  <a:txBody>
                    <a:bodyPr/>
                    <a:lstStyle/>
                    <a:p>
                      <a:pPr defTabSz="914400">
                        <a:lnSpc>
                          <a:spcPct val="100000"/>
                        </a:lnSpc>
                      </a:pPr>
                      <a:r>
                        <a:rPr lang="en-US" sz="1800" b="1" u="none" strike="noStrike" dirty="0">
                          <a:solidFill>
                            <a:schemeClr val="dk1"/>
                          </a:solidFill>
                          <a:effectLst/>
                          <a:uFillTx/>
                          <a:latin typeface="Times New Roman"/>
                        </a:rPr>
                        <a:t>Year</a:t>
                      </a:r>
                      <a:endParaRPr lang="en-US" sz="1800" b="0" u="none" strike="noStrike" dirty="0">
                        <a:solidFill>
                          <a:srgbClr val="FFFFFF"/>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bg1"/>
                    </a:solidFill>
                  </a:tcPr>
                </a:tc>
                <a:tc>
                  <a:txBody>
                    <a:bodyPr/>
                    <a:lstStyle/>
                    <a:p>
                      <a:pPr defTabSz="914400">
                        <a:lnSpc>
                          <a:spcPct val="100000"/>
                        </a:lnSpc>
                      </a:pPr>
                      <a:r>
                        <a:rPr lang="en-US" sz="1800" b="1" u="none" strike="noStrike" dirty="0">
                          <a:solidFill>
                            <a:schemeClr val="dk1"/>
                          </a:solidFill>
                          <a:effectLst/>
                          <a:uFillTx/>
                          <a:latin typeface="Times New Roman"/>
                        </a:rPr>
                        <a:t>Authors / Source</a:t>
                      </a:r>
                      <a:endParaRPr lang="en-US" sz="1800" b="0" u="none" strike="noStrike" dirty="0">
                        <a:solidFill>
                          <a:srgbClr val="FFFFFF"/>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bg1"/>
                    </a:solidFill>
                  </a:tcPr>
                </a:tc>
                <a:tc>
                  <a:txBody>
                    <a:bodyPr/>
                    <a:lstStyle/>
                    <a:p>
                      <a:pPr defTabSz="914400">
                        <a:lnSpc>
                          <a:spcPct val="100000"/>
                        </a:lnSpc>
                      </a:pPr>
                      <a:r>
                        <a:rPr lang="en-US" sz="1800" b="1" u="none" strike="noStrike" dirty="0">
                          <a:solidFill>
                            <a:schemeClr val="dk1"/>
                          </a:solidFill>
                          <a:effectLst/>
                          <a:uFillTx/>
                          <a:latin typeface="Times New Roman"/>
                        </a:rPr>
                        <a:t>Findings</a:t>
                      </a:r>
                      <a:endParaRPr lang="en-US" sz="1800" b="0" u="none" strike="noStrike" dirty="0">
                        <a:solidFill>
                          <a:srgbClr val="FFFFFF"/>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bg1"/>
                    </a:solidFill>
                  </a:tcPr>
                </a:tc>
                <a:extLst>
                  <a:ext uri="{0D108BD9-81ED-4DB2-BD59-A6C34878D82A}">
                    <a16:rowId xmlns:a16="http://schemas.microsoft.com/office/drawing/2014/main" val="10000"/>
                  </a:ext>
                </a:extLst>
              </a:tr>
              <a:tr h="907560">
                <a:tc>
                  <a:txBody>
                    <a:bodyPr/>
                    <a:lstStyle/>
                    <a:p>
                      <a:pPr defTabSz="914400">
                        <a:lnSpc>
                          <a:spcPct val="100000"/>
                        </a:lnSpc>
                      </a:pPr>
                      <a:r>
                        <a:rPr lang="en-001" sz="1800" b="1" u="none" strike="noStrike">
                          <a:solidFill>
                            <a:schemeClr val="dk1"/>
                          </a:solidFill>
                          <a:effectLst/>
                          <a:uFillTx/>
                          <a:latin typeface="Times New Roman"/>
                        </a:rPr>
                        <a:t>2025</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Adebayo </a:t>
                      </a:r>
                      <a:r>
                        <a:rPr lang="en-US" sz="1800" b="0" u="none" strike="noStrike" dirty="0" err="1">
                          <a:solidFill>
                            <a:schemeClr val="dk1"/>
                          </a:solidFill>
                          <a:effectLst/>
                          <a:uFillTx/>
                          <a:latin typeface="Times New Roman"/>
                        </a:rPr>
                        <a:t>Da’Costa</a:t>
                      </a:r>
                      <a:r>
                        <a:rPr lang="en-US" sz="1800" b="0" u="none" strike="noStrike" dirty="0">
                          <a:solidFill>
                            <a:schemeClr val="dk1"/>
                          </a:solidFill>
                          <a:effectLst/>
                          <a:uFillTx/>
                          <a:latin typeface="Times New Roman"/>
                        </a:rPr>
                        <a:t>, Jennifer Teke, Joseph E. </a:t>
                      </a:r>
                      <a:r>
                        <a:rPr lang="en-US" sz="1800" b="0" u="none" strike="noStrike" dirty="0" err="1">
                          <a:solidFill>
                            <a:schemeClr val="dk1"/>
                          </a:solidFill>
                          <a:effectLst/>
                          <a:uFillTx/>
                          <a:latin typeface="Times New Roman"/>
                        </a:rPr>
                        <a:t>Origbo</a:t>
                      </a:r>
                      <a:r>
                        <a:rPr lang="en-US" sz="1800" b="0" u="none" strike="noStrike" dirty="0">
                          <a:solidFill>
                            <a:schemeClr val="dk1"/>
                          </a:solidFill>
                          <a:effectLst/>
                          <a:uFillTx/>
                          <a:latin typeface="Times New Roman"/>
                        </a:rPr>
                        <a:t>, Ayokunle </a:t>
                      </a:r>
                      <a:r>
                        <a:rPr lang="en-US" sz="1800" b="0" u="none" strike="noStrike" dirty="0" err="1">
                          <a:solidFill>
                            <a:schemeClr val="dk1"/>
                          </a:solidFill>
                          <a:effectLst/>
                          <a:uFillTx/>
                          <a:latin typeface="Times New Roman"/>
                        </a:rPr>
                        <a:t>Osonuga</a:t>
                      </a:r>
                      <a:r>
                        <a:rPr lang="en-US" sz="1800" b="0" u="none" strike="noStrike" dirty="0">
                          <a:solidFill>
                            <a:schemeClr val="dk1"/>
                          </a:solidFill>
                          <a:effectLst/>
                          <a:uFillTx/>
                          <a:latin typeface="Times New Roman"/>
                        </a:rPr>
                        <a:t>, </a:t>
                      </a:r>
                      <a:r>
                        <a:rPr lang="en-US" sz="1800" b="0" u="none" strike="noStrike" dirty="0" err="1">
                          <a:solidFill>
                            <a:schemeClr val="dk1"/>
                          </a:solidFill>
                          <a:effectLst/>
                          <a:uFillTx/>
                          <a:latin typeface="Times New Roman"/>
                        </a:rPr>
                        <a:t>Eghosasere</a:t>
                      </a:r>
                      <a:r>
                        <a:rPr lang="en-US" sz="1800" b="0" u="none" strike="noStrike" dirty="0">
                          <a:solidFill>
                            <a:schemeClr val="dk1"/>
                          </a:solidFill>
                          <a:effectLst/>
                          <a:uFillTx/>
                          <a:latin typeface="Times New Roman"/>
                        </a:rPr>
                        <a:t> </a:t>
                      </a:r>
                      <a:r>
                        <a:rPr lang="en-US" sz="1800" b="0" u="none" strike="noStrike" dirty="0" err="1">
                          <a:solidFill>
                            <a:schemeClr val="dk1"/>
                          </a:solidFill>
                          <a:effectLst/>
                          <a:uFillTx/>
                          <a:latin typeface="Times New Roman"/>
                        </a:rPr>
                        <a:t>Egbon</a:t>
                      </a:r>
                      <a:r>
                        <a:rPr lang="en-US" sz="1800" b="0" u="none" strike="noStrike" dirty="0">
                          <a:solidFill>
                            <a:schemeClr val="dk1"/>
                          </a:solidFill>
                          <a:effectLst/>
                          <a:uFillTx/>
                          <a:latin typeface="Times New Roman"/>
                        </a:rPr>
                        <a:t>, David B. </a:t>
                      </a:r>
                      <a:r>
                        <a:rPr lang="en-US" sz="1800" b="0" u="none" strike="noStrike" dirty="0" err="1">
                          <a:solidFill>
                            <a:schemeClr val="dk1"/>
                          </a:solidFill>
                          <a:effectLst/>
                          <a:uFillTx/>
                          <a:latin typeface="Times New Roman"/>
                        </a:rPr>
                        <a:t>Olawade</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AI-driven triage systems improve efficiency and accuracy in emergency departments, though challenges remain in implementation and ethical oversight.</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extLst>
                  <a:ext uri="{0D108BD9-81ED-4DB2-BD59-A6C34878D82A}">
                    <a16:rowId xmlns:a16="http://schemas.microsoft.com/office/drawing/2014/main" val="10001"/>
                  </a:ext>
                </a:extLst>
              </a:tr>
              <a:tr h="907560">
                <a:tc>
                  <a:txBody>
                    <a:bodyPr/>
                    <a:lstStyle/>
                    <a:p>
                      <a:pPr defTabSz="914400">
                        <a:lnSpc>
                          <a:spcPct val="100000"/>
                        </a:lnSpc>
                      </a:pPr>
                      <a:r>
                        <a:rPr lang="en-001" sz="1800" b="1" u="none" strike="noStrike">
                          <a:solidFill>
                            <a:schemeClr val="dk1"/>
                          </a:solidFill>
                          <a:effectLst/>
                          <a:uFillTx/>
                          <a:latin typeface="Times New Roman"/>
                        </a:rPr>
                        <a:t>2024</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a:solidFill>
                            <a:schemeClr val="dk1"/>
                          </a:solidFill>
                          <a:effectLst/>
                          <a:uFillTx/>
                          <a:latin typeface="Times New Roman"/>
                        </a:rPr>
                        <a:t>Amir Tahernejad, Amir Sahebi, Ali S. S. Abadi, Mohammad Safari</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dirty="0">
                          <a:solidFill>
                            <a:schemeClr val="dk1"/>
                          </a:solidFill>
                          <a:effectLst/>
                          <a:uFillTx/>
                          <a:latin typeface="Times New Roman"/>
                        </a:rPr>
                        <a:t>Systematic review highlighting AI’s applications in triage for disasters and emergencies; emphasizes data integration, accuracy, and ethical frameworks.</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2"/>
                  </a:ext>
                </a:extLst>
              </a:tr>
              <a:tr h="907560">
                <a:tc>
                  <a:txBody>
                    <a:bodyPr/>
                    <a:lstStyle/>
                    <a:p>
                      <a:pPr defTabSz="914400">
                        <a:lnSpc>
                          <a:spcPct val="100000"/>
                        </a:lnSpc>
                      </a:pPr>
                      <a:r>
                        <a:rPr lang="en-001" sz="1800" b="1" u="none" strike="noStrike">
                          <a:solidFill>
                            <a:schemeClr val="dk1"/>
                          </a:solidFill>
                          <a:effectLst/>
                          <a:uFillTx/>
                          <a:latin typeface="Times New Roman"/>
                        </a:rPr>
                        <a:t>2025</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Alexandra </a:t>
                      </a:r>
                      <a:r>
                        <a:rPr lang="en-US" sz="1800" b="0" u="none" strike="noStrike" dirty="0" err="1">
                          <a:solidFill>
                            <a:schemeClr val="dk1"/>
                          </a:solidFill>
                          <a:effectLst/>
                          <a:uFillTx/>
                          <a:latin typeface="Times New Roman"/>
                        </a:rPr>
                        <a:t>Costoiu</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Discusses AI literacy as a fundamental civic right and educational necessity for second-language learners in a globalized society.</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extLst>
                  <a:ext uri="{0D108BD9-81ED-4DB2-BD59-A6C34878D82A}">
                    <a16:rowId xmlns:a16="http://schemas.microsoft.com/office/drawing/2014/main" val="10003"/>
                  </a:ext>
                </a:extLst>
              </a:tr>
              <a:tr h="907560">
                <a:tc>
                  <a:txBody>
                    <a:bodyPr/>
                    <a:lstStyle/>
                    <a:p>
                      <a:pPr defTabSz="914400">
                        <a:lnSpc>
                          <a:spcPct val="100000"/>
                        </a:lnSpc>
                      </a:pPr>
                      <a:r>
                        <a:rPr lang="en-001" sz="1800" b="1" u="none" strike="noStrike">
                          <a:solidFill>
                            <a:schemeClr val="dk1"/>
                          </a:solidFill>
                          <a:effectLst/>
                          <a:uFillTx/>
                          <a:latin typeface="Times New Roman"/>
                        </a:rPr>
                        <a:t>2025</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a:solidFill>
                            <a:schemeClr val="dk1"/>
                          </a:solidFill>
                          <a:effectLst/>
                          <a:uFillTx/>
                          <a:latin typeface="Times New Roman"/>
                        </a:rPr>
                        <a:t>Samuel G. Gabriel</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lstStyle/>
                    <a:p>
                      <a:pPr defTabSz="914400">
                        <a:lnSpc>
                          <a:spcPct val="100000"/>
                        </a:lnSpc>
                      </a:pPr>
                      <a:r>
                        <a:rPr lang="en-US" sz="1800" b="0" u="none" strike="noStrike">
                          <a:solidFill>
                            <a:schemeClr val="dk1"/>
                          </a:solidFill>
                          <a:effectLst/>
                          <a:uFillTx/>
                          <a:latin typeface="Times New Roman"/>
                        </a:rPr>
                        <a:t>Explores AI-driven administrative systems and their role in reshaping citizen–government interactions, focusing on transparency and efficiency.</a:t>
                      </a:r>
                      <a:endParaRPr lang="en-US" sz="1800" b="0" u="none" strike="noStrike">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extLst>
                  <a:ext uri="{0D108BD9-81ED-4DB2-BD59-A6C34878D82A}">
                    <a16:rowId xmlns:a16="http://schemas.microsoft.com/office/drawing/2014/main" val="10004"/>
                  </a:ext>
                </a:extLst>
              </a:tr>
              <a:tr h="907560">
                <a:tc>
                  <a:txBody>
                    <a:bodyPr/>
                    <a:lstStyle/>
                    <a:p>
                      <a:pPr defTabSz="914400">
                        <a:lnSpc>
                          <a:spcPct val="100000"/>
                        </a:lnSpc>
                      </a:pPr>
                      <a:r>
                        <a:rPr lang="en-001" sz="1800" b="1" u="none" strike="noStrike" dirty="0">
                          <a:solidFill>
                            <a:schemeClr val="dk1"/>
                          </a:solidFill>
                          <a:effectLst/>
                          <a:uFillTx/>
                          <a:latin typeface="Times New Roman"/>
                        </a:rPr>
                        <a:t>2025</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Alexandra Costoiu (</a:t>
                      </a:r>
                      <a:r>
                        <a:rPr lang="en-US" sz="1800" b="0" i="1" u="none" strike="noStrike" dirty="0">
                          <a:solidFill>
                            <a:schemeClr val="dk1"/>
                          </a:solidFill>
                          <a:effectLst/>
                          <a:uFillTx/>
                          <a:latin typeface="Times New Roman"/>
                        </a:rPr>
                        <a:t>Reading Matrix Journal</a:t>
                      </a:r>
                      <a:r>
                        <a:rPr lang="en-US" sz="1800" b="0" u="none" strike="noStrike" dirty="0">
                          <a:solidFill>
                            <a:schemeClr val="dk1"/>
                          </a:solidFill>
                          <a:effectLst/>
                          <a:uFillTx/>
                          <a:latin typeface="Times New Roman"/>
                        </a:rPr>
                        <a:t>)</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tc>
                  <a:txBody>
                    <a:bodyPr/>
                    <a:lstStyle/>
                    <a:p>
                      <a:pPr defTabSz="914400">
                        <a:lnSpc>
                          <a:spcPct val="100000"/>
                        </a:lnSpc>
                      </a:pPr>
                      <a:r>
                        <a:rPr lang="en-US" sz="1800" b="0" u="none" strike="noStrike" dirty="0">
                          <a:solidFill>
                            <a:schemeClr val="dk1"/>
                          </a:solidFill>
                          <a:effectLst/>
                          <a:uFillTx/>
                          <a:latin typeface="Times New Roman"/>
                        </a:rPr>
                        <a:t>Reiterates the civic importance of AI literacy; suggests educational policies to integrate AI awareness in language and civic education.</a:t>
                      </a:r>
                      <a:endParaRPr lang="en-US" sz="1800" b="0" u="none" strike="noStrike" dirty="0">
                        <a:solidFill>
                          <a:srgbClr val="000000"/>
                        </a:solidFill>
                        <a:effectLst/>
                        <a:uFillTx/>
                        <a:latin typeface="Arial"/>
                      </a:endParaRPr>
                    </a:p>
                  </a:txBody>
                  <a:tcPr marL="24840" marR="24840" marT="12240" marB="12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tx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Cambria"/>
                <a:ea typeface="Cambria"/>
              </a:rPr>
              <a:t>Literature</a:t>
            </a:r>
            <a:r>
              <a:rPr lang="en-US" sz="3200" b="0" u="none" strike="noStrike" spc="-119">
                <a:solidFill>
                  <a:schemeClr val="lt1"/>
                </a:solidFill>
                <a:effectLst/>
                <a:uFillTx/>
                <a:latin typeface="Cambria"/>
                <a:ea typeface="Cambria"/>
              </a:rPr>
              <a:t> </a:t>
            </a:r>
            <a:r>
              <a:rPr lang="en-US" sz="3200" b="0" u="none" strike="noStrike" spc="-11">
                <a:solidFill>
                  <a:schemeClr val="lt1"/>
                </a:solidFill>
                <a:effectLst/>
                <a:uFillTx/>
                <a:latin typeface="Cambria"/>
                <a:ea typeface="Cambria"/>
              </a:rPr>
              <a:t>survey</a:t>
            </a:r>
            <a:endParaRPr lang="en-US" sz="3200" b="0" u="none" strike="noStrike">
              <a:solidFill>
                <a:srgbClr val="000000"/>
              </a:solidFill>
              <a:effectLst/>
              <a:uFillTx/>
              <a:latin typeface="Calibri"/>
            </a:endParaRPr>
          </a:p>
        </p:txBody>
      </p:sp>
      <p:sp>
        <p:nvSpPr>
          <p:cNvPr id="70" name="PlaceHolder 2"/>
          <p:cNvSpPr>
            <a:spLocks noGrp="1"/>
          </p:cNvSpPr>
          <p:nvPr>
            <p:ph type="dt" idx="31"/>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E0F9CDC4-C93D-45E7-9110-DDA76BC2EEBF}"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71" name="PlaceHolder 3"/>
          <p:cNvSpPr>
            <a:spLocks noGrp="1"/>
          </p:cNvSpPr>
          <p:nvPr>
            <p:ph type="ftr" idx="32"/>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72" name="PlaceHolder 4"/>
          <p:cNvSpPr>
            <a:spLocks noGrp="1"/>
          </p:cNvSpPr>
          <p:nvPr>
            <p:ph type="sldNum" idx="33"/>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E00DE3CD-71DB-49D8-A507-730D93CAEA1F}" type="slidenum">
              <a:rPr lang="en-US" sz="1600" b="1" u="none" strike="noStrike" spc="-51">
                <a:solidFill>
                  <a:srgbClr val="888888"/>
                </a:solidFill>
                <a:effectLst/>
                <a:uFillTx/>
                <a:latin typeface="Cambria"/>
              </a:rPr>
              <a:t>6</a:t>
            </a:fld>
            <a:endParaRPr lang="en-US" sz="1600" b="0" u="none" strike="noStrike">
              <a:solidFill>
                <a:srgbClr val="000000"/>
              </a:solidFill>
              <a:effectLst/>
              <a:uFillTx/>
              <a:latin typeface="Times New Roman"/>
            </a:endParaRPr>
          </a:p>
        </p:txBody>
      </p:sp>
      <p:pic>
        <p:nvPicPr>
          <p:cNvPr id="73" name="Picture 7"/>
          <p:cNvPicPr/>
          <p:nvPr/>
        </p:nvPicPr>
        <p:blipFill>
          <a:blip r:embed="rId2"/>
          <a:stretch/>
        </p:blipFill>
        <p:spPr>
          <a:xfrm>
            <a:off x="916920" y="1295640"/>
            <a:ext cx="10686960" cy="468180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IN" sz="3200" b="0" u="none" strike="noStrike" spc="-11">
                <a:solidFill>
                  <a:schemeClr val="lt1"/>
                </a:solidFill>
                <a:effectLst/>
                <a:uFillTx/>
                <a:latin typeface="Cambria"/>
                <a:ea typeface="Cambria"/>
              </a:rPr>
              <a:t>Problem</a:t>
            </a:r>
            <a:r>
              <a:rPr lang="en-IN" sz="3200" b="0" u="none" strike="noStrike" spc="-113">
                <a:solidFill>
                  <a:schemeClr val="lt1"/>
                </a:solidFill>
                <a:effectLst/>
                <a:uFillTx/>
                <a:latin typeface="Cambria"/>
                <a:ea typeface="Cambria"/>
              </a:rPr>
              <a:t> </a:t>
            </a:r>
            <a:r>
              <a:rPr lang="en-IN" sz="3200" b="0" u="none" strike="noStrike" spc="-11">
                <a:solidFill>
                  <a:schemeClr val="lt1"/>
                </a:solidFill>
                <a:effectLst/>
                <a:uFillTx/>
                <a:latin typeface="Cambria"/>
                <a:ea typeface="Cambria"/>
              </a:rPr>
              <a:t>analysis and design</a:t>
            </a:r>
            <a:endParaRPr lang="en-US" sz="3200" b="0" u="none" strike="noStrike">
              <a:solidFill>
                <a:srgbClr val="000000"/>
              </a:solidFill>
              <a:effectLst/>
              <a:uFillTx/>
              <a:latin typeface="Calibri"/>
            </a:endParaRPr>
          </a:p>
        </p:txBody>
      </p:sp>
      <p:sp>
        <p:nvSpPr>
          <p:cNvPr id="75" name="PlaceHolder 2"/>
          <p:cNvSpPr>
            <a:spLocks noGrp="1"/>
          </p:cNvSpPr>
          <p:nvPr>
            <p:ph type="dt" idx="34"/>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BABD07DE-3FA9-4739-9E51-A3201A35AB1F}"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76" name="PlaceHolder 3"/>
          <p:cNvSpPr>
            <a:spLocks noGrp="1"/>
          </p:cNvSpPr>
          <p:nvPr>
            <p:ph type="ftr" idx="35"/>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77" name="PlaceHolder 4"/>
          <p:cNvSpPr>
            <a:spLocks noGrp="1"/>
          </p:cNvSpPr>
          <p:nvPr>
            <p:ph type="sldNum" idx="36"/>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4F217A8B-4AD0-4ED3-82F7-2D097521E7E9}" type="slidenum">
              <a:rPr lang="en-US" sz="1600" b="1" u="none" strike="noStrike" spc="-51">
                <a:solidFill>
                  <a:srgbClr val="888888"/>
                </a:solidFill>
                <a:effectLst/>
                <a:uFillTx/>
                <a:latin typeface="Cambria"/>
              </a:rPr>
              <a:t>7</a:t>
            </a:fld>
            <a:endParaRPr lang="en-US" sz="1600" b="0" u="none" strike="noStrike">
              <a:solidFill>
                <a:srgbClr val="000000"/>
              </a:solidFill>
              <a:effectLst/>
              <a:uFillTx/>
              <a:latin typeface="Times New Roman"/>
            </a:endParaRPr>
          </a:p>
        </p:txBody>
      </p:sp>
      <p:sp>
        <p:nvSpPr>
          <p:cNvPr id="78" name="PlaceHolder 5"/>
          <p:cNvSpPr>
            <a:spLocks noGrp="1"/>
          </p:cNvSpPr>
          <p:nvPr>
            <p:ph/>
          </p:nvPr>
        </p:nvSpPr>
        <p:spPr>
          <a:xfrm>
            <a:off x="907920" y="2007720"/>
            <a:ext cx="10375560" cy="3167280"/>
          </a:xfrm>
          <a:prstGeom prst="rect">
            <a:avLst/>
          </a:prstGeom>
          <a:noFill/>
          <a:ln w="0">
            <a:noFill/>
          </a:ln>
        </p:spPr>
        <p:txBody>
          <a:bodyPr lIns="0" tIns="241200" rIns="0" bIns="0" anchor="t">
            <a:spAutoFit/>
          </a:bodyPr>
          <a:lstStyle/>
          <a:p>
            <a:pPr marL="343080" indent="-343080" algn="l" defTabSz="914400">
              <a:lnSpc>
                <a:spcPct val="100000"/>
              </a:lnSpc>
              <a:buClr>
                <a:srgbClr val="000000"/>
              </a:buClr>
              <a:buFont typeface="Arial"/>
              <a:buChar char="•"/>
            </a:pPr>
            <a:r>
              <a:rPr lang="en-US" sz="2000" b="0" u="none" strike="noStrike">
                <a:solidFill>
                  <a:schemeClr val="dk1"/>
                </a:solidFill>
                <a:effectLst/>
                <a:uFillTx/>
                <a:latin typeface="Times New Roman"/>
                <a:ea typeface="Times New Roman"/>
              </a:rPr>
              <a:t>Governments receive thousands of complaints monthly (roads, water, waste, noise).</a:t>
            </a:r>
            <a:endParaRPr lang="en-US" sz="2000" b="0" u="none" strike="noStrike">
              <a:solidFill>
                <a:srgbClr val="000000"/>
              </a:solidFill>
              <a:effectLst/>
              <a:uFillTx/>
              <a:latin typeface="Calibri"/>
            </a:endParaRPr>
          </a:p>
          <a:p>
            <a:pPr marL="343080" indent="-190440" algn="l" defTabSz="914400">
              <a:lnSpc>
                <a:spcPct val="100000"/>
              </a:lnSpc>
              <a:buNone/>
              <a:tabLst>
                <a:tab pos="0" algn="l"/>
              </a:tabLst>
            </a:pPr>
            <a:endParaRPr lang="en-US" sz="2000" b="0" u="none" strike="noStrike">
              <a:solidFill>
                <a:srgbClr val="000000"/>
              </a:solidFill>
              <a:effectLst/>
              <a:uFillTx/>
              <a:latin typeface="Calibri"/>
            </a:endParaRPr>
          </a:p>
          <a:p>
            <a:pPr marL="343080" indent="-343080" algn="l" defTabSz="914400">
              <a:lnSpc>
                <a:spcPct val="100000"/>
              </a:lnSpc>
              <a:buClr>
                <a:srgbClr val="000000"/>
              </a:buClr>
              <a:buFont typeface="Arial"/>
              <a:buChar char="•"/>
              <a:tabLst>
                <a:tab pos="0" algn="l"/>
              </a:tabLst>
            </a:pPr>
            <a:r>
              <a:rPr lang="en-US" sz="2000" b="0" u="none" strike="noStrike">
                <a:solidFill>
                  <a:schemeClr val="dk1"/>
                </a:solidFill>
                <a:effectLst/>
                <a:uFillTx/>
                <a:latin typeface="Times New Roman"/>
                <a:ea typeface="Times New Roman"/>
              </a:rPr>
              <a:t>Inputs come from text, audio, images → unstructured &amp; multilingual.</a:t>
            </a:r>
            <a:endParaRPr lang="en-US" sz="2000" b="0" u="none" strike="noStrike">
              <a:solidFill>
                <a:srgbClr val="000000"/>
              </a:solidFill>
              <a:effectLst/>
              <a:uFillTx/>
              <a:latin typeface="Calibri"/>
            </a:endParaRPr>
          </a:p>
          <a:p>
            <a:pPr marL="343080" indent="-190440" algn="l" defTabSz="914400">
              <a:lnSpc>
                <a:spcPct val="100000"/>
              </a:lnSpc>
              <a:buNone/>
              <a:tabLst>
                <a:tab pos="0" algn="l"/>
              </a:tabLst>
            </a:pPr>
            <a:endParaRPr lang="en-US" sz="2000" b="0" u="none" strike="noStrike">
              <a:solidFill>
                <a:srgbClr val="000000"/>
              </a:solidFill>
              <a:effectLst/>
              <a:uFillTx/>
              <a:latin typeface="Calibri"/>
            </a:endParaRPr>
          </a:p>
          <a:p>
            <a:pPr marL="343080" indent="-343080" algn="l" defTabSz="914400">
              <a:lnSpc>
                <a:spcPct val="100000"/>
              </a:lnSpc>
              <a:buClr>
                <a:srgbClr val="000000"/>
              </a:buClr>
              <a:buFont typeface="Arial"/>
              <a:buChar char="•"/>
              <a:tabLst>
                <a:tab pos="0" algn="l"/>
              </a:tabLst>
            </a:pPr>
            <a:r>
              <a:rPr lang="en-US" sz="2000" b="0" u="none" strike="noStrike">
                <a:solidFill>
                  <a:schemeClr val="dk1"/>
                </a:solidFill>
                <a:effectLst/>
                <a:uFillTx/>
                <a:latin typeface="Times New Roman"/>
                <a:ea typeface="Times New Roman"/>
              </a:rPr>
              <a:t>Manual triage causes 2–3 days delays &amp; 30 % mis-routing.</a:t>
            </a:r>
            <a:endParaRPr lang="en-US" sz="2000" b="0" u="none" strike="noStrike">
              <a:solidFill>
                <a:srgbClr val="000000"/>
              </a:solidFill>
              <a:effectLst/>
              <a:uFillTx/>
              <a:latin typeface="Calibri"/>
            </a:endParaRPr>
          </a:p>
          <a:p>
            <a:pPr marL="343080" indent="-190440" algn="l" defTabSz="914400">
              <a:lnSpc>
                <a:spcPct val="100000"/>
              </a:lnSpc>
              <a:buNone/>
              <a:tabLst>
                <a:tab pos="0" algn="l"/>
              </a:tabLst>
            </a:pPr>
            <a:endParaRPr lang="en-US" sz="2000" b="0" u="none" strike="noStrike">
              <a:solidFill>
                <a:srgbClr val="000000"/>
              </a:solidFill>
              <a:effectLst/>
              <a:uFillTx/>
              <a:latin typeface="Calibri"/>
            </a:endParaRPr>
          </a:p>
          <a:p>
            <a:pPr marL="343080" indent="-343080" algn="l" defTabSz="914400">
              <a:lnSpc>
                <a:spcPct val="100000"/>
              </a:lnSpc>
              <a:buClr>
                <a:srgbClr val="000000"/>
              </a:buClr>
              <a:buFont typeface="Arial"/>
              <a:buChar char="•"/>
              <a:tabLst>
                <a:tab pos="0" algn="l"/>
              </a:tabLst>
            </a:pPr>
            <a:r>
              <a:rPr lang="en-US" sz="2000" b="0" u="none" strike="noStrike">
                <a:solidFill>
                  <a:schemeClr val="dk1"/>
                </a:solidFill>
                <a:effectLst/>
                <a:uFillTx/>
                <a:latin typeface="Times New Roman"/>
                <a:ea typeface="Times New Roman"/>
              </a:rPr>
              <a:t>There is a need for an automated, accurate, and scalable system to classify &amp; route issues in real time</a:t>
            </a:r>
            <a:r>
              <a:rPr lang="en-US" sz="1600" b="0" u="none" strike="noStrike">
                <a:solidFill>
                  <a:schemeClr val="dk1"/>
                </a:solidFill>
                <a:effectLst/>
                <a:uFillTx/>
                <a:latin typeface="Arial"/>
                <a:ea typeface="Arial"/>
              </a:rPr>
              <a:t>.</a:t>
            </a:r>
            <a:endParaRPr lang="en-US" sz="1600" b="0" u="none" strike="noStrike">
              <a:solidFill>
                <a:srgbClr val="000000"/>
              </a:solidFill>
              <a:effectLst/>
              <a:uFillTx/>
              <a:latin typeface="Calibri"/>
            </a:endParaRPr>
          </a:p>
          <a:p>
            <a:pPr indent="0" algn="l" defTabSz="914400">
              <a:lnSpc>
                <a:spcPct val="100000"/>
              </a:lnSpc>
              <a:spcBef>
                <a:spcPts val="1899"/>
              </a:spcBef>
              <a:buNone/>
              <a:tabLst>
                <a:tab pos="592560" algn="l"/>
              </a:tabLst>
            </a:pPr>
            <a:endParaRPr lang="en-US" sz="2000" b="0" u="none" strike="noStrike">
              <a:solidFill>
                <a:srgbClr val="000000"/>
              </a:solidFill>
              <a:effectLst/>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IN" sz="3200" b="0" u="none" strike="noStrike" spc="-11">
                <a:solidFill>
                  <a:schemeClr val="lt1"/>
                </a:solidFill>
                <a:effectLst/>
                <a:uFillTx/>
                <a:latin typeface="Cambria"/>
                <a:ea typeface="Cambria"/>
              </a:rPr>
              <a:t>Problem</a:t>
            </a:r>
            <a:r>
              <a:rPr lang="en-IN" sz="3200" b="0" u="none" strike="noStrike" spc="-113">
                <a:solidFill>
                  <a:schemeClr val="lt1"/>
                </a:solidFill>
                <a:effectLst/>
                <a:uFillTx/>
                <a:latin typeface="Cambria"/>
                <a:ea typeface="Cambria"/>
              </a:rPr>
              <a:t> </a:t>
            </a:r>
            <a:r>
              <a:rPr lang="en-IN" sz="3200" b="0" u="none" strike="noStrike" spc="-11">
                <a:solidFill>
                  <a:schemeClr val="lt1"/>
                </a:solidFill>
                <a:effectLst/>
                <a:uFillTx/>
                <a:latin typeface="Cambria"/>
                <a:ea typeface="Cambria"/>
              </a:rPr>
              <a:t>analysis and design</a:t>
            </a:r>
            <a:endParaRPr lang="en-US" sz="3200" b="0" u="none" strike="noStrike">
              <a:solidFill>
                <a:srgbClr val="000000"/>
              </a:solidFill>
              <a:effectLst/>
              <a:uFillTx/>
              <a:latin typeface="Calibri"/>
            </a:endParaRPr>
          </a:p>
        </p:txBody>
      </p:sp>
      <p:sp>
        <p:nvSpPr>
          <p:cNvPr id="80" name="PlaceHolder 2"/>
          <p:cNvSpPr>
            <a:spLocks noGrp="1"/>
          </p:cNvSpPr>
          <p:nvPr>
            <p:ph type="dt" idx="37"/>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D29980B8-0315-416D-A94E-3593FB9C9026}"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81" name="PlaceHolder 3"/>
          <p:cNvSpPr>
            <a:spLocks noGrp="1"/>
          </p:cNvSpPr>
          <p:nvPr>
            <p:ph type="ftr" idx="38"/>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82" name="PlaceHolder 4"/>
          <p:cNvSpPr>
            <a:spLocks noGrp="1"/>
          </p:cNvSpPr>
          <p:nvPr>
            <p:ph type="sldNum" idx="39"/>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9D5A69D4-05C8-403E-87F2-04D4AA6AA109}" type="slidenum">
              <a:rPr lang="en-US" sz="1600" b="1" u="none" strike="noStrike" spc="-51">
                <a:solidFill>
                  <a:srgbClr val="888888"/>
                </a:solidFill>
                <a:effectLst/>
                <a:uFillTx/>
                <a:latin typeface="Cambria"/>
              </a:rPr>
              <a:t>8</a:t>
            </a:fld>
            <a:endParaRPr lang="en-US" sz="1600" b="0" u="none" strike="noStrike">
              <a:solidFill>
                <a:srgbClr val="000000"/>
              </a:solidFill>
              <a:effectLst/>
              <a:uFillTx/>
              <a:latin typeface="Times New Roman"/>
            </a:endParaRPr>
          </a:p>
        </p:txBody>
      </p:sp>
      <p:sp>
        <p:nvSpPr>
          <p:cNvPr id="83" name="PlaceHolder 5"/>
          <p:cNvSpPr>
            <a:spLocks noGrp="1"/>
          </p:cNvSpPr>
          <p:nvPr>
            <p:ph/>
          </p:nvPr>
        </p:nvSpPr>
        <p:spPr>
          <a:xfrm>
            <a:off x="990720" y="1888920"/>
            <a:ext cx="8457840" cy="3079800"/>
          </a:xfrm>
          <a:prstGeom prst="rect">
            <a:avLst/>
          </a:prstGeom>
          <a:noFill/>
          <a:ln w="0">
            <a:noFill/>
          </a:ln>
        </p:spPr>
        <p:txBody>
          <a:bodyPr lIns="91440" tIns="45720" rIns="91440" bIns="45720" numCol="1" spcCol="0" anchor="ctr">
            <a:spAutoFit/>
          </a:bodyPr>
          <a:lstStyle/>
          <a:p>
            <a:pPr indent="0" algn="just" defTabSz="914400">
              <a:lnSpc>
                <a:spcPct val="100000"/>
              </a:lnSpc>
              <a:buNone/>
              <a:tabLst>
                <a:tab pos="0" algn="l"/>
              </a:tabLst>
            </a:pPr>
            <a:endParaRPr lang="en-US" sz="2000" b="0" u="none" strike="noStrike">
              <a:solidFill>
                <a:srgbClr val="000000"/>
              </a:solidFill>
              <a:effectLst/>
              <a:uFillTx/>
              <a:latin typeface="Calibri"/>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Automate complaint triage and department routing using AI </a:t>
            </a:r>
            <a:endParaRPr lang="en-US" sz="2000" b="0" u="none" strike="noStrike">
              <a:solidFill>
                <a:srgbClr val="000000"/>
              </a:solidFill>
              <a:effectLst/>
              <a:uFillTx/>
              <a:latin typeface="Calibri"/>
            </a:endParaRPr>
          </a:p>
          <a:p>
            <a:pPr indent="0" algn="just" defTabSz="914400">
              <a:lnSpc>
                <a:spcPct val="100000"/>
              </a:lnSpc>
              <a:buNone/>
              <a:tabLst>
                <a:tab pos="0" algn="l"/>
              </a:tabLst>
            </a:pPr>
            <a:endParaRPr lang="en-US" sz="2000" b="0" u="none" strike="noStrike">
              <a:solidFill>
                <a:srgbClr val="000000"/>
              </a:solidFill>
              <a:effectLst/>
              <a:uFillTx/>
              <a:latin typeface="Calibri"/>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Support multimodal inputs — text, audio, and image </a:t>
            </a:r>
            <a:endParaRPr lang="en-US" sz="2000" b="0" u="none" strike="noStrike">
              <a:solidFill>
                <a:srgbClr val="000000"/>
              </a:solidFill>
              <a:effectLst/>
              <a:uFillTx/>
              <a:latin typeface="Calibri"/>
            </a:endParaRPr>
          </a:p>
          <a:p>
            <a:pPr indent="0" algn="just" defTabSz="914400">
              <a:lnSpc>
                <a:spcPct val="100000"/>
              </a:lnSpc>
              <a:buNone/>
              <a:tabLst>
                <a:tab pos="0" algn="l"/>
              </a:tabLst>
            </a:pPr>
            <a:endParaRPr lang="en-US" sz="2000" b="0" u="none" strike="noStrike">
              <a:solidFill>
                <a:srgbClr val="000000"/>
              </a:solidFill>
              <a:effectLst/>
              <a:uFillTx/>
              <a:latin typeface="Calibri"/>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Generate structured JSON tickets for easy database insertion</a:t>
            </a:r>
            <a:endParaRPr lang="en-US" sz="2000" b="0" u="none" strike="noStrike">
              <a:solidFill>
                <a:srgbClr val="000000"/>
              </a:solidFill>
              <a:effectLst/>
              <a:uFillTx/>
              <a:latin typeface="Calibri"/>
            </a:endParaRPr>
          </a:p>
          <a:p>
            <a:pPr indent="0" algn="just" defTabSz="914400">
              <a:lnSpc>
                <a:spcPct val="100000"/>
              </a:lnSpc>
              <a:buNone/>
              <a:tabLst>
                <a:tab pos="0" algn="l"/>
              </a:tabLst>
            </a:pPr>
            <a:endParaRPr lang="en-US" sz="2000" b="0" u="none" strike="noStrike">
              <a:solidFill>
                <a:srgbClr val="000000"/>
              </a:solidFill>
              <a:effectLst/>
              <a:uFillTx/>
              <a:latin typeface="Calibri"/>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Provide real-time analytics dashboard for city officials </a:t>
            </a:r>
            <a:endParaRPr lang="en-US" sz="2000" b="0" u="none" strike="noStrike">
              <a:solidFill>
                <a:srgbClr val="000000"/>
              </a:solidFill>
              <a:effectLst/>
              <a:uFillTx/>
              <a:latin typeface="Calibri"/>
            </a:endParaRPr>
          </a:p>
          <a:p>
            <a:pPr indent="0" algn="just" defTabSz="914400">
              <a:lnSpc>
                <a:spcPct val="100000"/>
              </a:lnSpc>
              <a:buNone/>
              <a:tabLst>
                <a:tab pos="0" algn="l"/>
              </a:tabLst>
            </a:pPr>
            <a:endParaRPr lang="en-US" sz="2000" b="0" u="none" strike="noStrike">
              <a:solidFill>
                <a:srgbClr val="000000"/>
              </a:solidFill>
              <a:effectLst/>
              <a:uFillTx/>
              <a:latin typeface="Calibri"/>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Support continuous feedback loop for model improvement </a:t>
            </a:r>
            <a:endParaRPr lang="en-US" sz="2000" b="0" u="none" strike="noStrike">
              <a:solidFill>
                <a:srgbClr val="000000"/>
              </a:solidFill>
              <a:effectLst/>
              <a:uFillTx/>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Cambria"/>
                <a:ea typeface="Cambria"/>
              </a:rPr>
              <a:t>System</a:t>
            </a:r>
            <a:r>
              <a:rPr lang="en-US" sz="3200" b="0" u="none" strike="noStrike" spc="-60">
                <a:solidFill>
                  <a:schemeClr val="lt1"/>
                </a:solidFill>
                <a:effectLst/>
                <a:uFillTx/>
                <a:latin typeface="Cambria"/>
                <a:ea typeface="Cambria"/>
              </a:rPr>
              <a:t> </a:t>
            </a:r>
            <a:r>
              <a:rPr lang="en-US" sz="3200" b="0" u="none" strike="noStrike">
                <a:solidFill>
                  <a:schemeClr val="lt1"/>
                </a:solidFill>
                <a:effectLst/>
                <a:uFillTx/>
                <a:latin typeface="Cambria"/>
                <a:ea typeface="Cambria"/>
              </a:rPr>
              <a:t>design</a:t>
            </a:r>
            <a:r>
              <a:rPr lang="en-US" sz="3200" b="0" u="none" strike="noStrike" spc="-54">
                <a:solidFill>
                  <a:schemeClr val="lt1"/>
                </a:solidFill>
                <a:effectLst/>
                <a:uFillTx/>
                <a:latin typeface="Cambria"/>
                <a:ea typeface="Cambria"/>
              </a:rPr>
              <a:t> </a:t>
            </a:r>
            <a:r>
              <a:rPr lang="en-US" sz="3200" b="0" u="none" strike="noStrike">
                <a:solidFill>
                  <a:schemeClr val="lt1"/>
                </a:solidFill>
                <a:effectLst/>
                <a:uFillTx/>
                <a:latin typeface="Cambria"/>
                <a:ea typeface="Cambria"/>
              </a:rPr>
              <a:t>&amp;</a:t>
            </a:r>
            <a:r>
              <a:rPr lang="en-US" sz="3200" b="0" u="none" strike="noStrike" spc="-60">
                <a:solidFill>
                  <a:schemeClr val="lt1"/>
                </a:solidFill>
                <a:effectLst/>
                <a:uFillTx/>
                <a:latin typeface="Cambria"/>
                <a:ea typeface="Cambria"/>
              </a:rPr>
              <a:t> </a:t>
            </a:r>
            <a:r>
              <a:rPr lang="en-US" sz="3200" b="0" u="none" strike="noStrike" spc="-11">
                <a:solidFill>
                  <a:schemeClr val="lt1"/>
                </a:solidFill>
                <a:effectLst/>
                <a:uFillTx/>
                <a:latin typeface="Cambria"/>
                <a:ea typeface="Cambria"/>
              </a:rPr>
              <a:t>Methodology</a:t>
            </a:r>
            <a:endParaRPr lang="en-US" sz="3200" b="0" u="none" strike="noStrike">
              <a:solidFill>
                <a:srgbClr val="000000"/>
              </a:solidFill>
              <a:effectLst/>
              <a:uFillTx/>
              <a:latin typeface="Calibri"/>
            </a:endParaRPr>
          </a:p>
        </p:txBody>
      </p:sp>
      <p:sp>
        <p:nvSpPr>
          <p:cNvPr id="85" name="PlaceHolder 2"/>
          <p:cNvSpPr>
            <a:spLocks noGrp="1"/>
          </p:cNvSpPr>
          <p:nvPr>
            <p:ph type="dt" idx="40"/>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51442A4D-7AC9-4BBF-AFF8-5501F68CF739}"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86" name="PlaceHolder 3"/>
          <p:cNvSpPr>
            <a:spLocks noGrp="1"/>
          </p:cNvSpPr>
          <p:nvPr>
            <p:ph type="ftr" idx="41"/>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87" name="PlaceHolder 4"/>
          <p:cNvSpPr>
            <a:spLocks noGrp="1"/>
          </p:cNvSpPr>
          <p:nvPr>
            <p:ph type="sldNum" idx="42"/>
          </p:nvPr>
        </p:nvSpPr>
        <p:spPr>
          <a:xfrm>
            <a:off x="11841120" y="6441120"/>
            <a:ext cx="20916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A138991F-CE79-4501-9B5E-20B45C7A7CA1}" type="slidenum">
              <a:rPr lang="en-US" sz="1600" b="1" u="none" strike="noStrike" spc="-51">
                <a:solidFill>
                  <a:srgbClr val="888888"/>
                </a:solidFill>
                <a:effectLst/>
                <a:uFillTx/>
                <a:latin typeface="Cambria"/>
              </a:rPr>
              <a:t>9</a:t>
            </a:fld>
            <a:endParaRPr lang="en-US" sz="1600" b="0" u="none" strike="noStrike">
              <a:solidFill>
                <a:srgbClr val="000000"/>
              </a:solidFill>
              <a:effectLst/>
              <a:uFillTx/>
              <a:latin typeface="Times New Roman"/>
            </a:endParaRPr>
          </a:p>
        </p:txBody>
      </p:sp>
      <p:pic>
        <p:nvPicPr>
          <p:cNvPr id="88" name="Picture 81"/>
          <p:cNvPicPr/>
          <p:nvPr/>
        </p:nvPicPr>
        <p:blipFill>
          <a:blip r:embed="rId2"/>
          <a:stretch/>
        </p:blipFill>
        <p:spPr>
          <a:xfrm>
            <a:off x="1066680" y="1371600"/>
            <a:ext cx="10058040" cy="479304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a:solidFill>
                  <a:schemeClr val="lt1"/>
                </a:solidFill>
                <a:effectLst/>
                <a:uFillTx/>
                <a:latin typeface="Times New Roman"/>
                <a:ea typeface="Cambria"/>
              </a:rPr>
              <a:t>Implementation</a:t>
            </a:r>
            <a:endParaRPr lang="en-US" sz="3200" b="0" u="none" strike="noStrike">
              <a:solidFill>
                <a:srgbClr val="000000"/>
              </a:solidFill>
              <a:effectLst/>
              <a:uFillTx/>
              <a:latin typeface="Calibri"/>
            </a:endParaRPr>
          </a:p>
        </p:txBody>
      </p:sp>
      <p:sp>
        <p:nvSpPr>
          <p:cNvPr id="95" name="PlaceHolder 2"/>
          <p:cNvSpPr>
            <a:spLocks noGrp="1"/>
          </p:cNvSpPr>
          <p:nvPr>
            <p:ph type="dt" idx="46"/>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AC671550-3A11-445C-9D4A-952F7FDB9882}"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96" name="PlaceHolder 3"/>
          <p:cNvSpPr>
            <a:spLocks noGrp="1"/>
          </p:cNvSpPr>
          <p:nvPr>
            <p:ph type="ftr" idx="47"/>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97" name="PlaceHolder 4"/>
          <p:cNvSpPr>
            <a:spLocks noGrp="1"/>
          </p:cNvSpPr>
          <p:nvPr>
            <p:ph type="sldNum" idx="48"/>
          </p:nvPr>
        </p:nvSpPr>
        <p:spPr>
          <a:xfrm>
            <a:off x="11841120" y="6441120"/>
            <a:ext cx="35028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76916BB2-DB70-462E-A871-A5302E0D4B87}" type="slidenum">
              <a:rPr lang="en-US" sz="1600" b="1" u="none" strike="noStrike" spc="-51">
                <a:solidFill>
                  <a:srgbClr val="888888"/>
                </a:solidFill>
                <a:effectLst/>
                <a:uFillTx/>
                <a:latin typeface="Cambria"/>
              </a:rPr>
              <a:t>10</a:t>
            </a:fld>
            <a:endParaRPr lang="en-US" sz="1600" b="0" u="none" strike="noStrike">
              <a:solidFill>
                <a:srgbClr val="000000"/>
              </a:solidFill>
              <a:effectLst/>
              <a:uFillTx/>
              <a:latin typeface="Times New Roman"/>
            </a:endParaRPr>
          </a:p>
        </p:txBody>
      </p:sp>
      <p:sp>
        <p:nvSpPr>
          <p:cNvPr id="98" name="TextBox 2"/>
          <p:cNvSpPr/>
          <p:nvPr/>
        </p:nvSpPr>
        <p:spPr>
          <a:xfrm>
            <a:off x="609480" y="1981080"/>
            <a:ext cx="11154960" cy="316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2000" b="0" u="none" strike="noStrike">
                <a:solidFill>
                  <a:srgbClr val="000000"/>
                </a:solidFill>
                <a:effectLst/>
                <a:uFillTx/>
                <a:latin typeface="Times New Roman"/>
              </a:rPr>
              <a:t>The AI Civic Triage Assistant was implemented as a full-stack web application using Next.js for both frontend and backend development. The user interface was designed using React and styled with Tailwind CSS to create a responsive and user-friendly layout. The system allows users to submit civic complaints through an online form, which is validated before being sent to the backend via API routes. The backend processes the complaint and sends the text to an AI model for classification and triage. The AI analyzes the complaint and categorizes it into appropriate departments such as water supply, road maintenance, garbage management, or electricity services. All complaint data, along with the AI-generated category and status, is securely stored.The system ensures proper data handling, structured API communication, and scalable architecture, enabling efficient complaint management and intelligent civic issue routing.</a:t>
            </a:r>
            <a:endParaRPr lang="en-US" sz="2000" b="0" u="none" strike="noStrike">
              <a:solidFill>
                <a:srgbClr val="000000"/>
              </a:solidFill>
              <a:effectLst/>
              <a:uFillTx/>
              <a:latin typeface="Arial"/>
            </a:endParaRPr>
          </a:p>
          <a:p>
            <a:pPr>
              <a:lnSpc>
                <a:spcPct val="100000"/>
              </a:lnSpc>
            </a:pPr>
            <a:endParaRPr lang="en-US" sz="20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Cambria"/>
                <a:ea typeface="Cambria"/>
              </a:rPr>
              <a:t>Testing and validation</a:t>
            </a:r>
            <a:endParaRPr lang="en-US" sz="3200" b="0" u="none" strike="noStrike">
              <a:solidFill>
                <a:srgbClr val="000000"/>
              </a:solidFill>
              <a:effectLst/>
              <a:uFillTx/>
              <a:latin typeface="Calibri"/>
            </a:endParaRPr>
          </a:p>
        </p:txBody>
      </p:sp>
      <p:sp>
        <p:nvSpPr>
          <p:cNvPr id="100" name="PlaceHolder 2"/>
          <p:cNvSpPr>
            <a:spLocks noGrp="1"/>
          </p:cNvSpPr>
          <p:nvPr>
            <p:ph type="dt" idx="49"/>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9E3C3DA5-1904-47C6-94CA-A5C4F1F7B17D}"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01" name="PlaceHolder 3"/>
          <p:cNvSpPr>
            <a:spLocks noGrp="1"/>
          </p:cNvSpPr>
          <p:nvPr>
            <p:ph type="ftr" idx="50"/>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02" name="PlaceHolder 4"/>
          <p:cNvSpPr>
            <a:spLocks noGrp="1"/>
          </p:cNvSpPr>
          <p:nvPr>
            <p:ph type="sldNum" idx="51"/>
          </p:nvPr>
        </p:nvSpPr>
        <p:spPr>
          <a:xfrm>
            <a:off x="11841120" y="6441120"/>
            <a:ext cx="35028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79C82B88-DA17-4133-B598-3CC8B8339A3C}" type="slidenum">
              <a:rPr lang="en-US" sz="1600" b="1" u="none" strike="noStrike" spc="-51">
                <a:solidFill>
                  <a:srgbClr val="888888"/>
                </a:solidFill>
                <a:effectLst/>
                <a:uFillTx/>
                <a:latin typeface="Cambria"/>
              </a:rPr>
              <a:t>11</a:t>
            </a:fld>
            <a:endParaRPr lang="en-US" sz="1600" b="0" u="none" strike="noStrike">
              <a:solidFill>
                <a:srgbClr val="000000"/>
              </a:solidFill>
              <a:effectLst/>
              <a:uFillTx/>
              <a:latin typeface="Times New Roman"/>
            </a:endParaRPr>
          </a:p>
        </p:txBody>
      </p:sp>
      <p:sp>
        <p:nvSpPr>
          <p:cNvPr id="103" name="TextBox 2"/>
          <p:cNvSpPr/>
          <p:nvPr/>
        </p:nvSpPr>
        <p:spPr>
          <a:xfrm>
            <a:off x="518520" y="1365938"/>
            <a:ext cx="10587284" cy="3996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lnSpc>
                <a:spcPct val="100000"/>
              </a:lnSpc>
            </a:pPr>
            <a:r>
              <a:rPr lang="en-US" sz="2000" b="0" u="none" strike="noStrike">
                <a:solidFill>
                  <a:srgbClr val="000000"/>
                </a:solidFill>
                <a:effectLst/>
                <a:uFillTx/>
                <a:latin typeface="Times New Roman"/>
              </a:rPr>
              <a:t>The AI Civic Triage Assistant was implemented as a full-stack web application using Next.js for both</a:t>
            </a:r>
            <a:endParaRPr lang="en-US" sz="2000" b="0" u="none" strike="noStrike">
              <a:solidFill>
                <a:srgbClr val="000000"/>
              </a:solidFill>
              <a:effectLst/>
              <a:uFillTx/>
              <a:latin typeface="Arial"/>
            </a:endParaRPr>
          </a:p>
        </p:txBody>
      </p:sp>
      <p:graphicFrame>
        <p:nvGraphicFramePr>
          <p:cNvPr id="2" name="Table 1">
            <a:extLst>
              <a:ext uri="{FF2B5EF4-FFF2-40B4-BE49-F238E27FC236}">
                <a16:creationId xmlns:a16="http://schemas.microsoft.com/office/drawing/2014/main" id="{67208B41-D243-A665-B23E-BD0B406094AB}"/>
              </a:ext>
            </a:extLst>
          </p:cNvPr>
          <p:cNvGraphicFramePr>
            <a:graphicFrameLocks noGrp="1"/>
          </p:cNvGraphicFramePr>
          <p:nvPr>
            <p:extLst>
              <p:ext uri="{D42A27DB-BD31-4B8C-83A1-F6EECF244321}">
                <p14:modId xmlns:p14="http://schemas.microsoft.com/office/powerpoint/2010/main" val="1734932471"/>
              </p:ext>
            </p:extLst>
          </p:nvPr>
        </p:nvGraphicFramePr>
        <p:xfrm>
          <a:off x="798021" y="1961804"/>
          <a:ext cx="10587282" cy="4139737"/>
        </p:xfrm>
        <a:graphic>
          <a:graphicData uri="http://schemas.openxmlformats.org/drawingml/2006/table">
            <a:tbl>
              <a:tblPr firstRow="1" firstCol="1" bandRow="1">
                <a:tableStyleId>{5C22544A-7EE6-4342-B048-85BDC9FD1C3A}</a:tableStyleId>
              </a:tblPr>
              <a:tblGrid>
                <a:gridCol w="677540">
                  <a:extLst>
                    <a:ext uri="{9D8B030D-6E8A-4147-A177-3AD203B41FA5}">
                      <a16:colId xmlns:a16="http://schemas.microsoft.com/office/drawing/2014/main" val="2005163622"/>
                    </a:ext>
                  </a:extLst>
                </a:gridCol>
                <a:gridCol w="2714688">
                  <a:extLst>
                    <a:ext uri="{9D8B030D-6E8A-4147-A177-3AD203B41FA5}">
                      <a16:colId xmlns:a16="http://schemas.microsoft.com/office/drawing/2014/main" val="3686314058"/>
                    </a:ext>
                  </a:extLst>
                </a:gridCol>
                <a:gridCol w="2714688">
                  <a:extLst>
                    <a:ext uri="{9D8B030D-6E8A-4147-A177-3AD203B41FA5}">
                      <a16:colId xmlns:a16="http://schemas.microsoft.com/office/drawing/2014/main" val="1100134877"/>
                    </a:ext>
                  </a:extLst>
                </a:gridCol>
                <a:gridCol w="2444350">
                  <a:extLst>
                    <a:ext uri="{9D8B030D-6E8A-4147-A177-3AD203B41FA5}">
                      <a16:colId xmlns:a16="http://schemas.microsoft.com/office/drawing/2014/main" val="2378873131"/>
                    </a:ext>
                  </a:extLst>
                </a:gridCol>
                <a:gridCol w="2036016">
                  <a:extLst>
                    <a:ext uri="{9D8B030D-6E8A-4147-A177-3AD203B41FA5}">
                      <a16:colId xmlns:a16="http://schemas.microsoft.com/office/drawing/2014/main" val="87074713"/>
                    </a:ext>
                  </a:extLst>
                </a:gridCol>
              </a:tblGrid>
              <a:tr h="233269">
                <a:tc>
                  <a:txBody>
                    <a:bodyPr/>
                    <a:lstStyle/>
                    <a:p>
                      <a:pPr marL="0" marR="0" algn="ctr">
                        <a:lnSpc>
                          <a:spcPct val="115000"/>
                        </a:lnSpc>
                        <a:spcAft>
                          <a:spcPts val="1000"/>
                        </a:spcAft>
                        <a:buNone/>
                      </a:pPr>
                      <a:r>
                        <a:rPr lang="en-US" sz="1200">
                          <a:effectLst/>
                        </a:rPr>
                        <a:t>TC#</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15000"/>
                        </a:lnSpc>
                        <a:spcAft>
                          <a:spcPts val="1000"/>
                        </a:spcAft>
                        <a:buNone/>
                      </a:pPr>
                      <a:r>
                        <a:rPr lang="en-US" sz="1200">
                          <a:effectLst/>
                        </a:rPr>
                        <a:t>Test Case Description</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15000"/>
                        </a:lnSpc>
                        <a:spcAft>
                          <a:spcPts val="1000"/>
                        </a:spcAft>
                        <a:buNone/>
                      </a:pPr>
                      <a:r>
                        <a:rPr lang="en-US" sz="1200">
                          <a:effectLst/>
                        </a:rPr>
                        <a:t>Input</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15000"/>
                        </a:lnSpc>
                        <a:spcAft>
                          <a:spcPts val="1000"/>
                        </a:spcAft>
                        <a:buNone/>
                      </a:pPr>
                      <a:r>
                        <a:rPr lang="en-US" sz="1200">
                          <a:effectLst/>
                        </a:rPr>
                        <a:t>Expected Output</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gn="ctr">
                        <a:lnSpc>
                          <a:spcPct val="115000"/>
                        </a:lnSpc>
                        <a:spcAft>
                          <a:spcPts val="1000"/>
                        </a:spcAft>
                        <a:buNone/>
                      </a:pPr>
                      <a:r>
                        <a:rPr lang="en-US" sz="1200">
                          <a:effectLst/>
                        </a:rPr>
                        <a:t>Status</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805230250"/>
                  </a:ext>
                </a:extLst>
              </a:tr>
              <a:tr h="976617">
                <a:tc>
                  <a:txBody>
                    <a:bodyPr/>
                    <a:lstStyle/>
                    <a:p>
                      <a:pPr marL="0" marR="0">
                        <a:lnSpc>
                          <a:spcPct val="115000"/>
                        </a:lnSpc>
                        <a:spcAft>
                          <a:spcPts val="1000"/>
                        </a:spcAft>
                        <a:buNone/>
                      </a:pPr>
                      <a:r>
                        <a:rPr lang="en-US" sz="1200">
                          <a:effectLst/>
                        </a:rPr>
                        <a:t>TC-01</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Text complaint classification - road damage</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Text: "Large pothole on MG Road near Brigade junction"</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Dept: BBMP_Roads, Urgency: Medium, Confidence &gt; 0.85</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PASS</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98011870"/>
                  </a:ext>
                </a:extLst>
              </a:tr>
              <a:tr h="976617">
                <a:tc>
                  <a:txBody>
                    <a:bodyPr/>
                    <a:lstStyle/>
                    <a:p>
                      <a:pPr marL="0" marR="0">
                        <a:lnSpc>
                          <a:spcPct val="115000"/>
                        </a:lnSpc>
                        <a:spcAft>
                          <a:spcPts val="1000"/>
                        </a:spcAft>
                        <a:buNone/>
                      </a:pPr>
                      <a:r>
                        <a:rPr lang="en-US" sz="1200">
                          <a:effectLst/>
                        </a:rPr>
                        <a:t>TC-02</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Audio complaint transcription and routing</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WAV audio: "Water pipe burst in Indiranagar 5th cross"</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Transcription via Whisper, Dept: BWSSB, Urgency: High</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PASS</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26739962"/>
                  </a:ext>
                </a:extLst>
              </a:tr>
              <a:tr h="976617">
                <a:tc>
                  <a:txBody>
                    <a:bodyPr/>
                    <a:lstStyle/>
                    <a:p>
                      <a:pPr marL="0" marR="0">
                        <a:lnSpc>
                          <a:spcPct val="115000"/>
                        </a:lnSpc>
                        <a:spcAft>
                          <a:spcPts val="1000"/>
                        </a:spcAft>
                        <a:buNone/>
                      </a:pPr>
                      <a:r>
                        <a:rPr lang="en-US" sz="1200">
                          <a:effectLst/>
                        </a:rPr>
                        <a:t>TC-03</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Image complaint captioning and classification</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JPG: Overflowing garbage bin image</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Caption generated, Dept: BBMP_Solid_Waste, Urgency: Medium</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PASS</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225930431"/>
                  </a:ext>
                </a:extLst>
              </a:tr>
              <a:tr h="976617">
                <a:tc>
                  <a:txBody>
                    <a:bodyPr/>
                    <a:lstStyle/>
                    <a:p>
                      <a:pPr marL="0" marR="0">
                        <a:lnSpc>
                          <a:spcPct val="115000"/>
                        </a:lnSpc>
                        <a:spcAft>
                          <a:spcPts val="1000"/>
                        </a:spcAft>
                        <a:buNone/>
                      </a:pPr>
                      <a:r>
                        <a:rPr lang="en-US" sz="1200">
                          <a:effectLst/>
                        </a:rPr>
                        <a:t>TC-04</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Duplicate complaint detection</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Two text complaints about same pothole (cosine sim &gt; 0.85)</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a:effectLst/>
                        </a:rPr>
                        <a:t>Second complaint flagged as duplicate, linked to original ticket</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marL="0" marR="0">
                        <a:lnSpc>
                          <a:spcPct val="115000"/>
                        </a:lnSpc>
                        <a:spcAft>
                          <a:spcPts val="1000"/>
                        </a:spcAft>
                        <a:buNone/>
                      </a:pPr>
                      <a:r>
                        <a:rPr lang="en-US" sz="1200" dirty="0">
                          <a:effectLst/>
                        </a:rPr>
                        <a:t>PASS</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08015544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Results and discussion</a:t>
            </a:r>
            <a:endParaRPr lang="en-US" sz="3200" b="0" u="none" strike="noStrike">
              <a:solidFill>
                <a:srgbClr val="000000"/>
              </a:solidFill>
              <a:effectLst/>
              <a:uFillTx/>
              <a:latin typeface="Calibri"/>
            </a:endParaRPr>
          </a:p>
        </p:txBody>
      </p:sp>
      <p:sp>
        <p:nvSpPr>
          <p:cNvPr id="105" name="PlaceHolder 2"/>
          <p:cNvSpPr>
            <a:spLocks noGrp="1"/>
          </p:cNvSpPr>
          <p:nvPr>
            <p:ph type="dt" idx="52"/>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2EB8745D-7423-49EB-BD9B-E7694C786E2B}"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06" name="PlaceHolder 3"/>
          <p:cNvSpPr>
            <a:spLocks noGrp="1"/>
          </p:cNvSpPr>
          <p:nvPr>
            <p:ph type="ftr" idx="53"/>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07" name="PlaceHolder 4"/>
          <p:cNvSpPr>
            <a:spLocks noGrp="1"/>
          </p:cNvSpPr>
          <p:nvPr>
            <p:ph type="sldNum" idx="54"/>
          </p:nvPr>
        </p:nvSpPr>
        <p:spPr>
          <a:xfrm>
            <a:off x="11779560" y="6483240"/>
            <a:ext cx="46512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1EB87ADE-43A8-41B8-A05E-EA00C0BD37BD}" type="slidenum">
              <a:rPr lang="en-US" sz="1600" b="1" u="none" strike="noStrike" spc="-51">
                <a:solidFill>
                  <a:srgbClr val="888888"/>
                </a:solidFill>
                <a:effectLst/>
                <a:uFillTx/>
                <a:latin typeface="Cambria"/>
              </a:rPr>
              <a:t>12</a:t>
            </a:fld>
            <a:endParaRPr lang="en-US" sz="1600" b="0" u="none" strike="noStrike">
              <a:solidFill>
                <a:srgbClr val="000000"/>
              </a:solidFill>
              <a:effectLst/>
              <a:uFillTx/>
              <a:latin typeface="Times New Roman"/>
            </a:endParaRPr>
          </a:p>
        </p:txBody>
      </p:sp>
      <p:graphicFrame>
        <p:nvGraphicFramePr>
          <p:cNvPr id="108" name="Table 6"/>
          <p:cNvGraphicFramePr/>
          <p:nvPr/>
        </p:nvGraphicFramePr>
        <p:xfrm>
          <a:off x="791640" y="1206000"/>
          <a:ext cx="10613160" cy="2514600"/>
        </p:xfrm>
        <a:graphic>
          <a:graphicData uri="http://schemas.openxmlformats.org/drawingml/2006/table">
            <a:tbl>
              <a:tblPr/>
              <a:tblGrid>
                <a:gridCol w="3537720">
                  <a:extLst>
                    <a:ext uri="{9D8B030D-6E8A-4147-A177-3AD203B41FA5}">
                      <a16:colId xmlns:a16="http://schemas.microsoft.com/office/drawing/2014/main" val="20000"/>
                    </a:ext>
                  </a:extLst>
                </a:gridCol>
                <a:gridCol w="3537720">
                  <a:extLst>
                    <a:ext uri="{9D8B030D-6E8A-4147-A177-3AD203B41FA5}">
                      <a16:colId xmlns:a16="http://schemas.microsoft.com/office/drawing/2014/main" val="20001"/>
                    </a:ext>
                  </a:extLst>
                </a:gridCol>
                <a:gridCol w="3537720">
                  <a:extLst>
                    <a:ext uri="{9D8B030D-6E8A-4147-A177-3AD203B41FA5}">
                      <a16:colId xmlns:a16="http://schemas.microsoft.com/office/drawing/2014/main" val="20002"/>
                    </a:ext>
                  </a:extLst>
                </a:gridCol>
              </a:tblGrid>
              <a:tr h="502920">
                <a:tc>
                  <a:txBody>
                    <a:bodyPr/>
                    <a:lstStyle/>
                    <a:p>
                      <a:pPr>
                        <a:lnSpc>
                          <a:spcPct val="100000"/>
                        </a:lnSpc>
                      </a:pPr>
                      <a:r>
                        <a:rPr lang="en-IN" sz="1800" b="1" u="none" strike="noStrike">
                          <a:solidFill>
                            <a:schemeClr val="lt1"/>
                          </a:solidFill>
                          <a:effectLst/>
                          <a:uFillTx/>
                          <a:latin typeface="Calibri"/>
                        </a:rPr>
                        <a:t>Metric</a:t>
                      </a:r>
                      <a:endParaRPr lang="en-US" sz="18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a:lnSpc>
                          <a:spcPct val="100000"/>
                        </a:lnSpc>
                      </a:pPr>
                      <a:r>
                        <a:rPr lang="en-IN" sz="1800" b="1" u="none" strike="noStrike">
                          <a:solidFill>
                            <a:schemeClr val="lt1"/>
                          </a:solidFill>
                          <a:effectLst/>
                          <a:uFillTx/>
                          <a:latin typeface="Calibri"/>
                        </a:rPr>
                        <a:t>Before CivicFlow</a:t>
                      </a:r>
                      <a:endParaRPr lang="en-US" sz="18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a:lnSpc>
                          <a:spcPct val="100000"/>
                        </a:lnSpc>
                      </a:pPr>
                      <a:r>
                        <a:rPr lang="en-IN" sz="1800" b="1" u="none" strike="noStrike">
                          <a:solidFill>
                            <a:schemeClr val="lt1"/>
                          </a:solidFill>
                          <a:effectLst/>
                          <a:uFillTx/>
                          <a:latin typeface="Calibri"/>
                        </a:rPr>
                        <a:t>After CivicFlow</a:t>
                      </a:r>
                      <a:endParaRPr lang="en-US" sz="18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502920">
                <a:tc>
                  <a:txBody>
                    <a:bodyPr/>
                    <a:lstStyle/>
                    <a:p>
                      <a:pPr>
                        <a:lnSpc>
                          <a:spcPct val="100000"/>
                        </a:lnSpc>
                      </a:pPr>
                      <a:r>
                        <a:rPr lang="en-IN" sz="1800" b="0" u="none" strike="noStrike">
                          <a:solidFill>
                            <a:schemeClr val="dk1"/>
                          </a:solidFill>
                          <a:effectLst/>
                          <a:uFillTx/>
                          <a:latin typeface="Calibri"/>
                        </a:rPr>
                        <a:t>Triage Time</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nSpc>
                          <a:spcPct val="100000"/>
                        </a:lnSpc>
                      </a:pPr>
                      <a:r>
                        <a:rPr lang="en-IN" sz="1800" b="0" u="none" strike="noStrike">
                          <a:solidFill>
                            <a:schemeClr val="dk1"/>
                          </a:solidFill>
                          <a:effectLst/>
                          <a:uFillTx/>
                          <a:latin typeface="Calibri"/>
                        </a:rPr>
                        <a:t>2–3 days</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nSpc>
                          <a:spcPct val="100000"/>
                        </a:lnSpc>
                      </a:pPr>
                      <a:r>
                        <a:rPr lang="en-IN" sz="1800" b="0" u="none" strike="noStrike">
                          <a:solidFill>
                            <a:schemeClr val="dk1"/>
                          </a:solidFill>
                          <a:effectLst/>
                          <a:uFillTx/>
                          <a:latin typeface="Calibri"/>
                        </a:rPr>
                        <a:t>&lt; 3 seconds</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1"/>
                  </a:ext>
                </a:extLst>
              </a:tr>
              <a:tr h="502920">
                <a:tc>
                  <a:txBody>
                    <a:bodyPr/>
                    <a:lstStyle/>
                    <a:p>
                      <a:pPr>
                        <a:lnSpc>
                          <a:spcPct val="100000"/>
                        </a:lnSpc>
                      </a:pPr>
                      <a:r>
                        <a:rPr lang="en-IN" sz="1800" b="0" u="none" strike="noStrike">
                          <a:solidFill>
                            <a:schemeClr val="dk1"/>
                          </a:solidFill>
                          <a:effectLst/>
                          <a:uFillTx/>
                          <a:latin typeface="Calibri"/>
                        </a:rPr>
                        <a:t>Misrouting Rate</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nSpc>
                          <a:spcPct val="100000"/>
                        </a:lnSpc>
                      </a:pPr>
                      <a:r>
                        <a:rPr lang="en-IN" sz="1800" b="0" u="none" strike="noStrike">
                          <a:solidFill>
                            <a:schemeClr val="dk1"/>
                          </a:solidFill>
                          <a:effectLst/>
                          <a:uFillTx/>
                          <a:latin typeface="Calibri"/>
                        </a:rPr>
                        <a:t>~30%</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nSpc>
                          <a:spcPct val="100000"/>
                        </a:lnSpc>
                      </a:pPr>
                      <a:r>
                        <a:rPr lang="en-IN" sz="1800" b="0" u="none" strike="noStrike">
                          <a:solidFill>
                            <a:schemeClr val="dk1"/>
                          </a:solidFill>
                          <a:effectLst/>
                          <a:uFillTx/>
                          <a:latin typeface="Calibri"/>
                        </a:rPr>
                        <a:t>&lt; 15%</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r h="502920">
                <a:tc>
                  <a:txBody>
                    <a:bodyPr/>
                    <a:lstStyle/>
                    <a:p>
                      <a:pPr>
                        <a:lnSpc>
                          <a:spcPct val="100000"/>
                        </a:lnSpc>
                      </a:pPr>
                      <a:r>
                        <a:rPr lang="en-IN" sz="1800" b="0" u="none" strike="noStrike">
                          <a:solidFill>
                            <a:schemeClr val="dk1"/>
                          </a:solidFill>
                          <a:effectLst/>
                          <a:uFillTx/>
                          <a:latin typeface="Calibri"/>
                        </a:rPr>
                        <a:t>SLA Breaches</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a:lnSpc>
                          <a:spcPct val="100000"/>
                        </a:lnSpc>
                      </a:pPr>
                      <a:r>
                        <a:rPr lang="en-IN" sz="1800" b="0" u="none" strike="noStrike">
                          <a:solidFill>
                            <a:schemeClr val="dk1"/>
                          </a:solidFill>
                          <a:effectLst/>
                          <a:uFillTx/>
                          <a:latin typeface="Calibri"/>
                        </a:rPr>
                        <a:t>40%</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lstStyle/>
                    <a:p>
                      <a:pPr>
                        <a:lnSpc>
                          <a:spcPct val="100000"/>
                        </a:lnSpc>
                      </a:pPr>
                      <a:r>
                        <a:rPr lang="en-IN" sz="1800" b="0" u="none" strike="noStrike">
                          <a:solidFill>
                            <a:schemeClr val="dk1"/>
                          </a:solidFill>
                          <a:effectLst/>
                          <a:uFillTx/>
                          <a:latin typeface="Calibri"/>
                        </a:rPr>
                        <a:t>Real-time monitored</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3"/>
                  </a:ext>
                </a:extLst>
              </a:tr>
              <a:tr h="502920">
                <a:tc>
                  <a:txBody>
                    <a:bodyPr/>
                    <a:lstStyle/>
                    <a:p>
                      <a:pPr>
                        <a:lnSpc>
                          <a:spcPct val="100000"/>
                        </a:lnSpc>
                      </a:pPr>
                      <a:r>
                        <a:rPr lang="en-IN" sz="1800" b="0" u="none" strike="noStrike">
                          <a:solidFill>
                            <a:schemeClr val="dk1"/>
                          </a:solidFill>
                          <a:effectLst/>
                          <a:uFillTx/>
                          <a:latin typeface="Calibri"/>
                        </a:rPr>
                        <a:t>Routing Accuracy</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nSpc>
                          <a:spcPct val="100000"/>
                        </a:lnSpc>
                      </a:pPr>
                      <a:r>
                        <a:rPr lang="en-IN" sz="1800" b="0" u="none" strike="noStrike">
                          <a:solidFill>
                            <a:schemeClr val="dk1"/>
                          </a:solidFill>
                          <a:effectLst/>
                          <a:uFillTx/>
                          <a:latin typeface="Calibri"/>
                        </a:rPr>
                        <a:t>Manual, error-prone</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nSpc>
                          <a:spcPct val="100000"/>
                        </a:lnSpc>
                      </a:pPr>
                      <a:r>
                        <a:rPr lang="en-IN" sz="1800" b="0" u="none" strike="noStrike">
                          <a:solidFill>
                            <a:schemeClr val="dk1"/>
                          </a:solidFill>
                          <a:effectLst/>
                          <a:uFillTx/>
                          <a:latin typeface="Calibri"/>
                        </a:rPr>
                        <a:t>≥ 85%</a:t>
                      </a:r>
                      <a:endParaRPr lang="en-US" sz="18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4"/>
                  </a:ext>
                </a:extLst>
              </a:tr>
            </a:tbl>
          </a:graphicData>
        </a:graphic>
      </p:graphicFrame>
      <p:sp>
        <p:nvSpPr>
          <p:cNvPr id="109" name="Rectangle 1"/>
          <p:cNvSpPr/>
          <p:nvPr/>
        </p:nvSpPr>
        <p:spPr>
          <a:xfrm>
            <a:off x="759600" y="3886200"/>
            <a:ext cx="10857240" cy="1908000"/>
          </a:xfrm>
          <a:prstGeom prst="rect">
            <a:avLst/>
          </a:prstGeom>
          <a:noFill/>
          <a:ln w="0">
            <a:noFill/>
          </a:ln>
        </p:spPr>
        <p:style>
          <a:lnRef idx="0">
            <a:scrgbClr r="0" g="0" b="0"/>
          </a:lnRef>
          <a:fillRef idx="0">
            <a:scrgbClr r="0" g="0" b="0"/>
          </a:fillRef>
          <a:effectRef idx="0">
            <a:scrgbClr r="0" g="0" b="0"/>
          </a:effectRef>
          <a:fontRef idx="minor"/>
        </p:style>
        <p:txBody>
          <a:bodyPr wrap="none" numCol="1" spcCol="0" anchor="ctr">
            <a:spAutoFit/>
          </a:bodyPr>
          <a:lstStyle/>
          <a:p>
            <a:pPr defTabSz="914400">
              <a:lnSpc>
                <a:spcPct val="100000"/>
              </a:lnSpc>
              <a:tabLst>
                <a:tab pos="0" algn="l"/>
              </a:tabLst>
            </a:pPr>
            <a:endParaRPr lang="en-US" sz="18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RAG integration ensures tickets are aligned with the latest municipal policies and past case resolutions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Multimodal fusion significantly increases complaint coverage compared to text-only systems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Continuous feedback loop allows the model to </a:t>
            </a:r>
            <a:r>
              <a:rPr lang="en-US" sz="2000" b="1" u="none" strike="noStrike">
                <a:solidFill>
                  <a:schemeClr val="dk1"/>
                </a:solidFill>
                <a:effectLst/>
                <a:uFillTx/>
                <a:latin typeface="Times New Roman"/>
              </a:rPr>
              <a:t>self-improve</a:t>
            </a:r>
            <a:r>
              <a:rPr lang="en-US" sz="2000" b="0" u="none" strike="noStrike">
                <a:solidFill>
                  <a:schemeClr val="dk1"/>
                </a:solidFill>
                <a:effectLst/>
                <a:uFillTx/>
                <a:latin typeface="Times New Roman"/>
              </a:rPr>
              <a:t> from officer corrections nightly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Architecture proved </a:t>
            </a:r>
            <a:r>
              <a:rPr lang="en-US" sz="2000" b="1" u="none" strike="noStrike">
                <a:solidFill>
                  <a:schemeClr val="dk1"/>
                </a:solidFill>
                <a:effectLst/>
                <a:uFillTx/>
                <a:latin typeface="Times New Roman"/>
              </a:rPr>
              <a:t>scalable and replicable</a:t>
            </a:r>
            <a:r>
              <a:rPr lang="en-US" sz="2000" b="0" u="none" strike="noStrike">
                <a:solidFill>
                  <a:schemeClr val="dk1"/>
                </a:solidFill>
                <a:effectLst/>
                <a:uFillTx/>
                <a:latin typeface="Times New Roman"/>
              </a:rPr>
              <a:t> across different municipalities and institutions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Multilingual support removes language barriers and makes the system </a:t>
            </a:r>
            <a:r>
              <a:rPr lang="en-US" sz="2000" b="1" u="none" strike="noStrike">
                <a:solidFill>
                  <a:schemeClr val="dk1"/>
                </a:solidFill>
                <a:effectLst/>
                <a:uFillTx/>
                <a:latin typeface="Times New Roman"/>
              </a:rPr>
              <a:t>inclusive for all citizens</a:t>
            </a:r>
            <a:r>
              <a:rPr lang="en-US" sz="2000" b="0" u="none" strike="noStrike">
                <a:solidFill>
                  <a:schemeClr val="dk1"/>
                </a:solidFill>
                <a:effectLst/>
                <a:uFillTx/>
                <a:latin typeface="Times New Roman"/>
              </a:rPr>
              <a:t> </a:t>
            </a:r>
            <a:endParaRPr lang="en-US" sz="20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Cambria"/>
                <a:ea typeface="Cambria"/>
              </a:rPr>
              <a:t>Conclusion &amp; Future work</a:t>
            </a:r>
            <a:endParaRPr lang="en-US" sz="3200" b="0" u="none" strike="noStrike">
              <a:solidFill>
                <a:srgbClr val="000000"/>
              </a:solidFill>
              <a:effectLst/>
              <a:uFillTx/>
              <a:latin typeface="Calibri"/>
            </a:endParaRPr>
          </a:p>
        </p:txBody>
      </p:sp>
      <p:sp>
        <p:nvSpPr>
          <p:cNvPr id="111" name="PlaceHolder 2"/>
          <p:cNvSpPr>
            <a:spLocks noGrp="1"/>
          </p:cNvSpPr>
          <p:nvPr>
            <p:ph type="dt" idx="55"/>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88F48102-0D71-4CAD-BBAF-443FD5ED7D63}"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12" name="PlaceHolder 3"/>
          <p:cNvSpPr>
            <a:spLocks noGrp="1"/>
          </p:cNvSpPr>
          <p:nvPr>
            <p:ph type="ftr" idx="56"/>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13" name="PlaceHolder 4"/>
          <p:cNvSpPr>
            <a:spLocks noGrp="1"/>
          </p:cNvSpPr>
          <p:nvPr>
            <p:ph type="sldNum" idx="57"/>
          </p:nvPr>
        </p:nvSpPr>
        <p:spPr>
          <a:xfrm>
            <a:off x="11802600" y="6441120"/>
            <a:ext cx="46512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92C0F966-ABF4-4BFC-B0E0-38B7218CC3B2}" type="slidenum">
              <a:rPr lang="en-US" sz="1600" b="1" u="none" strike="noStrike" spc="-51">
                <a:solidFill>
                  <a:srgbClr val="888888"/>
                </a:solidFill>
                <a:effectLst/>
                <a:uFillTx/>
                <a:latin typeface="Cambria"/>
              </a:rPr>
              <a:t>13</a:t>
            </a:fld>
            <a:endParaRPr lang="en-US" sz="1600" b="0" u="none" strike="noStrike">
              <a:solidFill>
                <a:srgbClr val="000000"/>
              </a:solidFill>
              <a:effectLst/>
              <a:uFillTx/>
              <a:latin typeface="Times New Roman"/>
            </a:endParaRPr>
          </a:p>
        </p:txBody>
      </p:sp>
      <p:sp>
        <p:nvSpPr>
          <p:cNvPr id="114" name="Rectangle 1"/>
          <p:cNvSpPr/>
          <p:nvPr/>
        </p:nvSpPr>
        <p:spPr>
          <a:xfrm>
            <a:off x="355320" y="1619640"/>
            <a:ext cx="11658240" cy="2246400"/>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algn="just" defTabSz="914400">
              <a:lnSpc>
                <a:spcPct val="100000"/>
              </a:lnSpc>
              <a:tabLst>
                <a:tab pos="0" algn="l"/>
              </a:tabLst>
            </a:pPr>
            <a:r>
              <a:rPr lang="en-US" sz="2000" b="1" u="none" strike="noStrike">
                <a:solidFill>
                  <a:schemeClr val="dk1"/>
                </a:solidFill>
                <a:effectLst/>
                <a:uFillTx/>
                <a:latin typeface="Times New Roman"/>
              </a:rPr>
              <a:t>Conclusion</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CivicFlow successfully demonstrates how LLMs, NLP, and Multimodal AI can transform unstructured citizen complaints into structured, actionable government tickets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The system eliminates manual bottlenecks, reduces triage time by over 90%, and improves routing accuracy beyond 85%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Built with a scalable, modular architecture deployable across any urban governance setup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Directly addresses SDG 9, 11, and 16 by making civic infrastructure smarter and governance more accountable </a:t>
            </a:r>
            <a:endParaRPr lang="en-US" sz="2000" b="0" u="none" strike="noStrike">
              <a:solidFill>
                <a:srgbClr val="000000"/>
              </a:solidFill>
              <a:effectLst/>
              <a:uFillTx/>
              <a:latin typeface="Arial"/>
            </a:endParaRPr>
          </a:p>
        </p:txBody>
      </p:sp>
      <p:sp>
        <p:nvSpPr>
          <p:cNvPr id="115" name="Rectangle 2"/>
          <p:cNvSpPr/>
          <p:nvPr/>
        </p:nvSpPr>
        <p:spPr>
          <a:xfrm>
            <a:off x="321480" y="4172400"/>
            <a:ext cx="10759320" cy="1323000"/>
          </a:xfrm>
          <a:prstGeom prst="rect">
            <a:avLst/>
          </a:prstGeom>
          <a:noFill/>
          <a:ln w="0">
            <a:noFill/>
          </a:ln>
        </p:spPr>
        <p:style>
          <a:lnRef idx="0">
            <a:scrgbClr r="0" g="0" b="0"/>
          </a:lnRef>
          <a:fillRef idx="0">
            <a:scrgbClr r="0" g="0" b="0"/>
          </a:fillRef>
          <a:effectRef idx="0">
            <a:scrgbClr r="0" g="0" b="0"/>
          </a:effectRef>
          <a:fontRef idx="minor"/>
        </p:style>
        <p:txBody>
          <a:bodyPr wrap="none" numCol="1" spcCol="0" anchor="ctr">
            <a:spAutoFit/>
          </a:bodyPr>
          <a:lstStyle/>
          <a:p>
            <a:pPr algn="just" defTabSz="914400">
              <a:lnSpc>
                <a:spcPct val="100000"/>
              </a:lnSpc>
              <a:tabLst>
                <a:tab pos="0" algn="l"/>
              </a:tabLst>
            </a:pP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1" u="none" strike="noStrike">
                <a:solidFill>
                  <a:schemeClr val="dk1"/>
                </a:solidFill>
                <a:effectLst/>
                <a:uFillTx/>
                <a:latin typeface="Times New Roman"/>
              </a:rPr>
              <a:t>Mobile App</a:t>
            </a:r>
            <a:r>
              <a:rPr lang="en-US" sz="2000" b="0" u="none" strike="noStrike">
                <a:solidFill>
                  <a:schemeClr val="dk1"/>
                </a:solidFill>
                <a:effectLst/>
                <a:uFillTx/>
                <a:latin typeface="Times New Roman"/>
              </a:rPr>
              <a:t> — Citizen-facing app for geo-tagged complaint submission and real-time status tracking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a:t>
            </a:r>
            <a:r>
              <a:rPr lang="en-US" sz="2000" b="1" u="none" strike="noStrike">
                <a:solidFill>
                  <a:schemeClr val="dk1"/>
                </a:solidFill>
                <a:effectLst/>
                <a:uFillTx/>
                <a:latin typeface="Times New Roman"/>
              </a:rPr>
              <a:t>Regional Language Support</a:t>
            </a:r>
            <a:r>
              <a:rPr lang="en-US" sz="2000" b="0" u="none" strike="noStrike">
                <a:solidFill>
                  <a:schemeClr val="dk1"/>
                </a:solidFill>
                <a:effectLst/>
                <a:uFillTx/>
                <a:latin typeface="Times New Roman"/>
              </a:rPr>
              <a:t> — Fine-tune models for Kannada, Tamil, Telugu, and Hindi dialects </a:t>
            </a:r>
            <a:endParaRPr lang="en-US" sz="2000" b="0" u="none" strike="noStrike">
              <a:solidFill>
                <a:srgbClr val="000000"/>
              </a:solidFill>
              <a:effectLst/>
              <a:uFillTx/>
              <a:latin typeface="Arial"/>
            </a:endParaRPr>
          </a:p>
          <a:p>
            <a:pPr algn="just" defTabSz="914400">
              <a:lnSpc>
                <a:spcPct val="100000"/>
              </a:lnSpc>
              <a:buClr>
                <a:srgbClr val="000000"/>
              </a:buClr>
              <a:buFont typeface="Symbol" charset="2"/>
              <a:buChar char=""/>
              <a:tabLst>
                <a:tab pos="0" algn="l"/>
              </a:tabLst>
            </a:pPr>
            <a:r>
              <a:rPr lang="en-US" sz="2000" b="0" u="none" strike="noStrike">
                <a:solidFill>
                  <a:schemeClr val="dk1"/>
                </a:solidFill>
                <a:effectLst/>
                <a:uFillTx/>
                <a:latin typeface="Times New Roman"/>
              </a:rPr>
              <a:t> </a:t>
            </a:r>
            <a:r>
              <a:rPr lang="en-US" sz="2000" b="1" u="none" strike="noStrike">
                <a:solidFill>
                  <a:schemeClr val="dk1"/>
                </a:solidFill>
                <a:effectLst/>
                <a:uFillTx/>
                <a:latin typeface="Times New Roman"/>
              </a:rPr>
              <a:t>Predictive Analytics</a:t>
            </a:r>
            <a:r>
              <a:rPr lang="en-US" sz="2000" b="0" u="none" strike="noStrike">
                <a:solidFill>
                  <a:schemeClr val="dk1"/>
                </a:solidFill>
                <a:effectLst/>
                <a:uFillTx/>
                <a:latin typeface="Times New Roman"/>
              </a:rPr>
              <a:t> — Forecast complaint hotspots before issues escalate using historical patterns </a:t>
            </a:r>
            <a:endParaRPr lang="en-US" sz="2000" b="0" u="none" strike="noStrike">
              <a:solidFill>
                <a:srgbClr val="000000"/>
              </a:solidFill>
              <a:effectLst/>
              <a:uFillTx/>
              <a:latin typeface="Arial"/>
            </a:endParaRPr>
          </a:p>
        </p:txBody>
      </p:sp>
      <p:sp>
        <p:nvSpPr>
          <p:cNvPr id="116" name="TextBox 9"/>
          <p:cNvSpPr/>
          <p:nvPr/>
        </p:nvSpPr>
        <p:spPr>
          <a:xfrm>
            <a:off x="321480" y="4114800"/>
            <a:ext cx="1694160" cy="3996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IN" sz="2000" b="1" u="none" strike="noStrike">
                <a:solidFill>
                  <a:srgbClr val="000000"/>
                </a:solidFill>
                <a:effectLst/>
                <a:uFillTx/>
                <a:latin typeface="Times New Roman"/>
              </a:rPr>
              <a:t>Future Work</a:t>
            </a:r>
            <a:endParaRPr lang="en-US" sz="20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References</a:t>
            </a:r>
            <a:endParaRPr lang="en-US" sz="3200" b="0" u="none" strike="noStrike">
              <a:solidFill>
                <a:srgbClr val="000000"/>
              </a:solidFill>
              <a:effectLst/>
              <a:uFillTx/>
              <a:latin typeface="Calibri"/>
            </a:endParaRPr>
          </a:p>
        </p:txBody>
      </p:sp>
      <p:sp>
        <p:nvSpPr>
          <p:cNvPr id="118" name="PlaceHolder 2"/>
          <p:cNvSpPr>
            <a:spLocks noGrp="1"/>
          </p:cNvSpPr>
          <p:nvPr>
            <p:ph type="dt" idx="58"/>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FD0479FD-B209-4452-A639-E86FC3DBF944}"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19" name="PlaceHolder 3"/>
          <p:cNvSpPr>
            <a:spLocks noGrp="1"/>
          </p:cNvSpPr>
          <p:nvPr>
            <p:ph type="ftr" idx="59"/>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20" name="PlaceHolder 4"/>
          <p:cNvSpPr>
            <a:spLocks noGrp="1"/>
          </p:cNvSpPr>
          <p:nvPr>
            <p:ph type="sldNum" idx="60"/>
          </p:nvPr>
        </p:nvSpPr>
        <p:spPr>
          <a:xfrm>
            <a:off x="11841120" y="6441120"/>
            <a:ext cx="57888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53BE1D3C-A959-4A9E-9988-FE37C5FFAB89}" type="slidenum">
              <a:rPr lang="en-US" sz="1600" b="1" u="none" strike="noStrike" spc="-51">
                <a:solidFill>
                  <a:srgbClr val="888888"/>
                </a:solidFill>
                <a:effectLst/>
                <a:uFillTx/>
                <a:latin typeface="Cambria"/>
              </a:rPr>
              <a:t>14</a:t>
            </a:fld>
            <a:endParaRPr lang="en-US" sz="1600" b="0" u="none" strike="noStrike">
              <a:solidFill>
                <a:srgbClr val="000000"/>
              </a:solidFill>
              <a:effectLst/>
              <a:uFillTx/>
              <a:latin typeface="Times New Roman"/>
            </a:endParaRPr>
          </a:p>
        </p:txBody>
      </p:sp>
      <p:sp>
        <p:nvSpPr>
          <p:cNvPr id="121" name="Google Shape;142;p19"/>
          <p:cNvSpPr/>
          <p:nvPr/>
        </p:nvSpPr>
        <p:spPr>
          <a:xfrm>
            <a:off x="977040" y="2057400"/>
            <a:ext cx="10237320" cy="34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000" b="0" u="none" strike="noStrike">
                <a:solidFill>
                  <a:srgbClr val="000000"/>
                </a:solidFill>
                <a:effectLst/>
                <a:uFillTx/>
                <a:latin typeface="Times New Roman"/>
              </a:rPr>
              <a:t>[1] A. Da’Costa, J. Teke, J. E. Origbo, A. Osonuga, E. Egbon, and D. B. Olawade, </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AI-driven triage in emergency departments: A review of benefits, challenges, and future directions</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 </a:t>
            </a:r>
            <a:r>
              <a:rPr lang="en-US" sz="2000" b="0" i="1" u="none" strike="noStrike">
                <a:solidFill>
                  <a:srgbClr val="000000"/>
                </a:solidFill>
                <a:effectLst/>
                <a:uFillTx/>
                <a:latin typeface="Times New Roman"/>
              </a:rPr>
              <a:t>Int. J. Med. Inform.</a:t>
            </a:r>
            <a:r>
              <a:rPr lang="en-US" sz="2000" b="0" u="none" strike="noStrike">
                <a:solidFill>
                  <a:srgbClr val="000000"/>
                </a:solidFill>
                <a:effectLst/>
                <a:uFillTx/>
                <a:latin typeface="Times New Roman"/>
              </a:rPr>
              <a:t>, vol. 197, p. 105838, May 2025, doi: 10.1016/j.ijmedinf.2025.105838.</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Times New Roman"/>
              </a:rPr>
              <a:t>[2] A. Tahernejad, A. Sahebi, A. S. S. Abadi, and M. Safari, </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Application of artificial intelligence in triage in emergencies and disasters: A systematic review</a:t>
            </a:r>
            <a:r>
              <a:rPr lang="en-US" sz="2000" b="0" i="1" u="none" strike="noStrike">
                <a:solidFill>
                  <a:srgbClr val="000000"/>
                </a:solidFill>
                <a:effectLst/>
                <a:uFillTx/>
                <a:latin typeface="Times New Roman"/>
              </a:rPr>
              <a:t>,” BMC Public Health</a:t>
            </a:r>
            <a:r>
              <a:rPr lang="en-US" sz="2000" b="0" u="none" strike="noStrike">
                <a:solidFill>
                  <a:srgbClr val="000000"/>
                </a:solidFill>
                <a:effectLst/>
                <a:uFillTx/>
                <a:latin typeface="Times New Roman"/>
              </a:rPr>
              <a:t>, vol. 24, no. 1, p. 3203, 2024, doi: 10.1186/s12889-024-20447-3.</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Times New Roman"/>
              </a:rPr>
              <a:t>[3] A. Costoiu, </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AI literacy as a civic necessity and a human right: Implications for second language learners in a globalized world,</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 </a:t>
            </a:r>
            <a:r>
              <a:rPr lang="en-US" sz="2000" b="0" i="1" u="none" strike="noStrike">
                <a:solidFill>
                  <a:srgbClr val="000000"/>
                </a:solidFill>
                <a:effectLst/>
                <a:uFillTx/>
                <a:latin typeface="Times New Roman"/>
              </a:rPr>
              <a:t>Reading Matrix: Int. Online J.</a:t>
            </a:r>
            <a:r>
              <a:rPr lang="en-US" sz="2000" b="0" u="none" strike="noStrike">
                <a:solidFill>
                  <a:srgbClr val="000000"/>
                </a:solidFill>
                <a:effectLst/>
                <a:uFillTx/>
                <a:latin typeface="Times New Roman"/>
              </a:rPr>
              <a:t>, vol. 25, no. 1, pp. 43–50, 2025.</a:t>
            </a:r>
            <a:endParaRPr lang="en-US" sz="20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References</a:t>
            </a:r>
            <a:endParaRPr lang="en-US" sz="3200" b="0" u="none" strike="noStrike">
              <a:solidFill>
                <a:srgbClr val="000000"/>
              </a:solidFill>
              <a:effectLst/>
              <a:uFillTx/>
              <a:latin typeface="Calibri"/>
            </a:endParaRPr>
          </a:p>
        </p:txBody>
      </p:sp>
      <p:sp>
        <p:nvSpPr>
          <p:cNvPr id="123" name="PlaceHolder 2"/>
          <p:cNvSpPr>
            <a:spLocks noGrp="1"/>
          </p:cNvSpPr>
          <p:nvPr>
            <p:ph type="dt" idx="61"/>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97087ABA-91C5-4B37-9680-7E103983AD12}"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24" name="PlaceHolder 3"/>
          <p:cNvSpPr>
            <a:spLocks noGrp="1"/>
          </p:cNvSpPr>
          <p:nvPr>
            <p:ph type="ftr" idx="62"/>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25" name="PlaceHolder 4"/>
          <p:cNvSpPr>
            <a:spLocks noGrp="1"/>
          </p:cNvSpPr>
          <p:nvPr>
            <p:ph type="sldNum" idx="63"/>
          </p:nvPr>
        </p:nvSpPr>
        <p:spPr>
          <a:xfrm>
            <a:off x="11802600" y="6386040"/>
            <a:ext cx="54144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5ABF89F0-F7A3-4EA0-A75C-5E798223A072}" type="slidenum">
              <a:rPr lang="en-US" sz="1600" b="1" u="none" strike="noStrike" spc="-51">
                <a:solidFill>
                  <a:srgbClr val="888888"/>
                </a:solidFill>
                <a:effectLst/>
                <a:uFillTx/>
                <a:latin typeface="Cambria"/>
              </a:rPr>
              <a:t>15</a:t>
            </a:fld>
            <a:endParaRPr lang="en-US" sz="1600" b="0" u="none" strike="noStrike">
              <a:solidFill>
                <a:srgbClr val="000000"/>
              </a:solidFill>
              <a:effectLst/>
              <a:uFillTx/>
              <a:latin typeface="Times New Roman"/>
            </a:endParaRPr>
          </a:p>
        </p:txBody>
      </p:sp>
      <p:sp>
        <p:nvSpPr>
          <p:cNvPr id="126" name="Google Shape;150;p20"/>
          <p:cNvSpPr/>
          <p:nvPr/>
        </p:nvSpPr>
        <p:spPr>
          <a:xfrm>
            <a:off x="977040" y="1752480"/>
            <a:ext cx="10237320" cy="409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171360" defTabSz="914400">
              <a:lnSpc>
                <a:spcPct val="100000"/>
              </a:lnSpc>
              <a:tabLst>
                <a:tab pos="0" algn="l"/>
              </a:tabLst>
            </a:pPr>
            <a:r>
              <a:rPr lang="en-US" sz="2000" b="0" u="none" strike="noStrike">
                <a:solidFill>
                  <a:srgbClr val="000000"/>
                </a:solidFill>
                <a:effectLst/>
                <a:uFillTx/>
                <a:latin typeface="Times New Roman"/>
              </a:rPr>
              <a:t>[4] S. G. Gabriel, “AI-driven administrative systems and the future of citizen-government interactions</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 </a:t>
            </a:r>
            <a:r>
              <a:rPr lang="en-US" sz="2000" b="0" i="1" u="none" strike="noStrike">
                <a:solidFill>
                  <a:srgbClr val="000000"/>
                </a:solidFill>
                <a:effectLst/>
                <a:uFillTx/>
                <a:latin typeface="Times New Roman"/>
              </a:rPr>
              <a:t>[Online]. </a:t>
            </a:r>
            <a:r>
              <a:rPr lang="en-US" sz="2000" b="0" u="none" strike="noStrike">
                <a:solidFill>
                  <a:srgbClr val="000000"/>
                </a:solidFill>
                <a:effectLst/>
                <a:uFillTx/>
                <a:latin typeface="Times New Roman"/>
              </a:rPr>
              <a:t>Available: </a:t>
            </a:r>
            <a:r>
              <a:rPr lang="en-US" sz="2000" b="0" u="sng" strike="noStrike">
                <a:solidFill>
                  <a:srgbClr val="0000FF"/>
                </a:solidFill>
                <a:effectLst/>
                <a:uFillTx/>
                <a:latin typeface="Times New Roman"/>
                <a:hlinkClick r:id="rId2"/>
              </a:rPr>
              <a:t>https://www.researchgate.net/profile/Samuel-Gabriel-6/publication/AI-Driven-Administrative-Systems-and-the-Future-of-Citizen-Government-Interactions.pdf</a:t>
            </a:r>
            <a:r>
              <a:rPr lang="en-US" sz="2000" b="0" u="none" strike="noStrike">
                <a:solidFill>
                  <a:srgbClr val="000000"/>
                </a:solidFill>
                <a:effectLst/>
                <a:uFillTx/>
                <a:latin typeface="Times New Roman"/>
              </a:rPr>
              <a:t> . [Accessed: Nov. 5, 2025].</a:t>
            </a:r>
            <a:endParaRPr lang="en-US" sz="2000" b="0" u="none" strike="noStrike">
              <a:solidFill>
                <a:srgbClr val="000000"/>
              </a:solidFill>
              <a:effectLst/>
              <a:uFillTx/>
              <a:latin typeface="Arial"/>
            </a:endParaRPr>
          </a:p>
          <a:p>
            <a:pPr marL="285840" indent="-171360" defTabSz="914400">
              <a:lnSpc>
                <a:spcPct val="100000"/>
              </a:lnSpc>
              <a:tabLst>
                <a:tab pos="0" algn="l"/>
              </a:tabLst>
            </a:pPr>
            <a:endParaRPr lang="en-US" sz="2000" b="0" u="none" strike="noStrike">
              <a:solidFill>
                <a:srgbClr val="000000"/>
              </a:solidFill>
              <a:effectLst/>
              <a:uFillTx/>
              <a:latin typeface="Arial"/>
            </a:endParaRPr>
          </a:p>
          <a:p>
            <a:pPr marL="285840" indent="-171360" defTabSz="914400">
              <a:lnSpc>
                <a:spcPct val="100000"/>
              </a:lnSpc>
              <a:tabLst>
                <a:tab pos="0" algn="l"/>
              </a:tabLst>
            </a:pPr>
            <a:r>
              <a:rPr lang="en-US" sz="2000" b="0" u="none" strike="noStrike">
                <a:solidFill>
                  <a:srgbClr val="000000"/>
                </a:solidFill>
                <a:effectLst/>
                <a:uFillTx/>
                <a:latin typeface="Times New Roman"/>
              </a:rPr>
              <a:t>[5] A. Costoiu</a:t>
            </a:r>
            <a:r>
              <a:rPr lang="en-US" sz="2000" b="0" i="1" u="none" strike="noStrike">
                <a:solidFill>
                  <a:srgbClr val="000000"/>
                </a:solidFill>
                <a:effectLst/>
                <a:uFillTx/>
                <a:latin typeface="Times New Roman"/>
              </a:rPr>
              <a:t>, “</a:t>
            </a:r>
            <a:r>
              <a:rPr lang="en-US" sz="2000" b="0" u="none" strike="noStrike">
                <a:solidFill>
                  <a:srgbClr val="000000"/>
                </a:solidFill>
                <a:effectLst/>
                <a:uFillTx/>
                <a:latin typeface="Times New Roman"/>
              </a:rPr>
              <a:t>AI literacy as a civic necessity and a human right: Implications for second language learners in a globalized world</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 </a:t>
            </a:r>
            <a:r>
              <a:rPr lang="en-US" sz="2000" b="0" i="1" u="none" strike="noStrike">
                <a:solidFill>
                  <a:srgbClr val="000000"/>
                </a:solidFill>
                <a:effectLst/>
                <a:uFillTx/>
                <a:latin typeface="Times New Roman"/>
              </a:rPr>
              <a:t>Reading Matrix: Int. Online J.</a:t>
            </a:r>
            <a:r>
              <a:rPr lang="en-US" sz="2000" b="0" u="none" strike="noStrike">
                <a:solidFill>
                  <a:srgbClr val="000000"/>
                </a:solidFill>
                <a:effectLst/>
                <a:uFillTx/>
                <a:latin typeface="Times New Roman"/>
              </a:rPr>
              <a:t>, vol. 25, no. 1, 2025. [Online]. Available: </a:t>
            </a:r>
            <a:r>
              <a:rPr lang="en-US" sz="2000" b="0" u="sng" strike="noStrike">
                <a:solidFill>
                  <a:srgbClr val="0000FF"/>
                </a:solidFill>
                <a:effectLst/>
                <a:uFillTx/>
                <a:latin typeface="Times New Roman"/>
                <a:hlinkClick r:id="rId3"/>
              </a:rPr>
              <a:t>https://www.readingmatrix.com/files/34-pu6skrn7.pdf</a:t>
            </a:r>
            <a:r>
              <a:rPr lang="en-US" sz="2000" b="0" u="none" strike="noStrike">
                <a:solidFill>
                  <a:srgbClr val="000000"/>
                </a:solidFill>
                <a:effectLst/>
                <a:uFillTx/>
                <a:latin typeface="Times New Roman"/>
              </a:rPr>
              <a:t>. [Accessed: Nov. 5, 2025].</a:t>
            </a:r>
            <a:endParaRPr lang="en-US" sz="2000" b="0" u="none" strike="noStrike">
              <a:solidFill>
                <a:srgbClr val="000000"/>
              </a:solidFill>
              <a:effectLst/>
              <a:uFillTx/>
              <a:latin typeface="Arial"/>
            </a:endParaRPr>
          </a:p>
          <a:p>
            <a:pPr marL="285840" indent="-171360" defTabSz="914400">
              <a:lnSpc>
                <a:spcPct val="100000"/>
              </a:lnSpc>
              <a:tabLst>
                <a:tab pos="0" algn="l"/>
              </a:tabLst>
            </a:pPr>
            <a:endParaRPr lang="en-US" sz="2000" b="0" u="none" strike="noStrike">
              <a:solidFill>
                <a:srgbClr val="000000"/>
              </a:solidFill>
              <a:effectLst/>
              <a:uFillTx/>
              <a:latin typeface="Arial"/>
            </a:endParaRPr>
          </a:p>
          <a:p>
            <a:pPr marL="285840" indent="-171360" defTabSz="914400">
              <a:lnSpc>
                <a:spcPct val="100000"/>
              </a:lnSpc>
              <a:tabLst>
                <a:tab pos="0" algn="l"/>
              </a:tabLst>
            </a:pPr>
            <a:r>
              <a:rPr lang="en-US" sz="2000" b="0" u="none" strike="noStrike">
                <a:solidFill>
                  <a:srgbClr val="000000"/>
                </a:solidFill>
                <a:effectLst/>
                <a:uFillTx/>
                <a:latin typeface="Times New Roman"/>
              </a:rPr>
              <a:t>[6] S. A. Chauncey and H. P. McKenna</a:t>
            </a:r>
            <a:r>
              <a:rPr lang="en-US" sz="2000" b="0" i="1" u="none" strike="noStrike">
                <a:solidFill>
                  <a:srgbClr val="000000"/>
                </a:solidFill>
                <a:effectLst/>
                <a:uFillTx/>
                <a:latin typeface="Times New Roman"/>
              </a:rPr>
              <a:t>, “</a:t>
            </a:r>
            <a:r>
              <a:rPr lang="en-US" sz="2000" b="0" u="none" strike="noStrike">
                <a:solidFill>
                  <a:srgbClr val="000000"/>
                </a:solidFill>
                <a:effectLst/>
                <a:uFillTx/>
                <a:latin typeface="Times New Roman"/>
              </a:rPr>
              <a:t>Creativity and innovation in civic spaces supported by cognitive flexibility when learning with AI chatbots in smart cities</a:t>
            </a:r>
            <a:r>
              <a:rPr lang="en-US" sz="2000" b="0" i="1" u="none" strike="noStrike">
                <a:solidFill>
                  <a:srgbClr val="000000"/>
                </a:solidFill>
                <a:effectLst/>
                <a:uFillTx/>
                <a:latin typeface="Times New Roman"/>
              </a:rPr>
              <a:t>,”</a:t>
            </a:r>
            <a:r>
              <a:rPr lang="en-US" sz="2000" b="0" u="none" strike="noStrike">
                <a:solidFill>
                  <a:srgbClr val="000000"/>
                </a:solidFill>
                <a:effectLst/>
                <a:uFillTx/>
                <a:latin typeface="Times New Roman"/>
              </a:rPr>
              <a:t> </a:t>
            </a:r>
            <a:r>
              <a:rPr lang="en-US" sz="2000" b="0" i="1" u="none" strike="noStrike">
                <a:solidFill>
                  <a:srgbClr val="000000"/>
                </a:solidFill>
                <a:effectLst/>
                <a:uFillTx/>
                <a:latin typeface="Times New Roman"/>
              </a:rPr>
              <a:t>Urban Sci.</a:t>
            </a:r>
            <a:r>
              <a:rPr lang="en-US" sz="2000" b="0" u="none" strike="noStrike">
                <a:solidFill>
                  <a:srgbClr val="000000"/>
                </a:solidFill>
                <a:effectLst/>
                <a:uFillTx/>
                <a:latin typeface="Times New Roman"/>
              </a:rPr>
              <a:t>, vol. 8, no. 1, p. 16, 2024, doi: 10.3390/urbansci8010016.</a:t>
            </a:r>
            <a:endParaRPr lang="en-US" sz="200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349640" y="326520"/>
            <a:ext cx="10254240" cy="505440"/>
          </a:xfrm>
          <a:prstGeom prst="rect">
            <a:avLst/>
          </a:prstGeom>
          <a:noFill/>
          <a:ln w="0">
            <a:noFill/>
          </a:ln>
        </p:spPr>
        <p:txBody>
          <a:bodyPr lIns="0" tIns="12600" rIns="0" bIns="0" anchor="t">
            <a:spAutoFit/>
          </a:bodyPr>
          <a:lstStyle/>
          <a:p>
            <a:pPr marL="12600" indent="0" algn="ctr">
              <a:lnSpc>
                <a:spcPct val="100000"/>
              </a:lnSpc>
              <a:spcBef>
                <a:spcPts val="1899"/>
              </a:spcBef>
              <a:buNone/>
              <a:tabLst>
                <a:tab pos="592560" algn="l"/>
              </a:tabLst>
            </a:pPr>
            <a:r>
              <a:rPr lang="en-US" sz="3200" b="0" u="none" strike="noStrike" spc="-11">
                <a:solidFill>
                  <a:schemeClr val="lt1"/>
                </a:solidFill>
                <a:effectLst/>
                <a:uFillTx/>
                <a:latin typeface="Times New Roman"/>
                <a:ea typeface="Cambria"/>
              </a:rPr>
              <a:t>References</a:t>
            </a:r>
            <a:endParaRPr lang="en-US" sz="3200" b="0" u="none" strike="noStrike">
              <a:solidFill>
                <a:srgbClr val="000000"/>
              </a:solidFill>
              <a:effectLst/>
              <a:uFillTx/>
              <a:latin typeface="Calibri"/>
            </a:endParaRPr>
          </a:p>
        </p:txBody>
      </p:sp>
      <p:sp>
        <p:nvSpPr>
          <p:cNvPr id="128" name="PlaceHolder 2"/>
          <p:cNvSpPr>
            <a:spLocks noGrp="1"/>
          </p:cNvSpPr>
          <p:nvPr>
            <p:ph type="dt" idx="64"/>
          </p:nvPr>
        </p:nvSpPr>
        <p:spPr>
          <a:xfrm>
            <a:off x="179640" y="6441120"/>
            <a:ext cx="1124280" cy="43632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CDB7A241-2BBE-4838-954E-086602B9380D}"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29" name="PlaceHolder 3"/>
          <p:cNvSpPr>
            <a:spLocks noGrp="1"/>
          </p:cNvSpPr>
          <p:nvPr>
            <p:ph type="ftr" idx="65"/>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30" name="PlaceHolder 4"/>
          <p:cNvSpPr>
            <a:spLocks noGrp="1"/>
          </p:cNvSpPr>
          <p:nvPr>
            <p:ph type="sldNum" idx="66"/>
          </p:nvPr>
        </p:nvSpPr>
        <p:spPr>
          <a:xfrm>
            <a:off x="11841120" y="6441120"/>
            <a:ext cx="57888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C87D7987-8348-4654-837F-D3C2191D00E9}" type="slidenum">
              <a:rPr lang="en-US" sz="1600" b="1" u="none" strike="noStrike" spc="-51">
                <a:solidFill>
                  <a:srgbClr val="888888"/>
                </a:solidFill>
                <a:effectLst/>
                <a:uFillTx/>
                <a:latin typeface="Cambria"/>
              </a:rPr>
              <a:t>16</a:t>
            </a:fld>
            <a:endParaRPr lang="en-US" sz="1600" b="0" u="none" strike="noStrike">
              <a:solidFill>
                <a:srgbClr val="000000"/>
              </a:solidFill>
              <a:effectLst/>
              <a:uFillTx/>
              <a:latin typeface="Times New Roman"/>
            </a:endParaRPr>
          </a:p>
        </p:txBody>
      </p:sp>
      <p:sp>
        <p:nvSpPr>
          <p:cNvPr id="131" name="Google Shape;150;p20"/>
          <p:cNvSpPr/>
          <p:nvPr/>
        </p:nvSpPr>
        <p:spPr>
          <a:xfrm>
            <a:off x="977040" y="1600200"/>
            <a:ext cx="10237320" cy="4399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171360" defTabSz="914400">
              <a:lnSpc>
                <a:spcPct val="100000"/>
              </a:lnSpc>
              <a:tabLst>
                <a:tab pos="0" algn="l"/>
              </a:tabLst>
            </a:pPr>
            <a:r>
              <a:rPr lang="en-US" sz="2000" b="0" u="none" strike="noStrike">
                <a:solidFill>
                  <a:srgbClr val="000000"/>
                </a:solidFill>
                <a:effectLst/>
                <a:uFillTx/>
                <a:latin typeface="Times New Roman"/>
              </a:rPr>
              <a:t>[7] S. Davis, “Inquiry into AI as related to emergency management,” </a:t>
            </a:r>
            <a:r>
              <a:rPr lang="en-US" sz="2000" b="0" i="1" u="none" strike="noStrike">
                <a:solidFill>
                  <a:srgbClr val="000000"/>
                </a:solidFill>
                <a:effectLst/>
                <a:uFillTx/>
                <a:latin typeface="Times New Roman"/>
              </a:rPr>
              <a:t>Bush School of Government and Public Service, Texas A&amp;M University, College Station</a:t>
            </a:r>
            <a:r>
              <a:rPr lang="en-US" sz="2000" b="0" u="none" strike="noStrike">
                <a:solidFill>
                  <a:srgbClr val="000000"/>
                </a:solidFill>
                <a:effectLst/>
                <a:uFillTx/>
                <a:latin typeface="Times New Roman"/>
              </a:rPr>
              <a:t>, TX, USA, Final Report, 2025. [Online]. Available: </a:t>
            </a:r>
            <a:r>
              <a:rPr lang="en-US" sz="2000" b="0" u="sng" strike="noStrike">
                <a:solidFill>
                  <a:srgbClr val="0000FF"/>
                </a:solidFill>
                <a:effectLst/>
                <a:uFillTx/>
                <a:latin typeface="Times New Roman"/>
                <a:hlinkClick r:id="rId2"/>
              </a:rPr>
              <a:t>https://bush.tamu.edu/wp-content/uploads/2025/06/Davis_Final-Report_Inquiry-into-AI-as-related-to-Emerg-Mgmt_24-25.pdf</a:t>
            </a:r>
            <a:r>
              <a:rPr lang="en-US" sz="2000" b="0" u="none" strike="noStrike">
                <a:solidFill>
                  <a:srgbClr val="000000"/>
                </a:solidFill>
                <a:effectLst/>
                <a:uFillTx/>
                <a:latin typeface="Times New Roman"/>
              </a:rPr>
              <a:t>. [Accessed: Nov. 5, 2025].</a:t>
            </a:r>
            <a:endParaRPr lang="en-US" sz="2000" b="0" u="none" strike="noStrike">
              <a:solidFill>
                <a:srgbClr val="000000"/>
              </a:solidFill>
              <a:effectLst/>
              <a:uFillTx/>
              <a:latin typeface="Arial"/>
            </a:endParaRPr>
          </a:p>
          <a:p>
            <a:pPr marL="285840" indent="-171360" defTabSz="914400">
              <a:lnSpc>
                <a:spcPct val="100000"/>
              </a:lnSpc>
              <a:tabLst>
                <a:tab pos="0" algn="l"/>
              </a:tabLst>
            </a:pPr>
            <a:endParaRPr lang="en-US" sz="2000" b="0" u="none" strike="noStrike">
              <a:solidFill>
                <a:srgbClr val="000000"/>
              </a:solidFill>
              <a:effectLst/>
              <a:uFillTx/>
              <a:latin typeface="Arial"/>
            </a:endParaRPr>
          </a:p>
          <a:p>
            <a:pPr marL="285840" indent="-171360" defTabSz="914400">
              <a:lnSpc>
                <a:spcPct val="100000"/>
              </a:lnSpc>
              <a:tabLst>
                <a:tab pos="0" algn="l"/>
              </a:tabLst>
            </a:pPr>
            <a:r>
              <a:rPr lang="en-US" sz="2000" b="0" u="none" strike="noStrike">
                <a:solidFill>
                  <a:srgbClr val="000000"/>
                </a:solidFill>
                <a:effectLst/>
                <a:uFillTx/>
                <a:latin typeface="Times New Roman"/>
              </a:rPr>
              <a:t>[8] M. E. Candelario, “Artificial intelligence for urban resilience and disaster risk management,” </a:t>
            </a:r>
            <a:r>
              <a:rPr lang="en-US" sz="2000" b="0" i="1" u="none" strike="noStrike">
                <a:solidFill>
                  <a:srgbClr val="000000"/>
                </a:solidFill>
                <a:effectLst/>
                <a:uFillTx/>
                <a:latin typeface="Times New Roman"/>
              </a:rPr>
              <a:t>Urban Sci.</a:t>
            </a:r>
            <a:r>
              <a:rPr lang="en-US" sz="2000" b="0" u="none" strike="noStrike">
                <a:solidFill>
                  <a:srgbClr val="000000"/>
                </a:solidFill>
                <a:effectLst/>
                <a:uFillTx/>
                <a:latin typeface="Times New Roman"/>
              </a:rPr>
              <a:t>, vol. 8, no. 1, p. 16, 2024, doi: 10.3390/urbansci8010016.</a:t>
            </a:r>
            <a:endParaRPr lang="en-US" sz="2000" b="0" u="none" strike="noStrike">
              <a:solidFill>
                <a:srgbClr val="000000"/>
              </a:solidFill>
              <a:effectLst/>
              <a:uFillTx/>
              <a:latin typeface="Arial"/>
            </a:endParaRPr>
          </a:p>
          <a:p>
            <a:pPr marL="285840" indent="-171360" defTabSz="914400">
              <a:lnSpc>
                <a:spcPct val="100000"/>
              </a:lnSpc>
              <a:tabLst>
                <a:tab pos="0" algn="l"/>
              </a:tabLst>
            </a:pPr>
            <a:endParaRPr lang="en-US" sz="2000" b="0" u="none" strike="noStrike">
              <a:solidFill>
                <a:srgbClr val="000000"/>
              </a:solidFill>
              <a:effectLst/>
              <a:uFillTx/>
              <a:latin typeface="Arial"/>
            </a:endParaRPr>
          </a:p>
          <a:p>
            <a:pPr defTabSz="914400">
              <a:lnSpc>
                <a:spcPct val="100000"/>
              </a:lnSpc>
              <a:tabLst>
                <a:tab pos="0" algn="l"/>
              </a:tabLst>
            </a:pPr>
            <a:r>
              <a:rPr lang="en-US" sz="2000" b="0" u="none" strike="noStrike">
                <a:solidFill>
                  <a:srgbClr val="000000"/>
                </a:solidFill>
                <a:effectLst/>
                <a:uFillTx/>
                <a:latin typeface="Times New Roman"/>
              </a:rPr>
              <a:t> [9] H. K. Singh and R. Sharma, “AI in emergency management systems: Integration and ethical implications,” </a:t>
            </a:r>
            <a:r>
              <a:rPr lang="en-US" sz="2000" b="0" i="1" u="none" strike="noStrike">
                <a:solidFill>
                  <a:srgbClr val="000000"/>
                </a:solidFill>
                <a:effectLst/>
                <a:uFillTx/>
                <a:latin typeface="Times New Roman"/>
              </a:rPr>
              <a:t>Urban Sci.</a:t>
            </a:r>
            <a:r>
              <a:rPr lang="en-US" sz="2000" b="0" u="none" strike="noStrike">
                <a:solidFill>
                  <a:srgbClr val="000000"/>
                </a:solidFill>
                <a:effectLst/>
                <a:uFillTx/>
                <a:latin typeface="Times New Roman"/>
              </a:rPr>
              <a:t>, vol. 9, no. 7, p. 249, 2025, doi: 10.3390/urbansci9070249.</a:t>
            </a:r>
            <a:endParaRPr lang="en-US" sz="2000" b="0" u="none" strike="noStrike">
              <a:solidFill>
                <a:srgbClr val="000000"/>
              </a:solidFill>
              <a:effectLst/>
              <a:uFillTx/>
              <a:latin typeface="Arial"/>
            </a:endParaRPr>
          </a:p>
          <a:p>
            <a:pPr defTabSz="914400">
              <a:lnSpc>
                <a:spcPct val="100000"/>
              </a:lnSpc>
              <a:tabLst>
                <a:tab pos="0" algn="l"/>
              </a:tabLst>
            </a:pPr>
            <a:endParaRPr lang="en-US" sz="2000" b="0" u="none" strike="noStrike">
              <a:solidFill>
                <a:srgbClr val="000000"/>
              </a:solidFill>
              <a:effectLst/>
              <a:uFillTx/>
              <a:latin typeface="Arial"/>
            </a:endParaRPr>
          </a:p>
          <a:p>
            <a:pPr defTabSz="914400">
              <a:lnSpc>
                <a:spcPct val="100000"/>
              </a:lnSpc>
              <a:tabLst>
                <a:tab pos="0" algn="l"/>
              </a:tabLst>
            </a:pPr>
            <a:r>
              <a:rPr lang="en-US" sz="2000" b="0" u="none" strike="noStrike">
                <a:solidFill>
                  <a:srgbClr val="000000"/>
                </a:solidFill>
                <a:effectLst/>
                <a:uFillTx/>
                <a:latin typeface="Times New Roman"/>
              </a:rPr>
              <a:t> [10] P. Lévy, “Artificial intelligence, society, and the ethics of technological mediation,” </a:t>
            </a:r>
            <a:r>
              <a:rPr lang="en-US" sz="2000" b="0" i="1" u="none" strike="noStrike">
                <a:solidFill>
                  <a:srgbClr val="000000"/>
                </a:solidFill>
                <a:effectLst/>
                <a:uFillTx/>
                <a:latin typeface="Times New Roman"/>
              </a:rPr>
              <a:t>HAL Archives Ouvertes</a:t>
            </a:r>
            <a:r>
              <a:rPr lang="en-US" sz="2000" b="0" u="none" strike="noStrike">
                <a:solidFill>
                  <a:srgbClr val="000000"/>
                </a:solidFill>
                <a:effectLst/>
                <a:uFillTx/>
                <a:latin typeface="Times New Roman"/>
              </a:rPr>
              <a:t>, 2024. [Online]. Available: </a:t>
            </a:r>
            <a:r>
              <a:rPr lang="en-US" sz="2000" b="0" u="sng" strike="noStrike">
                <a:solidFill>
                  <a:srgbClr val="0000FF"/>
                </a:solidFill>
                <a:effectLst/>
                <a:uFillTx/>
                <a:latin typeface="Times New Roman"/>
                <a:hlinkClick r:id="rId3"/>
              </a:rPr>
              <a:t>https://hal.science/hal-05140138/</a:t>
            </a:r>
            <a:endParaRPr lang="en-US" sz="2000" b="0" u="none" strike="noStrike">
              <a:solidFill>
                <a:srgbClr val="000000"/>
              </a:solidFill>
              <a:effectLst/>
              <a:uFillTx/>
              <a:latin typeface="Arial"/>
            </a:endParaRPr>
          </a:p>
          <a:p>
            <a:pPr marL="285840" indent="-171360" defTabSz="914400">
              <a:lnSpc>
                <a:spcPct val="100000"/>
              </a:lnSpc>
              <a:tabLst>
                <a:tab pos="0" algn="l"/>
              </a:tabLst>
            </a:pPr>
            <a:endParaRPr lang="en-US" sz="2000" b="0" u="none" strike="noStrike">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983760" y="2868480"/>
            <a:ext cx="3281400" cy="635040"/>
          </a:xfrm>
          <a:prstGeom prst="rect">
            <a:avLst/>
          </a:prstGeom>
          <a:noFill/>
          <a:ln w="0">
            <a:noFill/>
          </a:ln>
        </p:spPr>
        <p:txBody>
          <a:bodyPr lIns="0" tIns="12600" rIns="0" bIns="0" anchor="t">
            <a:spAutoFit/>
          </a:bodyPr>
          <a:lstStyle/>
          <a:p>
            <a:pPr marL="12600" indent="0" algn="l">
              <a:lnSpc>
                <a:spcPct val="100000"/>
              </a:lnSpc>
              <a:spcBef>
                <a:spcPts val="99"/>
              </a:spcBef>
              <a:buNone/>
            </a:pPr>
            <a:r>
              <a:rPr lang="en-US" sz="4000" b="1" u="none" strike="noStrike">
                <a:solidFill>
                  <a:srgbClr val="000000"/>
                </a:solidFill>
                <a:effectLst/>
                <a:uFillTx/>
                <a:latin typeface="Palatino Linotype"/>
              </a:rPr>
              <a:t>THANK</a:t>
            </a:r>
            <a:r>
              <a:rPr lang="en-US" sz="4000" b="1" u="none" strike="noStrike" spc="-26">
                <a:solidFill>
                  <a:srgbClr val="000000"/>
                </a:solidFill>
                <a:effectLst/>
                <a:uFillTx/>
                <a:latin typeface="Palatino Linotype"/>
              </a:rPr>
              <a:t> YOU</a:t>
            </a:r>
            <a:endParaRPr lang="en-US" sz="4000" b="0" u="none" strike="noStrike">
              <a:solidFill>
                <a:srgbClr val="000000"/>
              </a:solidFill>
              <a:effectLst/>
              <a:uFillTx/>
              <a:latin typeface="Calibri"/>
            </a:endParaRPr>
          </a:p>
        </p:txBody>
      </p:sp>
      <p:sp>
        <p:nvSpPr>
          <p:cNvPr id="133" name="PlaceHolder 2"/>
          <p:cNvSpPr>
            <a:spLocks noGrp="1"/>
          </p:cNvSpPr>
          <p:nvPr>
            <p:ph type="dt" idx="67"/>
          </p:nvPr>
        </p:nvSpPr>
        <p:spPr>
          <a:xfrm>
            <a:off x="179640" y="6441120"/>
            <a:ext cx="112428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20">
                <a:solidFill>
                  <a:srgbClr val="888888"/>
                </a:solidFill>
                <a:effectLst/>
                <a:uFillTx/>
                <a:latin typeface="Cambria"/>
              </a:defRPr>
            </a:lvl1pPr>
          </a:lstStyle>
          <a:p>
            <a:pPr marL="12600" indent="0" algn="l">
              <a:lnSpc>
                <a:spcPts val="1664"/>
              </a:lnSpc>
              <a:buNone/>
            </a:pPr>
            <a:fld id="{F35C79B4-4D5C-4D16-A5C5-43BD84EFB69C}" type="datetime1">
              <a:rPr lang="en-US" sz="1600" b="1" u="none" strike="noStrike" spc="-20">
                <a:solidFill>
                  <a:srgbClr val="888888"/>
                </a:solidFill>
                <a:effectLst/>
                <a:uFillTx/>
                <a:latin typeface="Cambria"/>
              </a:rPr>
              <a:t>4/27/2026</a:t>
            </a:fld>
            <a:endParaRPr lang="en-US" sz="1600" b="0" u="none" strike="noStrike">
              <a:solidFill>
                <a:srgbClr val="000000"/>
              </a:solidFill>
              <a:effectLst/>
              <a:uFillTx/>
              <a:latin typeface="Times New Roman"/>
            </a:endParaRPr>
          </a:p>
        </p:txBody>
      </p:sp>
      <p:sp>
        <p:nvSpPr>
          <p:cNvPr id="134" name="PlaceHolder 3"/>
          <p:cNvSpPr>
            <a:spLocks noGrp="1"/>
          </p:cNvSpPr>
          <p:nvPr>
            <p:ph type="ftr" idx="68"/>
          </p:nvPr>
        </p:nvSpPr>
        <p:spPr>
          <a:xfrm>
            <a:off x="4074120" y="6441120"/>
            <a:ext cx="4679640" cy="244080"/>
          </a:xfrm>
          <a:prstGeom prst="rect">
            <a:avLst/>
          </a:prstGeom>
          <a:noFill/>
          <a:ln w="0">
            <a:noFill/>
          </a:ln>
        </p:spPr>
        <p:txBody>
          <a:bodyPr lIns="0" tIns="0" rIns="0" bIns="0" anchor="t">
            <a:spAutoFit/>
          </a:bodyPr>
          <a:lstStyle>
            <a:lvl1pPr marL="12600" indent="0" algn="l">
              <a:lnSpc>
                <a:spcPts val="1664"/>
              </a:lnSpc>
              <a:buNone/>
              <a:defRPr lang="en-US" sz="1600" b="1" u="none" strike="noStrike" spc="-11">
                <a:solidFill>
                  <a:srgbClr val="888888"/>
                </a:solidFill>
                <a:effectLst/>
                <a:uFillTx/>
                <a:latin typeface="Cambria"/>
              </a:defRPr>
            </a:lvl1pPr>
          </a:lstStyle>
          <a:p>
            <a:pPr marL="12600" indent="0" algn="l">
              <a:lnSpc>
                <a:spcPts val="1664"/>
              </a:lnSpc>
              <a:buNone/>
            </a:pPr>
            <a:r>
              <a:rPr lang="en-US" sz="1600" b="1" u="none" strike="noStrike" spc="-11">
                <a:solidFill>
                  <a:srgbClr val="888888"/>
                </a:solidFill>
                <a:effectLst/>
                <a:uFillTx/>
                <a:latin typeface="Cambria"/>
              </a:rPr>
              <a:t>Department</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of</a:t>
            </a:r>
            <a:r>
              <a:rPr lang="en-US" sz="1600" b="1" u="none" strike="noStrike" spc="-31">
                <a:solidFill>
                  <a:srgbClr val="888888"/>
                </a:solidFill>
                <a:effectLst/>
                <a:uFillTx/>
                <a:latin typeface="Cambria"/>
              </a:rPr>
              <a:t> </a:t>
            </a:r>
            <a:r>
              <a:rPr lang="en-US" sz="1600" b="1" u="none" strike="noStrike" spc="-11">
                <a:solidFill>
                  <a:srgbClr val="888888"/>
                </a:solidFill>
                <a:effectLst/>
                <a:uFillTx/>
                <a:latin typeface="Cambria"/>
              </a:rPr>
              <a:t>Information</a:t>
            </a:r>
            <a:r>
              <a:rPr lang="en-US" sz="1600" b="1" u="none" strike="noStrike" spc="-34">
                <a:solidFill>
                  <a:srgbClr val="888888"/>
                </a:solidFill>
                <a:effectLst/>
                <a:uFillTx/>
                <a:latin typeface="Cambria"/>
              </a:rPr>
              <a:t> </a:t>
            </a:r>
            <a:r>
              <a:rPr lang="en-US" sz="1600" b="1" u="none" strike="noStrike">
                <a:solidFill>
                  <a:srgbClr val="888888"/>
                </a:solidFill>
                <a:effectLst/>
                <a:uFillTx/>
                <a:latin typeface="Cambria"/>
              </a:rPr>
              <a:t>Science</a:t>
            </a:r>
            <a:r>
              <a:rPr lang="en-US" sz="1600" b="1" u="none" strike="noStrike" spc="-31">
                <a:solidFill>
                  <a:srgbClr val="888888"/>
                </a:solidFill>
                <a:effectLst/>
                <a:uFillTx/>
                <a:latin typeface="Cambria"/>
              </a:rPr>
              <a:t> </a:t>
            </a:r>
            <a:r>
              <a:rPr lang="en-US" sz="1600" b="1" u="none" strike="noStrike">
                <a:solidFill>
                  <a:srgbClr val="888888"/>
                </a:solidFill>
                <a:effectLst/>
                <a:uFillTx/>
                <a:latin typeface="Cambria"/>
              </a:rPr>
              <a:t>&amp;</a:t>
            </a:r>
            <a:r>
              <a:rPr lang="en-US" sz="1600" b="1" u="none" strike="noStrike" spc="-34">
                <a:solidFill>
                  <a:srgbClr val="888888"/>
                </a:solidFill>
                <a:effectLst/>
                <a:uFillTx/>
                <a:latin typeface="Cambria"/>
              </a:rPr>
              <a:t> </a:t>
            </a:r>
            <a:r>
              <a:rPr lang="en-US" sz="1600" b="1" u="none" strike="noStrike" spc="-11">
                <a:solidFill>
                  <a:srgbClr val="888888"/>
                </a:solidFill>
                <a:effectLst/>
                <a:uFillTx/>
                <a:latin typeface="Cambria"/>
              </a:rPr>
              <a:t>Engineering</a:t>
            </a:r>
            <a:endParaRPr lang="en-US" sz="1600" b="0" u="none" strike="noStrike">
              <a:solidFill>
                <a:srgbClr val="000000"/>
              </a:solidFill>
              <a:effectLst/>
              <a:uFillTx/>
              <a:latin typeface="Times New Roman"/>
            </a:endParaRPr>
          </a:p>
        </p:txBody>
      </p:sp>
      <p:sp>
        <p:nvSpPr>
          <p:cNvPr id="135" name="PlaceHolder 4"/>
          <p:cNvSpPr>
            <a:spLocks noGrp="1"/>
          </p:cNvSpPr>
          <p:nvPr>
            <p:ph type="sldNum" idx="69"/>
          </p:nvPr>
        </p:nvSpPr>
        <p:spPr>
          <a:xfrm>
            <a:off x="11608200" y="6452280"/>
            <a:ext cx="807480" cy="244080"/>
          </a:xfrm>
          <a:prstGeom prst="rect">
            <a:avLst/>
          </a:prstGeom>
          <a:noFill/>
          <a:ln w="0">
            <a:noFill/>
          </a:ln>
        </p:spPr>
        <p:txBody>
          <a:bodyPr lIns="0" tIns="0" rIns="0" bIns="0" anchor="t">
            <a:spAutoFit/>
          </a:bodyPr>
          <a:lstStyle>
            <a:lvl1pPr marL="38160" indent="0" algn="l">
              <a:lnSpc>
                <a:spcPts val="1664"/>
              </a:lnSpc>
              <a:buNone/>
              <a:defRPr lang="en-US" sz="1600" b="1" u="none" strike="noStrike" spc="-51">
                <a:solidFill>
                  <a:srgbClr val="888888"/>
                </a:solidFill>
                <a:effectLst/>
                <a:uFillTx/>
                <a:latin typeface="Cambria"/>
              </a:defRPr>
            </a:lvl1pPr>
          </a:lstStyle>
          <a:p>
            <a:pPr marL="38160" indent="0" algn="l">
              <a:lnSpc>
                <a:spcPts val="1664"/>
              </a:lnSpc>
              <a:buNone/>
            </a:pPr>
            <a:fld id="{B1560779-099E-4D6B-8C82-E805E4C00BD0}" type="slidenum">
              <a:rPr lang="en-US" sz="1600" b="1" u="none" strike="noStrike" spc="-51">
                <a:solidFill>
                  <a:srgbClr val="888888"/>
                </a:solidFill>
                <a:effectLst/>
                <a:uFillTx/>
                <a:latin typeface="Cambria"/>
              </a:rPr>
              <a:t>17</a:t>
            </a:fld>
            <a:endParaRPr lang="en-US" sz="16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392</TotalTime>
  <Words>1903</Words>
  <Application>Microsoft Office PowerPoint</Application>
  <PresentationFormat>Widescreen</PresentationFormat>
  <Paragraphs>209</Paragraphs>
  <Slides>17</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Aptos</vt:lpstr>
      <vt:lpstr>Arial</vt:lpstr>
      <vt:lpstr>Calibri</vt:lpstr>
      <vt:lpstr>Cambria</vt:lpstr>
      <vt:lpstr>OpenSymbol</vt:lpstr>
      <vt:lpstr>Palatino Linotype</vt:lpstr>
      <vt:lpstr>Symbol</vt:lpstr>
      <vt:lpstr>Times New Roman</vt:lpstr>
      <vt:lpstr>Wingdings</vt:lpstr>
      <vt:lpstr>Office Theme</vt:lpstr>
      <vt:lpstr>DEPARTMENT OF INFORMATION SCIENCE &amp; ENGINEERING</vt:lpstr>
      <vt:lpstr>CONTENTS</vt:lpstr>
      <vt:lpstr>Abstract</vt:lpstr>
      <vt:lpstr>Introduction</vt:lpstr>
      <vt:lpstr>Literature survey</vt:lpstr>
      <vt:lpstr>Literature survey</vt:lpstr>
      <vt:lpstr>Problem analysis and design</vt:lpstr>
      <vt:lpstr>Problem analysis and design</vt:lpstr>
      <vt:lpstr>System design &amp; Methodology</vt:lpstr>
      <vt:lpstr>Implementation</vt:lpstr>
      <vt:lpstr>Testing and validation</vt:lpstr>
      <vt:lpstr>Results and discussion</vt:lpstr>
      <vt:lpstr>Conclusion &amp; Future work</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presentation format.pptx</dc:title>
  <dc:subject/>
  <dc:creator>Srujan</dc:creator>
  <dc:description/>
  <cp:lastModifiedBy>DikshithManjunath</cp:lastModifiedBy>
  <cp:revision>21</cp:revision>
  <dcterms:created xsi:type="dcterms:W3CDTF">2025-04-24T12:17:43Z</dcterms:created>
  <dcterms:modified xsi:type="dcterms:W3CDTF">2026-04-27T17:54:41Z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2025-04-24T00:00:00Z</vt:filetime>
  </property>
  <property fmtid="{D5CDD505-2E9C-101B-9397-08002B2CF9AE}" pid="3" name="Creator">
    <vt:lpwstr>Google</vt:lpwstr>
  </property>
  <property fmtid="{D5CDD505-2E9C-101B-9397-08002B2CF9AE}" pid="4" name="LastSaved">
    <vt:filetime>2025-04-24T00:00:00Z</vt:filetime>
  </property>
  <property fmtid="{D5CDD505-2E9C-101B-9397-08002B2CF9AE}" pid="5" name="PresentationFormat">
    <vt:lpwstr>Widescreen</vt:lpwstr>
  </property>
  <property fmtid="{D5CDD505-2E9C-101B-9397-08002B2CF9AE}" pid="6" name="Slides">
    <vt:i4>18</vt:i4>
  </property>
</Properties>
</file>